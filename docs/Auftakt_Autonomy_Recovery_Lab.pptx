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zum Laborversuch. Das Bild zeigt ein autonomes Shuttle, wie es auf einem Campus fahren könnte. Solche Fahrzeuge fahren die meiste Zeit problemlos. Dieser Versuch beschäftigt sich mit den Momenten, in denen sie nicht weiterwissen, und mit der Frage, wie ein Agent mit Sprachmodell dann helfen kann, ohne selbst zum Risiko zu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typische Lagen, alle im Simulator enthalten. Allen gemeinsam ist: Das Fahrzeug verhält sich korrekt, indem es anhält. Aber Anhalten ist keine Lösung. Ein menschlicher Fahrer würde jetzt nachdenken, genauer hinsehen und dann etwas tun, zum Beispiel vorsichtig vorbeifahren, warten oder umkehren. Genau diese Rolle übernimmt euer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Agent wird erst gerufen, wenn der Stillstandsmonitor einen möglichen Deadlock meldet. Dann hat er ein begrenztes Budget an Werkzeugaufrufen, um die Lage zu verstehen, und reicht einen Befehl ein. Wichtig für das Verständnis: Der Agent ist kein Fahrer. Er ist eher wie ein Disponent, der sagt: Fahr vorsichtig links vorbei, maximal 35 Meter. Die Ausführung und die Sicherheitsüberwachung bleiben Infrastruktur.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wichtigste und am häufigsten unterschätzte Teilaufgabe. Der Monitor ist absichtlich dumm: Er sieht nur, dass das Fahrzeug steht. Ein Agent, der immer eingreift, fährt bei Rot los. Ein Agent, der immer wartet, steht ewig hinter einem verlassenen Lieferwagen. Beide Fehlerarten werden getrennt gemessen, als Fehlalarm und als verpasster Eingriff. Die Szenariomenge erkennen.txt ist genau dafür gebaut.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Wahrnehmung wird im Lauf des Labors realistischer. Am Anfang bekommt ihr fertige Urteile, damit ihr euch auf die Agentenlogik konzentrieren könnt. Ab Lektion 4 bekommt ihr eine Objektliste, wie sie ein realer Fahrstack, etwa Autoware, ausgibt: Klassen mit Wahrscheinlichkeiten, Positionen mit Standardabweichung, Tracks mit Alter. Dazu Sichtabdeckung und Karte. In Lektion 6 kommt die Selbstauskunft eines Vision-Language-Action-Modells hinzu, angelehnt an NVIDIA Alpamayo: eine Begründung in Text, eine grobe Fahrabsicht und eine Konfidenz. Der Kernpunkt: Text, der überzeugend klingt, ist kein Beleg. Die Werte auf der Folie sind gekürzte Beispielwerte.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Katalog ist fest. Ihr könnt keine neuen Befehle erfinden, genau wie in einem echten Fahrzeug, in dem der Ausführer zertifiziert ist. Eure Arbeit ist die Entscheidung, welcher Befehl wann mit welchen Parametern passt. Die Phasenmanöver sind besonders: Ein Überholmanöver schert erst aus und hält an einem Checkpoint. Dort wird euer Agent erneut gefragt, ob er weiterfahren will, und währenddessen läuft die Zeit weiter. Für den Fall, dass es doch knallt, gibt es eigene Befehle zur Unfallabwicklung.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Agent mit Sprachmodell kann halluzinieren, sich in Schleifen verfangen oder auf manipulierte Texte hereinfallen. Deshalb behandelt der Simulator ihn als nicht vertrauenswürdig. Die harten Regeln gelten immer. Wie viel Schutz darüber hinaus bleibt, bestimmt der Prüfmodus. Im Modus strict lehnt die Prüfung ein Überholmanöver ab, wenn der Agent vorher nicht nachgesehen hat. In advisory und off gibt es diese Bevormundung nicht mehr. Dann kann es tatsächlich knallen, und der Agent muss den Unfall erkennen und richtig abwickeln. Das ist Thema von Lektion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ein Beispiel aus den Szenariofamilien. Ein Lieferwagen steht scheinbar grundlos. Der Agent entscheidet sich zu überholen. Das Manöver schert aus und hält an einem Checkpoint. Erst jetzt sieht der Agent, dass vor dem Lieferwagen eine Unfallstelle liegt. Er muss neu entscheiden: zurück in die Spur und wenden. Das Prinzip dahinter: Ein guter Agent plant nicht einmal und führt dann blind aus, sondern prüft an jedem Punkt ohne Rückkehr erneut. Wichtig ist auch die Fairness: Jede Überraschung hat einen Hinweis, den ein aufmerksamer Agent mit einem Werkzeug erkennen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Simulator ist bewusst einfach gehalten: ein deterministischer 2D-Simulator in reinem Python. Er läuft auf jedem Laptop, ohne GPU und ohne Modellgewichte. Die Straßen sind echte Straßen in Hannover aus OpenStreetMap. Es gibt 61 Einzelszenarien und sechs Szenariofamilien mit je drei Varianten, von denen eine sichtbar ist und zwei verdeckt bleiben, um am Ende die Verallgemeinerung zu prüfen. Das Kostenmodell bildet ab, was einen Betreiber Geld kostet: Personenschäden am meisten, dann Sachschäden, dazu jeder Anruf in der Leitstelle und jede Minute Standzeit.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Kern des Labors ist der Tutorial-Track. Ihr arbeitet die ganze Zeit an einer einzigen Datei, mein_agent.py. In Lektion 1 gibt der Agent nur einen festen Befehl zurück, damit ihr Schnittstelle und Messung kennenlernt. Danach kommen Regeln, Gedächtnis und Eskalation dazu. Ab Lektion 4 rechnet der Agent mit verrauschten Messungen, in Lektion 5 kommt das Sprachmodell dazu. Die Lektionen 6 bis 8 bringen die eigentlich spannenden Fälle: Quellen, die sich irren, Lagen, die sich ändern, und Unfälle. Wer zurückliegt, kann mit dem Startstand jeder Lektion neu ansetzen. Die Richtwerte sind Orientierung, keine Bestehensgrenze. Nach Lektion 3 schreibt das Team einen Forschungsplan.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Laboraufgabe hat drei Teile, aber nur einen Agenten. Teil A ist euer Agent ohne Modell, also reine Regeln. Teil B ist derselbe Agent, der die Fälle, bei denen die Regeln unsicher sind, an ein Sprachmodell gibt. Weil sich beide nur im Modell unterscheiden, zeigt der Vergleich in Teil C sauber, was das Modell beiträgt. Spoiler aus unseren Messungen: Ein schwaches Modell kann einen guten Regelagenten auch schlechter machen. Genau deshalb wird gemessen und nicht geglaubt.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gibt keine Note. Stattdessen bekommt ihr nach jedem Batchlauf drei Antworten: wie gut der aktuelle Stand ist, wo er scheitert und ob er sich gegenüber dem letzten Lauf verbessert hat. Dazu startet ihr den Lauf einfach immer wieder in denselben Ausgabeordner. Der Bericht nennt dann neu bestandene und neu gescheiterte Fälle. Die Einstufung A bis D ist eine Zusammenfassung. Sie ist hart bei Unfällen: Eine Kollision bedeutet immer D, egal wie viele Fälle sonst gelöst sind. Dazu kommen die Richtwerte in den Lektionen, die Gespräche an den Checkpoints und am Ende ein Lauf auf verdeckten Varianten.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Ihr arbeitet als Viererteam an einem gemeinsamen System, nicht an vier Einzelagenten. Arbeitsteilung ist erwünscht, Silos nicht. Deshalb rotieren die Rollen, und jede Änderung wird von einer zweiten Person geprüft. Am Checkpoint fragen wir gezielt jemanden zu einem Bereich, den die Person nicht selbst gebaut hat. Jede Lektion folgt demselben Rhythmus: Vorher aufschreiben, was passieren wird, dann laufen lassen, dann Abweichungen erklären. Genau diese Abweichungen sind der Lerngewinn.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heute gilt: erst selbst Agent sein, bevor ihr einen programmiert. Ihr richtet den Simulator ein, klärt in Stufe 0 gemeinsam, was ein Agent ist und wo seine Grenzen liegen, und löst dann in Stufe 1 eine Lage von Hand in der Recovery Console. Ihr ruft dieselben Werkzeuge auf und bekommt dieselben Ablehnungen, die später euer Programm bekommt. Python 3.10 reicht, eine Installation von Paketen ist nicht nötig.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Abschluss die Botschaft, die sich durch das ganze Labor zieht: Den Normalfall lösen viele Agenten. Interessant wird es bei Quellen, die sich irren, bei Lagen, die sich während eines Manövers ändern, und dann, wenn der Ausführer euch nicht mehr schützt. Danach Fragen und dann direkt in das Bootcamp.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B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F4F5F1"/>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0400"/>
            <a:ext cx="10566400" cy="4114800"/>
          </a:xfrm>
          <a:prstGeom prst="rect">
            <a:avLst/>
          </a:prstGeom>
          <a:noFill/>
          <a:ln/>
        </p:spPr>
        <p:txBody>
          <a:bodyPr wrap="square" lIns="0" tIns="0" rIns="0" bIns="0" rtlCol="0" anchor="t"/>
          <a:lstStyle>
            <a:lvl1pPr algn="l" indent="0" marL="0">
              <a:lnSpc>
                <a:spcPct val="140000"/>
              </a:lnSpc>
              <a:buNone/>
              <a:defRPr lang="en-US" sz="1600" dirty="0">
                <a:solidFill>
                  <a:srgbClr val="F4F5F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B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F4F5F1"/>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0400"/>
            <a:ext cx="10566400" cy="4114800"/>
          </a:xfrm>
          <a:prstGeom prst="rect">
            <a:avLst/>
          </a:prstGeom>
          <a:noFill/>
          <a:ln/>
        </p:spPr>
        <p:txBody>
          <a:bodyPr wrap="square" lIns="0" tIns="0" rIns="0" bIns="0" rtlCol="0" anchor="t"/>
          <a:lstStyle>
            <a:lvl1pPr algn="l" indent="0" marL="0">
              <a:lnSpc>
                <a:spcPct val="140000"/>
              </a:lnSpc>
              <a:buNone/>
              <a:defRPr lang="en-US" sz="1600" dirty="0">
                <a:solidFill>
                  <a:srgbClr val="F4F5F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1673225"/>
            <a:ext cx="5494020"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LABORVERSUCH · AGENTIC AI</a:t>
            </a:r>
            <a:endParaRPr lang="en-US" sz="1200" dirty="0"/>
          </a:p>
        </p:txBody>
      </p:sp>
      <p:sp>
        <p:nvSpPr>
          <p:cNvPr id="3" name="Text 1"/>
          <p:cNvSpPr/>
          <p:nvPr>
            <p:ph type="title"/>
          </p:nvPr>
        </p:nvSpPr>
        <p:spPr>
          <a:xfrm>
            <a:off x="812800" y="2136775"/>
            <a:ext cx="5494020" cy="1447800"/>
          </a:xfrm>
          <a:prstGeom prst="rect">
            <a:avLst/>
          </a:prstGeom>
          <a:noFill/>
          <a:ln/>
        </p:spPr>
        <p:txBody>
          <a:bodyPr wrap="square" lIns="0" tIns="0" rIns="0" bIns="0" rtlCol="0" anchor="t">
            <a:normAutofit/>
          </a:bodyPr>
          <a:lstStyle/>
          <a:p>
            <a:pPr algn="l" indent="0" marL="0">
              <a:lnSpc>
                <a:spcPts val="5600"/>
              </a:lnSpc>
              <a:buNone/>
            </a:pPr>
            <a:r>
              <a:rPr lang="en-US" sz="5600" b="1" i="0" dirty="0">
                <a:solidFill>
                  <a:srgbClr val="121B24"/>
                </a:solidFill>
                <a:latin typeface="Space Grotesk" pitchFamily="34" charset="0"/>
                <a:ea typeface="Space Grotesk" pitchFamily="34" charset="-122"/>
                <a:cs typeface="Space Grotesk" pitchFamily="34" charset="-120"/>
              </a:rPr>
              <a:t>Autonomy</a:t>
            </a:r>
            <a:endParaRPr lang="en-US" sz="5600" dirty="0"/>
          </a:p>
          <a:p>
            <a:pPr algn="l" indent="0" marL="0">
              <a:lnSpc>
                <a:spcPts val="5600"/>
              </a:lnSpc>
              <a:buNone/>
            </a:pPr>
            <a:r>
              <a:rPr lang="en-US" sz="5600" b="1" i="0" dirty="0">
                <a:solidFill>
                  <a:srgbClr val="121B24"/>
                </a:solidFill>
                <a:latin typeface="Space Grotesk" pitchFamily="34" charset="0"/>
                <a:ea typeface="Space Grotesk" pitchFamily="34" charset="-122"/>
                <a:cs typeface="Space Grotesk" pitchFamily="34" charset="-120"/>
              </a:rPr>
              <a:t>Recovery Lab</a:t>
            </a:r>
            <a:endParaRPr lang="en-US" sz="5600" dirty="0"/>
          </a:p>
        </p:txBody>
      </p:sp>
      <p:sp>
        <p:nvSpPr>
          <p:cNvPr id="4" name="Text 2"/>
          <p:cNvSpPr/>
          <p:nvPr/>
        </p:nvSpPr>
        <p:spPr>
          <a:xfrm>
            <a:off x="812800" y="3813175"/>
            <a:ext cx="549402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46525C"/>
                </a:solidFill>
                <a:latin typeface="IBM Plex Sans" pitchFamily="34" charset="0"/>
                <a:ea typeface="IBM Plex Sans" pitchFamily="34" charset="-122"/>
                <a:cs typeface="IBM Plex Sans" pitchFamily="34" charset="-120"/>
              </a:rPr>
              <a:t>Wenn das autonome Fahrzeug nicht mehr weiterweiß</a:t>
            </a:r>
            <a:endParaRPr lang="en-US" sz="2200" dirty="0"/>
          </a:p>
        </p:txBody>
      </p:sp>
      <p:sp>
        <p:nvSpPr>
          <p:cNvPr id="5" name="Text 3"/>
          <p:cNvSpPr/>
          <p:nvPr/>
        </p:nvSpPr>
        <p:spPr>
          <a:xfrm>
            <a:off x="812800" y="4765675"/>
            <a:ext cx="549402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Einstiegsveranstaltung · Arbeit im Viererteam · Simulator AutonomyRecoverySim</a:t>
            </a:r>
            <a:endParaRPr lang="en-US" sz="1200" dirty="0"/>
          </a:p>
        </p:txBody>
      </p:sp>
      <p:pic>
        <p:nvPicPr>
          <p:cNvPr id="6" name="Image 0" descr="Autonomes Campus-Shuttle in Seitenansicht">    </p:cNvPr>
          <p:cNvPicPr>
            <a:picLocks noChangeAspect="1"/>
          </p:cNvPicPr>
          <p:nvPr/>
        </p:nvPicPr>
        <p:blipFill>
          <a:blip r:embed="rId1"/>
          <a:srcRect l="0" r="0" t="-38" b="-38"/>
          <a:stretch/>
        </p:blipFill>
        <p:spPr>
          <a:xfrm>
            <a:off x="6553200" y="1997075"/>
            <a:ext cx="4826000" cy="2863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B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994A"/>
                </a:solidFill>
                <a:latin typeface="IBM Plex Sans" pitchFamily="34" charset="0"/>
                <a:ea typeface="IBM Plex Sans" pitchFamily="34" charset="-122"/>
                <a:cs typeface="IBM Plex Sans" pitchFamily="34" charset="-120"/>
              </a:rPr>
              <a:t>DAS PROBLEM</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1"/>
                </a:solidFill>
                <a:latin typeface="Space Grotesk" pitchFamily="34" charset="0"/>
                <a:ea typeface="Space Grotesk" pitchFamily="34" charset="-122"/>
                <a:cs typeface="Space Grotesk" pitchFamily="34" charset="-120"/>
              </a:rPr>
              <a:t>Das Fahrzeug steht und kommt nicht weiter</a:t>
            </a:r>
            <a:endParaRPr lang="en-US" sz="3600" dirty="0"/>
          </a:p>
        </p:txBody>
      </p:sp>
      <p:sp>
        <p:nvSpPr>
          <p:cNvPr id="4" name="Shape 2"/>
          <p:cNvSpPr/>
          <p:nvPr/>
        </p:nvSpPr>
        <p:spPr>
          <a:xfrm>
            <a:off x="815975" y="2035175"/>
            <a:ext cx="2482850" cy="2311400"/>
          </a:xfrm>
          <a:prstGeom prst="roundRect">
            <a:avLst>
              <a:gd name="adj" fmla="val 5357"/>
            </a:avLst>
          </a:prstGeom>
          <a:solidFill>
            <a:srgbClr val="1C2833"/>
          </a:solidFill>
          <a:ln w="6350">
            <a:solidFill>
              <a:srgbClr val="2C3A47"/>
            </a:solidFill>
            <a:prstDash val="solid"/>
          </a:ln>
        </p:spPr>
      </p:sp>
      <p:pic>
        <p:nvPicPr>
          <p:cNvPr id="5" name="Image 0" descr="Warning">    </p:cNvPr>
          <p:cNvPicPr>
            <a:picLocks noChangeAspect="1"/>
          </p:cNvPicPr>
          <p:nvPr/>
        </p:nvPicPr>
        <p:blipFill>
          <a:blip r:embed="rId1"/>
          <a:srcRect l="0" r="0" t="0" b="0"/>
          <a:stretch/>
        </p:blipFill>
        <p:spPr>
          <a:xfrm>
            <a:off x="1073150" y="2292350"/>
            <a:ext cx="355600" cy="355600"/>
          </a:xfrm>
          <a:prstGeom prst="rect">
            <a:avLst/>
          </a:prstGeom>
        </p:spPr>
      </p:pic>
      <p:sp>
        <p:nvSpPr>
          <p:cNvPr id="6" name="Text 3"/>
          <p:cNvSpPr/>
          <p:nvPr/>
        </p:nvSpPr>
        <p:spPr>
          <a:xfrm>
            <a:off x="1073150" y="2800350"/>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4F5F1"/>
                </a:solidFill>
                <a:latin typeface="IBM Plex Sans" pitchFamily="34" charset="0"/>
                <a:ea typeface="IBM Plex Sans" pitchFamily="34" charset="-122"/>
                <a:cs typeface="IBM Plex Sans" pitchFamily="34" charset="-120"/>
              </a:rPr>
              <a:t>Lieferwagen in zweiter Reihe</a:t>
            </a:r>
            <a:endParaRPr lang="en-US" sz="1600" dirty="0"/>
          </a:p>
        </p:txBody>
      </p:sp>
      <p:sp>
        <p:nvSpPr>
          <p:cNvPr id="7" name="Text 4"/>
          <p:cNvSpPr/>
          <p:nvPr/>
        </p:nvSpPr>
        <p:spPr>
          <a:xfrm>
            <a:off x="1073150" y="3460750"/>
            <a:ext cx="202755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Fährt er gleich weiter, oder ist der Fahrer weg?</a:t>
            </a:r>
            <a:endParaRPr lang="en-US" sz="1200" dirty="0"/>
          </a:p>
        </p:txBody>
      </p:sp>
      <p:sp>
        <p:nvSpPr>
          <p:cNvPr id="8" name="Shape 5"/>
          <p:cNvSpPr/>
          <p:nvPr/>
        </p:nvSpPr>
        <p:spPr>
          <a:xfrm>
            <a:off x="3508375" y="2035175"/>
            <a:ext cx="2482850" cy="2311400"/>
          </a:xfrm>
          <a:prstGeom prst="roundRect">
            <a:avLst>
              <a:gd name="adj" fmla="val 5357"/>
            </a:avLst>
          </a:prstGeom>
          <a:solidFill>
            <a:srgbClr val="1C2833"/>
          </a:solidFill>
          <a:ln w="6350">
            <a:solidFill>
              <a:srgbClr val="2C3A47"/>
            </a:solidFill>
            <a:prstDash val="solid"/>
          </a:ln>
        </p:spPr>
      </p:sp>
      <p:pic>
        <p:nvPicPr>
          <p:cNvPr id="9" name="Image 1" descr="Lightning">    </p:cNvPr>
          <p:cNvPicPr>
            <a:picLocks noChangeAspect="1"/>
          </p:cNvPicPr>
          <p:nvPr/>
        </p:nvPicPr>
        <p:blipFill>
          <a:blip r:embed="rId2"/>
          <a:srcRect l="0" r="0" t="0" b="0"/>
          <a:stretch/>
        </p:blipFill>
        <p:spPr>
          <a:xfrm>
            <a:off x="3765550" y="2292350"/>
            <a:ext cx="355600" cy="355600"/>
          </a:xfrm>
          <a:prstGeom prst="rect">
            <a:avLst/>
          </a:prstGeom>
        </p:spPr>
      </p:pic>
      <p:sp>
        <p:nvSpPr>
          <p:cNvPr id="10" name="Text 6"/>
          <p:cNvSpPr/>
          <p:nvPr/>
        </p:nvSpPr>
        <p:spPr>
          <a:xfrm>
            <a:off x="3765550" y="2800350"/>
            <a:ext cx="202755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4F5F1"/>
                </a:solidFill>
                <a:latin typeface="IBM Plex Sans" pitchFamily="34" charset="0"/>
                <a:ea typeface="IBM Plex Sans" pitchFamily="34" charset="-122"/>
                <a:cs typeface="IBM Plex Sans" pitchFamily="34" charset="-120"/>
              </a:rPr>
              <a:t>Ampel ausgefallen</a:t>
            </a:r>
            <a:endParaRPr lang="en-US" sz="1600" dirty="0"/>
          </a:p>
        </p:txBody>
      </p:sp>
      <p:sp>
        <p:nvSpPr>
          <p:cNvPr id="11" name="Text 7"/>
          <p:cNvSpPr/>
          <p:nvPr/>
        </p:nvSpPr>
        <p:spPr>
          <a:xfrm>
            <a:off x="3765550" y="3206750"/>
            <a:ext cx="202755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Dunkel ist nicht rot. Wer gibt die Kreuzung frei?</a:t>
            </a:r>
            <a:endParaRPr lang="en-US" sz="1200" dirty="0"/>
          </a:p>
        </p:txBody>
      </p:sp>
      <p:sp>
        <p:nvSpPr>
          <p:cNvPr id="12" name="Shape 8"/>
          <p:cNvSpPr/>
          <p:nvPr/>
        </p:nvSpPr>
        <p:spPr>
          <a:xfrm>
            <a:off x="6200775" y="2035175"/>
            <a:ext cx="2482850" cy="2311400"/>
          </a:xfrm>
          <a:prstGeom prst="roundRect">
            <a:avLst>
              <a:gd name="adj" fmla="val 5357"/>
            </a:avLst>
          </a:prstGeom>
          <a:solidFill>
            <a:srgbClr val="1C2833"/>
          </a:solidFill>
          <a:ln w="6350">
            <a:solidFill>
              <a:srgbClr val="2C3A47"/>
            </a:solidFill>
            <a:prstDash val="solid"/>
          </a:ln>
        </p:spPr>
      </p:sp>
      <p:pic>
        <p:nvPicPr>
          <p:cNvPr id="13" name="Image 2" descr="Search">    </p:cNvPr>
          <p:cNvPicPr>
            <a:picLocks noChangeAspect="1"/>
          </p:cNvPicPr>
          <p:nvPr/>
        </p:nvPicPr>
        <p:blipFill>
          <a:blip r:embed="rId3"/>
          <a:srcRect l="0" r="0" t="0" b="0"/>
          <a:stretch/>
        </p:blipFill>
        <p:spPr>
          <a:xfrm>
            <a:off x="6457950" y="2292350"/>
            <a:ext cx="355600" cy="355600"/>
          </a:xfrm>
          <a:prstGeom prst="rect">
            <a:avLst/>
          </a:prstGeom>
        </p:spPr>
      </p:pic>
      <p:sp>
        <p:nvSpPr>
          <p:cNvPr id="14" name="Text 9"/>
          <p:cNvSpPr/>
          <p:nvPr/>
        </p:nvSpPr>
        <p:spPr>
          <a:xfrm>
            <a:off x="6457950" y="2800350"/>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4F5F1"/>
                </a:solidFill>
                <a:latin typeface="IBM Plex Sans" pitchFamily="34" charset="0"/>
                <a:ea typeface="IBM Plex Sans" pitchFamily="34" charset="-122"/>
                <a:cs typeface="IBM Plex Sans" pitchFamily="34" charset="-120"/>
              </a:rPr>
              <a:t>Ladung auf der Fahrbahn</a:t>
            </a:r>
            <a:endParaRPr lang="en-US" sz="1600" dirty="0"/>
          </a:p>
        </p:txBody>
      </p:sp>
      <p:sp>
        <p:nvSpPr>
          <p:cNvPr id="15" name="Text 10"/>
          <p:cNvSpPr/>
          <p:nvPr/>
        </p:nvSpPr>
        <p:spPr>
          <a:xfrm>
            <a:off x="6457950" y="3460750"/>
            <a:ext cx="2027555"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Karton oder Stahlteil? Drüberfahren oder umfahren?</a:t>
            </a:r>
            <a:endParaRPr lang="en-US" sz="1200" dirty="0"/>
          </a:p>
        </p:txBody>
      </p:sp>
      <p:sp>
        <p:nvSpPr>
          <p:cNvPr id="16" name="Shape 11"/>
          <p:cNvSpPr/>
          <p:nvPr/>
        </p:nvSpPr>
        <p:spPr>
          <a:xfrm>
            <a:off x="8893175" y="2035175"/>
            <a:ext cx="2482850" cy="2311400"/>
          </a:xfrm>
          <a:prstGeom prst="roundRect">
            <a:avLst>
              <a:gd name="adj" fmla="val 5357"/>
            </a:avLst>
          </a:prstGeom>
          <a:solidFill>
            <a:srgbClr val="1C2833"/>
          </a:solidFill>
          <a:ln w="6350">
            <a:solidFill>
              <a:srgbClr val="2C3A47"/>
            </a:solidFill>
            <a:prstDash val="solid"/>
          </a:ln>
        </p:spPr>
      </p:sp>
      <p:pic>
        <p:nvPicPr>
          <p:cNvPr id="17" name="Image 3" descr="Wrench">    </p:cNvPr>
          <p:cNvPicPr>
            <a:picLocks noChangeAspect="1"/>
          </p:cNvPicPr>
          <p:nvPr/>
        </p:nvPicPr>
        <p:blipFill>
          <a:blip r:embed="rId4"/>
          <a:srcRect l="0" r="0" t="0" b="0"/>
          <a:stretch/>
        </p:blipFill>
        <p:spPr>
          <a:xfrm>
            <a:off x="9150350" y="2292350"/>
            <a:ext cx="355600" cy="355600"/>
          </a:xfrm>
          <a:prstGeom prst="rect">
            <a:avLst/>
          </a:prstGeom>
        </p:spPr>
      </p:pic>
      <p:sp>
        <p:nvSpPr>
          <p:cNvPr id="18" name="Text 12"/>
          <p:cNvSpPr/>
          <p:nvPr/>
        </p:nvSpPr>
        <p:spPr>
          <a:xfrm>
            <a:off x="9150350" y="2800350"/>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4F5F1"/>
                </a:solidFill>
                <a:latin typeface="IBM Plex Sans" pitchFamily="34" charset="0"/>
                <a:ea typeface="IBM Plex Sans" pitchFamily="34" charset="-122"/>
                <a:cs typeface="IBM Plex Sans" pitchFamily="34" charset="-120"/>
              </a:rPr>
              <a:t>Baustelle ohne Umleitung</a:t>
            </a:r>
            <a:endParaRPr lang="en-US" sz="1600" dirty="0"/>
          </a:p>
        </p:txBody>
      </p:sp>
      <p:sp>
        <p:nvSpPr>
          <p:cNvPr id="19" name="Text 13"/>
          <p:cNvSpPr/>
          <p:nvPr/>
        </p:nvSpPr>
        <p:spPr>
          <a:xfrm>
            <a:off x="9150350" y="3460750"/>
            <a:ext cx="202755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Wenden, umplanen oder die Leitstelle rufen?</a:t>
            </a:r>
            <a:endParaRPr lang="en-US" sz="1200" dirty="0"/>
          </a:p>
        </p:txBody>
      </p:sp>
      <p:sp>
        <p:nvSpPr>
          <p:cNvPr id="20" name="Text 14"/>
          <p:cNvSpPr/>
          <p:nvPr/>
        </p:nvSpPr>
        <p:spPr>
          <a:xfrm>
            <a:off x="812800" y="475615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4CC"/>
                </a:solidFill>
                <a:latin typeface="IBM Plex Sans" pitchFamily="34" charset="0"/>
                <a:ea typeface="IBM Plex Sans" pitchFamily="34" charset="-122"/>
                <a:cs typeface="IBM Plex Sans" pitchFamily="34" charset="-120"/>
              </a:rPr>
              <a:t>Der Fahrstack hält sicher an, </a:t>
            </a:r>
            <a:r>
              <a:rPr lang="en-US" sz="1600" dirty="0">
                <a:solidFill>
                  <a:srgbClr val="F4F5F1"/>
                </a:solidFill>
                <a:latin typeface="IBM Plex Sans" pitchFamily="34" charset="0"/>
                <a:ea typeface="IBM Plex Sans" pitchFamily="34" charset="-122"/>
                <a:cs typeface="IBM Plex Sans" pitchFamily="34" charset="-120"/>
              </a:rPr>
              <a:t>löst die Lage aber nicht auf</a:t>
            </a:r>
            <a:r>
              <a:rPr lang="en-US" sz="1600" dirty="0">
                <a:solidFill>
                  <a:srgbClr val="B9C4CC"/>
                </a:solidFill>
                <a:latin typeface="IBM Plex Sans" pitchFamily="34" charset="0"/>
                <a:ea typeface="IBM Plex Sans" pitchFamily="34" charset="-122"/>
                <a:cs typeface="IBM Plex Sans" pitchFamily="34" charset="-120"/>
              </a:rPr>
              <a:t>. Dafür gibt es in diesem Labor einen eigenen Agenten.</a:t>
            </a:r>
            <a:endParaRPr lang="en-US" sz="1600" dirty="0"/>
          </a:p>
        </p:txBody>
      </p:sp>
      <p:sp>
        <p:nvSpPr>
          <p:cNvPr id="21" name="Text 15"/>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22"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EURE AUFGABE</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Euer Agent übernimmt ab dem Stillstand</a:t>
            </a:r>
            <a:endParaRPr lang="en-US" sz="3600" dirty="0"/>
          </a:p>
        </p:txBody>
      </p:sp>
      <p:sp>
        <p:nvSpPr>
          <p:cNvPr id="4" name="Shape 2"/>
          <p:cNvSpPr/>
          <p:nvPr/>
        </p:nvSpPr>
        <p:spPr>
          <a:xfrm>
            <a:off x="815975" y="2035175"/>
            <a:ext cx="3075484" cy="2038350"/>
          </a:xfrm>
          <a:prstGeom prst="roundRect">
            <a:avLst>
              <a:gd name="adj" fmla="val 6075"/>
            </a:avLst>
          </a:prstGeom>
          <a:solidFill>
            <a:srgbClr val="FBFBF8"/>
          </a:solidFill>
          <a:ln w="6350">
            <a:solidFill>
              <a:srgbClr val="D5DAD3"/>
            </a:solidFill>
            <a:prstDash val="solid"/>
          </a:ln>
        </p:spPr>
      </p:sp>
      <p:sp>
        <p:nvSpPr>
          <p:cNvPr id="5" name="Text 3"/>
          <p:cNvSpPr/>
          <p:nvPr/>
        </p:nvSpPr>
        <p:spPr>
          <a:xfrm>
            <a:off x="1073150" y="2292350"/>
            <a:ext cx="263796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A0"/>
                </a:solidFill>
                <a:latin typeface="Space Grotesk" pitchFamily="34" charset="0"/>
                <a:ea typeface="Space Grotesk" pitchFamily="34" charset="-122"/>
                <a:cs typeface="Space Grotesk" pitchFamily="34" charset="-120"/>
              </a:rPr>
              <a:t>1</a:t>
            </a:r>
            <a:endParaRPr lang="en-US" sz="2200" dirty="0"/>
          </a:p>
        </p:txBody>
      </p:sp>
      <p:sp>
        <p:nvSpPr>
          <p:cNvPr id="6" name="Text 4"/>
          <p:cNvSpPr/>
          <p:nvPr/>
        </p:nvSpPr>
        <p:spPr>
          <a:xfrm>
            <a:off x="1073150" y="2806700"/>
            <a:ext cx="26379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1B24"/>
                </a:solidFill>
                <a:latin typeface="IBM Plex Sans" pitchFamily="34" charset="0"/>
                <a:ea typeface="IBM Plex Sans" pitchFamily="34" charset="-122"/>
                <a:cs typeface="IBM Plex Sans" pitchFamily="34" charset="-120"/>
              </a:rPr>
              <a:t>Lage untersuchen</a:t>
            </a:r>
            <a:endParaRPr lang="en-US" sz="1600" dirty="0"/>
          </a:p>
        </p:txBody>
      </p:sp>
      <p:sp>
        <p:nvSpPr>
          <p:cNvPr id="7" name="Text 5"/>
          <p:cNvSpPr/>
          <p:nvPr/>
        </p:nvSpPr>
        <p:spPr>
          <a:xfrm>
            <a:off x="1073150" y="3187700"/>
            <a:ext cx="2637968"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Werkzeuge abfragen: Hindernis, Gegenverkehr, Sicht, Karte, Mission, Fahrstack</a:t>
            </a:r>
            <a:endParaRPr lang="en-US" sz="1200" dirty="0"/>
          </a:p>
        </p:txBody>
      </p:sp>
      <p:pic>
        <p:nvPicPr>
          <p:cNvPr id="8" name="Image 0" descr="arrow-right">    </p:cNvPr>
          <p:cNvPicPr>
            <a:picLocks noChangeAspect="1"/>
          </p:cNvPicPr>
          <p:nvPr/>
        </p:nvPicPr>
        <p:blipFill>
          <a:blip r:embed="rId1"/>
          <a:srcRect l="0" r="0" t="0" b="0"/>
          <a:stretch/>
        </p:blipFill>
        <p:spPr>
          <a:xfrm>
            <a:off x="4047034" y="2952750"/>
            <a:ext cx="355600" cy="203200"/>
          </a:xfrm>
          <a:prstGeom prst="rect">
            <a:avLst/>
          </a:prstGeom>
        </p:spPr>
      </p:pic>
      <p:sp>
        <p:nvSpPr>
          <p:cNvPr id="9" name="Shape 6"/>
          <p:cNvSpPr/>
          <p:nvPr/>
        </p:nvSpPr>
        <p:spPr>
          <a:xfrm>
            <a:off x="4558209" y="2139950"/>
            <a:ext cx="3075484" cy="1828800"/>
          </a:xfrm>
          <a:prstGeom prst="roundRect">
            <a:avLst>
              <a:gd name="adj" fmla="val 6771"/>
            </a:avLst>
          </a:prstGeom>
          <a:solidFill>
            <a:srgbClr val="FBFBF8"/>
          </a:solidFill>
          <a:ln w="6350">
            <a:solidFill>
              <a:srgbClr val="D5DAD3"/>
            </a:solidFill>
            <a:prstDash val="solid"/>
          </a:ln>
        </p:spPr>
      </p:sp>
      <p:sp>
        <p:nvSpPr>
          <p:cNvPr id="10" name="Text 7"/>
          <p:cNvSpPr/>
          <p:nvPr/>
        </p:nvSpPr>
        <p:spPr>
          <a:xfrm>
            <a:off x="4815384" y="2397125"/>
            <a:ext cx="263796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A0"/>
                </a:solidFill>
                <a:latin typeface="Space Grotesk" pitchFamily="34" charset="0"/>
                <a:ea typeface="Space Grotesk" pitchFamily="34" charset="-122"/>
                <a:cs typeface="Space Grotesk" pitchFamily="34" charset="-120"/>
              </a:rPr>
              <a:t>2</a:t>
            </a:r>
            <a:endParaRPr lang="en-US" sz="2200" dirty="0"/>
          </a:p>
        </p:txBody>
      </p:sp>
      <p:sp>
        <p:nvSpPr>
          <p:cNvPr id="11" name="Text 8"/>
          <p:cNvSpPr/>
          <p:nvPr/>
        </p:nvSpPr>
        <p:spPr>
          <a:xfrm>
            <a:off x="4815384" y="2911475"/>
            <a:ext cx="26379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1B24"/>
                </a:solidFill>
                <a:latin typeface="IBM Plex Sans" pitchFamily="34" charset="0"/>
                <a:ea typeface="IBM Plex Sans" pitchFamily="34" charset="-122"/>
                <a:cs typeface="IBM Plex Sans" pitchFamily="34" charset="-120"/>
              </a:rPr>
              <a:t>Befehl wählen</a:t>
            </a:r>
            <a:endParaRPr lang="en-US" sz="1600" dirty="0"/>
          </a:p>
        </p:txBody>
      </p:sp>
      <p:sp>
        <p:nvSpPr>
          <p:cNvPr id="12" name="Text 9"/>
          <p:cNvSpPr/>
          <p:nvPr/>
        </p:nvSpPr>
        <p:spPr>
          <a:xfrm>
            <a:off x="4815384" y="3292475"/>
            <a:ext cx="263796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Genau ein High-Level-Befehl mit Parametern und Begründung</a:t>
            </a:r>
            <a:endParaRPr lang="en-US" sz="1200" dirty="0"/>
          </a:p>
        </p:txBody>
      </p:sp>
      <p:pic>
        <p:nvPicPr>
          <p:cNvPr id="13" name="Image 1" descr="arrow-right">    </p:cNvPr>
          <p:cNvPicPr>
            <a:picLocks noChangeAspect="1"/>
          </p:cNvPicPr>
          <p:nvPr/>
        </p:nvPicPr>
        <p:blipFill>
          <a:blip r:embed="rId2"/>
          <a:srcRect l="0" r="0" t="0" b="0"/>
          <a:stretch/>
        </p:blipFill>
        <p:spPr>
          <a:xfrm>
            <a:off x="7789267" y="2952750"/>
            <a:ext cx="355600" cy="203200"/>
          </a:xfrm>
          <a:prstGeom prst="rect">
            <a:avLst/>
          </a:prstGeom>
        </p:spPr>
      </p:pic>
      <p:sp>
        <p:nvSpPr>
          <p:cNvPr id="14" name="Shape 10"/>
          <p:cNvSpPr/>
          <p:nvPr/>
        </p:nvSpPr>
        <p:spPr>
          <a:xfrm>
            <a:off x="8300442" y="2035175"/>
            <a:ext cx="3075484" cy="2038350"/>
          </a:xfrm>
          <a:prstGeom prst="roundRect">
            <a:avLst>
              <a:gd name="adj" fmla="val 6075"/>
            </a:avLst>
          </a:prstGeom>
          <a:solidFill>
            <a:srgbClr val="FBFBF8"/>
          </a:solidFill>
          <a:ln w="6350">
            <a:solidFill>
              <a:srgbClr val="D5DAD3"/>
            </a:solidFill>
            <a:prstDash val="solid"/>
          </a:ln>
        </p:spPr>
      </p:sp>
      <p:sp>
        <p:nvSpPr>
          <p:cNvPr id="15" name="Text 11"/>
          <p:cNvSpPr/>
          <p:nvPr/>
        </p:nvSpPr>
        <p:spPr>
          <a:xfrm>
            <a:off x="8557617" y="2292350"/>
            <a:ext cx="263796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A0"/>
                </a:solidFill>
                <a:latin typeface="Space Grotesk" pitchFamily="34" charset="0"/>
                <a:ea typeface="Space Grotesk" pitchFamily="34" charset="-122"/>
                <a:cs typeface="Space Grotesk" pitchFamily="34" charset="-120"/>
              </a:rPr>
              <a:t>3</a:t>
            </a:r>
            <a:endParaRPr lang="en-US" sz="2200" dirty="0"/>
          </a:p>
        </p:txBody>
      </p:sp>
      <p:sp>
        <p:nvSpPr>
          <p:cNvPr id="16" name="Text 12"/>
          <p:cNvSpPr/>
          <p:nvPr/>
        </p:nvSpPr>
        <p:spPr>
          <a:xfrm>
            <a:off x="8557617" y="2806700"/>
            <a:ext cx="26379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1B24"/>
                </a:solidFill>
                <a:latin typeface="IBM Plex Sans" pitchFamily="34" charset="0"/>
                <a:ea typeface="IBM Plex Sans" pitchFamily="34" charset="-122"/>
                <a:cs typeface="IBM Plex Sans" pitchFamily="34" charset="-120"/>
              </a:rPr>
              <a:t>Simulator prüft und fährt</a:t>
            </a:r>
            <a:endParaRPr lang="en-US" sz="1600" dirty="0"/>
          </a:p>
        </p:txBody>
      </p:sp>
      <p:sp>
        <p:nvSpPr>
          <p:cNvPr id="17" name="Text 13"/>
          <p:cNvSpPr/>
          <p:nvPr/>
        </p:nvSpPr>
        <p:spPr>
          <a:xfrm>
            <a:off x="8557617" y="3187700"/>
            <a:ext cx="2637968"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Regeln, Sicherheit, Ausführung; gemessen werden Sicherheit, Erfolg, Standzeit, Kosten</a:t>
            </a:r>
            <a:endParaRPr lang="en-US" sz="1200" dirty="0"/>
          </a:p>
        </p:txBody>
      </p:sp>
      <p:sp>
        <p:nvSpPr>
          <p:cNvPr id="18" name="Text 14"/>
          <p:cNvSpPr/>
          <p:nvPr/>
        </p:nvSpPr>
        <p:spPr>
          <a:xfrm>
            <a:off x="812800" y="4483100"/>
            <a:ext cx="10883392" cy="5842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1B24"/>
                </a:solidFill>
                <a:latin typeface="IBM Plex Sans" pitchFamily="34" charset="0"/>
                <a:ea typeface="IBM Plex Sans" pitchFamily="34" charset="-122"/>
                <a:cs typeface="IBM Plex Sans" pitchFamily="34" charset="-120"/>
              </a:rPr>
              <a:t>Kein Lenkrad, keine Trajektorie.</a:t>
            </a:r>
            <a:r>
              <a:rPr lang="en-US" sz="1600" dirty="0">
                <a:solidFill>
                  <a:srgbClr val="46525C"/>
                </a:solidFill>
                <a:latin typeface="IBM Plex Sans" pitchFamily="34" charset="0"/>
                <a:ea typeface="IBM Plex Sans" pitchFamily="34" charset="-122"/>
                <a:cs typeface="IBM Plex Sans" pitchFamily="34" charset="-120"/>
              </a:rPr>
              <a:t> Der Agent entscheidet, </a:t>
            </a:r>
            <a:r>
              <a:rPr lang="en-US" sz="1600" i="1" dirty="0">
                <a:solidFill>
                  <a:srgbClr val="46525C"/>
                </a:solidFill>
                <a:latin typeface="IBM Plex Sans" pitchFamily="34" charset="0"/>
                <a:ea typeface="IBM Plex Sans" pitchFamily="34" charset="-122"/>
                <a:cs typeface="IBM Plex Sans" pitchFamily="34" charset="-120"/>
              </a:rPr>
              <a:t>was</a:t>
            </a:r>
            <a:r>
              <a:rPr lang="en-US" sz="1600" dirty="0">
                <a:solidFill>
                  <a:srgbClr val="46525C"/>
                </a:solidFill>
                <a:latin typeface="IBM Plex Sans" pitchFamily="34" charset="0"/>
                <a:ea typeface="IBM Plex Sans" pitchFamily="34" charset="-122"/>
                <a:cs typeface="IBM Plex Sans" pitchFamily="34" charset="-120"/>
              </a:rPr>
              <a:t> geschieht. </a:t>
            </a:r>
            <a:r>
              <a:rPr lang="en-US" sz="1600" i="1" dirty="0">
                <a:solidFill>
                  <a:srgbClr val="46525C"/>
                </a:solidFill>
                <a:latin typeface="IBM Plex Sans" pitchFamily="34" charset="0"/>
                <a:ea typeface="IBM Plex Sans" pitchFamily="34" charset="-122"/>
                <a:cs typeface="IBM Plex Sans" pitchFamily="34" charset="-120"/>
              </a:rPr>
              <a:t>Wie</a:t>
            </a:r>
            <a:r>
              <a:rPr lang="en-US" sz="1600" dirty="0">
                <a:solidFill>
                  <a:srgbClr val="46525C"/>
                </a:solidFill>
                <a:latin typeface="IBM Plex Sans" pitchFamily="34" charset="0"/>
                <a:ea typeface="IBM Plex Sans" pitchFamily="34" charset="-122"/>
                <a:cs typeface="IBM Plex Sans" pitchFamily="34" charset="-120"/>
              </a:rPr>
              <a:t> gelenkt und gebremst wird, erledigt der zertifizierte Ausführer.</a:t>
            </a:r>
            <a:endParaRPr lang="en-US" sz="1600" dirty="0"/>
          </a:p>
        </p:txBody>
      </p:sp>
      <p:sp>
        <p:nvSpPr>
          <p:cNvPr id="19" name="Text 15"/>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20"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7EA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DIE ERSTE FRAGE</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Steckt das Fahrzeug wirklich fest?</a:t>
            </a:r>
            <a:endParaRPr lang="en-US" sz="3600" dirty="0"/>
          </a:p>
        </p:txBody>
      </p:sp>
      <p:sp>
        <p:nvSpPr>
          <p:cNvPr id="4" name="Shape 2"/>
          <p:cNvSpPr/>
          <p:nvPr/>
        </p:nvSpPr>
        <p:spPr>
          <a:xfrm>
            <a:off x="815975" y="1984375"/>
            <a:ext cx="5175250" cy="2063750"/>
          </a:xfrm>
          <a:prstGeom prst="roundRect">
            <a:avLst>
              <a:gd name="adj" fmla="val 6000"/>
            </a:avLst>
          </a:prstGeom>
          <a:solidFill>
            <a:srgbClr val="FBFBF8"/>
          </a:solidFill>
          <a:ln w="6350">
            <a:solidFill>
              <a:srgbClr val="D5DAD3"/>
            </a:solidFill>
            <a:prstDash val="solid"/>
          </a:ln>
        </p:spPr>
      </p:sp>
      <p:pic>
        <p:nvPicPr>
          <p:cNvPr id="5" name="Image 0" descr="Clock">    </p:cNvPr>
          <p:cNvPicPr>
            <a:picLocks noChangeAspect="1"/>
          </p:cNvPicPr>
          <p:nvPr/>
        </p:nvPicPr>
        <p:blipFill>
          <a:blip r:embed="rId1"/>
          <a:srcRect l="0" r="0" t="0" b="0"/>
          <a:stretch/>
        </p:blipFill>
        <p:spPr>
          <a:xfrm>
            <a:off x="1123950" y="2292350"/>
            <a:ext cx="304800" cy="304800"/>
          </a:xfrm>
          <a:prstGeom prst="rect">
            <a:avLst/>
          </a:prstGeom>
        </p:spPr>
      </p:pic>
      <p:sp>
        <p:nvSpPr>
          <p:cNvPr id="6" name="Text 3"/>
          <p:cNvSpPr/>
          <p:nvPr/>
        </p:nvSpPr>
        <p:spPr>
          <a:xfrm>
            <a:off x="1555750" y="2324100"/>
            <a:ext cx="1943695"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Warten ist richtig</a:t>
            </a:r>
            <a:endParaRPr lang="en-US" sz="1600" dirty="0"/>
          </a:p>
        </p:txBody>
      </p:sp>
      <p:sp>
        <p:nvSpPr>
          <p:cNvPr id="7" name="Text 4"/>
          <p:cNvSpPr/>
          <p:nvPr/>
        </p:nvSpPr>
        <p:spPr>
          <a:xfrm>
            <a:off x="1123950" y="2749550"/>
            <a:ext cx="4696079"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Rote Ampel, Güterzug am Bahnübergang, Stau, geplanter Halt</a:t>
            </a:r>
            <a:endParaRPr lang="en-US" sz="1600" dirty="0"/>
          </a:p>
        </p:txBody>
      </p:sp>
      <p:sp>
        <p:nvSpPr>
          <p:cNvPr id="8" name="Text 5"/>
          <p:cNvSpPr/>
          <p:nvPr/>
        </p:nvSpPr>
        <p:spPr>
          <a:xfrm>
            <a:off x="1123950" y="3460750"/>
            <a:ext cx="4696079"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A64A0"/>
                </a:solidFill>
                <a:latin typeface="IBM Plex Sans" pitchFamily="34" charset="0"/>
                <a:ea typeface="IBM Plex Sans" pitchFamily="34" charset="-122"/>
                <a:cs typeface="IBM Plex Sans" pitchFamily="34" charset="-120"/>
              </a:rPr>
              <a:t>Wer hier eingreift, löst einen Fehlalarm aus.</a:t>
            </a:r>
            <a:endParaRPr lang="en-US" sz="1600" dirty="0"/>
          </a:p>
        </p:txBody>
      </p:sp>
      <p:sp>
        <p:nvSpPr>
          <p:cNvPr id="9" name="Shape 6"/>
          <p:cNvSpPr/>
          <p:nvPr/>
        </p:nvSpPr>
        <p:spPr>
          <a:xfrm>
            <a:off x="6200775" y="1984375"/>
            <a:ext cx="5175250" cy="2063750"/>
          </a:xfrm>
          <a:prstGeom prst="roundRect">
            <a:avLst>
              <a:gd name="adj" fmla="val 6000"/>
            </a:avLst>
          </a:prstGeom>
          <a:solidFill>
            <a:srgbClr val="FBFBF8"/>
          </a:solidFill>
          <a:ln w="6350">
            <a:solidFill>
              <a:srgbClr val="D5DAD3"/>
            </a:solidFill>
            <a:prstDash val="solid"/>
          </a:ln>
        </p:spPr>
      </p:sp>
      <p:pic>
        <p:nvPicPr>
          <p:cNvPr id="10" name="Image 1" descr="Lightning">    </p:cNvPr>
          <p:cNvPicPr>
            <a:picLocks noChangeAspect="1"/>
          </p:cNvPicPr>
          <p:nvPr/>
        </p:nvPicPr>
        <p:blipFill>
          <a:blip r:embed="rId2"/>
          <a:srcRect l="0" r="0" t="0" b="0"/>
          <a:stretch/>
        </p:blipFill>
        <p:spPr>
          <a:xfrm>
            <a:off x="6508750" y="2292350"/>
            <a:ext cx="304800" cy="304800"/>
          </a:xfrm>
          <a:prstGeom prst="rect">
            <a:avLst/>
          </a:prstGeom>
        </p:spPr>
      </p:pic>
      <p:sp>
        <p:nvSpPr>
          <p:cNvPr id="11" name="Text 7"/>
          <p:cNvSpPr/>
          <p:nvPr/>
        </p:nvSpPr>
        <p:spPr>
          <a:xfrm>
            <a:off x="6940550" y="2324100"/>
            <a:ext cx="1787843"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Eingriff ist nötig</a:t>
            </a:r>
            <a:endParaRPr lang="en-US" sz="1600" dirty="0"/>
          </a:p>
        </p:txBody>
      </p:sp>
      <p:sp>
        <p:nvSpPr>
          <p:cNvPr id="12" name="Text 8"/>
          <p:cNvSpPr/>
          <p:nvPr/>
        </p:nvSpPr>
        <p:spPr>
          <a:xfrm>
            <a:off x="6508750" y="2749550"/>
            <a:ext cx="4696079"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Ampel dunkel, grüne Ampel mit Blockade, Lieferwagen ohne Fahrer</a:t>
            </a:r>
            <a:endParaRPr lang="en-US" sz="1600" dirty="0"/>
          </a:p>
        </p:txBody>
      </p:sp>
      <p:sp>
        <p:nvSpPr>
          <p:cNvPr id="13" name="Text 9"/>
          <p:cNvSpPr/>
          <p:nvPr/>
        </p:nvSpPr>
        <p:spPr>
          <a:xfrm>
            <a:off x="6508750" y="3460750"/>
            <a:ext cx="4696079"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41A"/>
                </a:solidFill>
                <a:latin typeface="IBM Plex Sans" pitchFamily="34" charset="0"/>
                <a:ea typeface="IBM Plex Sans" pitchFamily="34" charset="-122"/>
                <a:cs typeface="IBM Plex Sans" pitchFamily="34" charset="-120"/>
              </a:rPr>
              <a:t>Wer hier wartet, verpasst den Eingriff.</a:t>
            </a:r>
            <a:endParaRPr lang="en-US" sz="1600" dirty="0"/>
          </a:p>
        </p:txBody>
      </p:sp>
      <p:sp>
        <p:nvSpPr>
          <p:cNvPr id="14" name="Text 10"/>
          <p:cNvSpPr/>
          <p:nvPr/>
        </p:nvSpPr>
        <p:spPr>
          <a:xfrm>
            <a:off x="812800" y="44069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Der Stillstandsmonitor ruft euren Agenten bei </a:t>
            </a:r>
            <a:r>
              <a:rPr lang="en-US" sz="1600" b="1" dirty="0">
                <a:solidFill>
                  <a:srgbClr val="121B24"/>
                </a:solidFill>
                <a:latin typeface="IBM Plex Sans" pitchFamily="34" charset="0"/>
                <a:ea typeface="IBM Plex Sans" pitchFamily="34" charset="-122"/>
                <a:cs typeface="IBM Plex Sans" pitchFamily="34" charset="-120"/>
              </a:rPr>
              <a:t>jedem</a:t>
            </a:r>
            <a:r>
              <a:rPr lang="en-US" sz="1600" dirty="0">
                <a:solidFill>
                  <a:srgbClr val="46525C"/>
                </a:solidFill>
                <a:latin typeface="IBM Plex Sans" pitchFamily="34" charset="0"/>
                <a:ea typeface="IBM Plex Sans" pitchFamily="34" charset="-122"/>
                <a:cs typeface="IBM Plex Sans" pitchFamily="34" charset="-120"/>
              </a:rPr>
              <a:t> Halt. Unterscheiden muss der Agent selbst.</a:t>
            </a:r>
            <a:endParaRPr lang="en-US" sz="1600" dirty="0"/>
          </a:p>
        </p:txBody>
      </p:sp>
      <p:sp>
        <p:nvSpPr>
          <p:cNvPr id="15" name="Text 11"/>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16" name="Text 12"/>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B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994A"/>
                </a:solidFill>
                <a:latin typeface="IBM Plex Sans" pitchFamily="34" charset="0"/>
                <a:ea typeface="IBM Plex Sans" pitchFamily="34" charset="-122"/>
                <a:cs typeface="IBM Plex Sans" pitchFamily="34" charset="-120"/>
              </a:rPr>
              <a:t>WAHRNEHMUNG</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1"/>
                </a:solidFill>
                <a:latin typeface="Space Grotesk" pitchFamily="34" charset="0"/>
                <a:ea typeface="Space Grotesk" pitchFamily="34" charset="-122"/>
                <a:cs typeface="Space Grotesk" pitchFamily="34" charset="-120"/>
              </a:rPr>
              <a:t>Was euer Agent zu sehen bekommt</a:t>
            </a:r>
            <a:endParaRPr lang="en-US" sz="3600" dirty="0"/>
          </a:p>
        </p:txBody>
      </p:sp>
      <p:sp>
        <p:nvSpPr>
          <p:cNvPr id="4" name="Shape 2"/>
          <p:cNvSpPr/>
          <p:nvPr/>
        </p:nvSpPr>
        <p:spPr>
          <a:xfrm>
            <a:off x="815975" y="1984375"/>
            <a:ext cx="5175250" cy="3003550"/>
          </a:xfrm>
          <a:prstGeom prst="roundRect">
            <a:avLst>
              <a:gd name="adj" fmla="val 4123"/>
            </a:avLst>
          </a:prstGeom>
          <a:solidFill>
            <a:srgbClr val="1C2833"/>
          </a:solidFill>
          <a:ln w="6350">
            <a:solidFill>
              <a:srgbClr val="2C3A47"/>
            </a:solidFill>
            <a:prstDash val="solid"/>
          </a:ln>
        </p:spPr>
      </p:sp>
      <p:sp>
        <p:nvSpPr>
          <p:cNvPr id="5" name="Text 3"/>
          <p:cNvSpPr/>
          <p:nvPr/>
        </p:nvSpPr>
        <p:spPr>
          <a:xfrm>
            <a:off x="1073150" y="2241550"/>
            <a:ext cx="480072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B2E5"/>
                </a:solidFill>
                <a:latin typeface="IBM Plex Sans" pitchFamily="34" charset="0"/>
                <a:ea typeface="IBM Plex Sans" pitchFamily="34" charset="-122"/>
                <a:cs typeface="IBM Plex Sans" pitchFamily="34" charset="-120"/>
              </a:rPr>
              <a:t>Ab L4: Objektliste mit Unsicherheit</a:t>
            </a:r>
            <a:endParaRPr lang="en-US" sz="1600" dirty="0"/>
          </a:p>
        </p:txBody>
      </p:sp>
      <p:sp>
        <p:nvSpPr>
          <p:cNvPr id="6" name="Text 4"/>
          <p:cNvSpPr/>
          <p:nvPr/>
        </p:nvSpPr>
        <p:spPr>
          <a:xfrm>
            <a:off x="1073150" y="2635250"/>
            <a:ext cx="4800727" cy="21209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"existence_probability": 0.97,</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"classification": [</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{"label": "VAN", "probability": 0.81},</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{"label": "TRUCK", "probability": 0.19}],</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"kinematics": {</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"position_m": [18.4, 0.1],</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"position_std_m": [0.3, 0.2],</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"motion_state": "STATIONARY"},</a:t>
            </a:r>
            <a:endParaRPr lang="en-US" sz="1200" dirty="0"/>
          </a:p>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  "lane_association": {"lane": "EGO_LANE"} }</a:t>
            </a:r>
            <a:endParaRPr lang="en-US" sz="1200" dirty="0"/>
          </a:p>
        </p:txBody>
      </p:sp>
      <p:sp>
        <p:nvSpPr>
          <p:cNvPr id="7" name="Shape 5"/>
          <p:cNvSpPr/>
          <p:nvPr/>
        </p:nvSpPr>
        <p:spPr>
          <a:xfrm>
            <a:off x="6200775" y="1984375"/>
            <a:ext cx="5175250" cy="3003550"/>
          </a:xfrm>
          <a:prstGeom prst="roundRect">
            <a:avLst>
              <a:gd name="adj" fmla="val 4123"/>
            </a:avLst>
          </a:prstGeom>
          <a:solidFill>
            <a:srgbClr val="1C2833"/>
          </a:solidFill>
          <a:ln w="6350">
            <a:solidFill>
              <a:srgbClr val="2C3A47"/>
            </a:solidFill>
            <a:prstDash val="solid"/>
          </a:ln>
        </p:spPr>
      </p:sp>
      <p:sp>
        <p:nvSpPr>
          <p:cNvPr id="8" name="Text 6"/>
          <p:cNvSpPr/>
          <p:nvPr/>
        </p:nvSpPr>
        <p:spPr>
          <a:xfrm>
            <a:off x="6457950" y="2241550"/>
            <a:ext cx="480072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B2E5"/>
                </a:solidFill>
                <a:latin typeface="IBM Plex Sans" pitchFamily="34" charset="0"/>
                <a:ea typeface="IBM Plex Sans" pitchFamily="34" charset="-122"/>
                <a:cs typeface="IBM Plex Sans" pitchFamily="34" charset="-120"/>
              </a:rPr>
              <a:t>In L6: Selbstauskunft des Fahrstacks</a:t>
            </a:r>
            <a:endParaRPr lang="en-US" sz="1600" dirty="0"/>
          </a:p>
        </p:txBody>
      </p:sp>
      <p:sp>
        <p:nvSpPr>
          <p:cNvPr id="9" name="Text 7"/>
          <p:cNvSpPr/>
          <p:nvPr/>
        </p:nvSpPr>
        <p:spPr>
          <a:xfrm>
            <a:off x="6457950" y="2686050"/>
            <a:ext cx="4800727" cy="723900"/>
          </a:xfrm>
          <a:prstGeom prst="rect">
            <a:avLst/>
          </a:prstGeom>
          <a:noFill/>
          <a:ln/>
        </p:spPr>
        <p:txBody>
          <a:bodyPr wrap="square" lIns="0" tIns="0" rIns="0" bIns="0" rtlCol="0" anchor="t">
            <a:normAutofit/>
          </a:bodyPr>
          <a:lstStyle/>
          <a:p>
            <a:pPr algn="l" indent="0" marL="0">
              <a:lnSpc>
                <a:spcPts val="2750"/>
              </a:lnSpc>
              <a:buNone/>
            </a:pPr>
            <a:r>
              <a:rPr lang="en-US" sz="2200" i="1" dirty="0">
                <a:solidFill>
                  <a:srgbClr val="F4F5F1"/>
                </a:solidFill>
                <a:latin typeface="IBM Plex Sans" pitchFamily="34" charset="0"/>
                <a:ea typeface="IBM Plex Sans" pitchFamily="34" charset="-122"/>
                <a:cs typeface="IBM Plex Sans" pitchFamily="34" charset="-120"/>
              </a:rPr>
              <a:t>„Ein Lieferwagen blockiert die Spur, also halte ich an.“</a:t>
            </a:r>
            <a:endParaRPr lang="en-US" sz="2200" dirty="0"/>
          </a:p>
        </p:txBody>
      </p:sp>
      <p:sp>
        <p:nvSpPr>
          <p:cNvPr id="10" name="Text 8"/>
          <p:cNvSpPr/>
          <p:nvPr/>
        </p:nvSpPr>
        <p:spPr>
          <a:xfrm>
            <a:off x="6457950" y="3587750"/>
            <a:ext cx="480072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JetBrains Mono" pitchFamily="49" charset="0"/>
                <a:ea typeface="JetBrains Mono" pitchFamily="49" charset="-122"/>
                <a:cs typeface="JetBrains Mono" pitchFamily="49" charset="-120"/>
              </a:rPr>
              <a:t>meta_action: STOP · confidence: 0.92</a:t>
            </a:r>
            <a:endParaRPr lang="en-US" sz="1200" dirty="0"/>
          </a:p>
        </p:txBody>
      </p:sp>
      <p:sp>
        <p:nvSpPr>
          <p:cNvPr id="11" name="Text 9"/>
          <p:cNvSpPr/>
          <p:nvPr/>
        </p:nvSpPr>
        <p:spPr>
          <a:xfrm>
            <a:off x="6457950" y="4000500"/>
            <a:ext cx="4800727"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Begründung im Stil von NVIDIA Alpamayo. Sie klingt plausibel und kann trotzdem falsch sein: </a:t>
            </a:r>
            <a:r>
              <a:rPr lang="en-US" sz="1200" dirty="0">
                <a:solidFill>
                  <a:srgbClr val="F2994A"/>
                </a:solidFill>
                <a:latin typeface="IBM Plex Sans" pitchFamily="34" charset="0"/>
                <a:ea typeface="IBM Plex Sans" pitchFamily="34" charset="-122"/>
                <a:cs typeface="IBM Plex Sans" pitchFamily="34" charset="-120"/>
              </a:rPr>
              <a:t>gegen die Messungen prüfen.</a:t>
            </a:r>
            <a:endParaRPr lang="en-US" sz="1200" dirty="0"/>
          </a:p>
        </p:txBody>
      </p:sp>
      <p:sp>
        <p:nvSpPr>
          <p:cNvPr id="12" name="Text 10"/>
          <p:cNvSpPr/>
          <p:nvPr/>
        </p:nvSpPr>
        <p:spPr>
          <a:xfrm>
            <a:off x="812800" y="53467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4CC"/>
                </a:solidFill>
                <a:latin typeface="IBM Plex Sans" pitchFamily="34" charset="0"/>
                <a:ea typeface="IBM Plex Sans" pitchFamily="34" charset="-122"/>
                <a:cs typeface="IBM Plex Sans" pitchFamily="34" charset="-120"/>
              </a:rPr>
              <a:t>In L1 bis L3 liefern die Werkzeuge fertige Urteile wie „Gegenverkehr: ja“. </a:t>
            </a:r>
            <a:r>
              <a:rPr lang="en-US" sz="1600" dirty="0">
                <a:solidFill>
                  <a:srgbClr val="F4F5F1"/>
                </a:solidFill>
                <a:latin typeface="IBM Plex Sans" pitchFamily="34" charset="0"/>
                <a:ea typeface="IBM Plex Sans" pitchFamily="34" charset="-122"/>
                <a:cs typeface="IBM Plex Sans" pitchFamily="34" charset="-120"/>
              </a:rPr>
              <a:t>Ab L4 rechnet euer Agent selbst.</a:t>
            </a:r>
            <a:endParaRPr lang="en-US" sz="1600" dirty="0"/>
          </a:p>
        </p:txBody>
      </p:sp>
      <p:sp>
        <p:nvSpPr>
          <p:cNvPr id="13" name="Text 11"/>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Autonomy Recovery Lab · Einstieg · Beispielwerte, gekürzt</a:t>
            </a:r>
            <a:endParaRPr lang="en-US" sz="1200" dirty="0"/>
          </a:p>
        </p:txBody>
      </p:sp>
      <p:sp>
        <p:nvSpPr>
          <p:cNvPr id="14" name="Text 12"/>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HANDLUNGSRAUM</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24 Befehle, aber kein Lenkrad</a:t>
            </a:r>
            <a:endParaRPr lang="en-US" sz="3600" dirty="0"/>
          </a:p>
        </p:txBody>
      </p:sp>
      <p:sp>
        <p:nvSpPr>
          <p:cNvPr id="4" name="Shape 2"/>
          <p:cNvSpPr/>
          <p:nvPr/>
        </p:nvSpPr>
        <p:spPr>
          <a:xfrm>
            <a:off x="815975" y="1933575"/>
            <a:ext cx="3414117" cy="1663700"/>
          </a:xfrm>
          <a:prstGeom prst="roundRect">
            <a:avLst>
              <a:gd name="adj" fmla="val 5916"/>
            </a:avLst>
          </a:prstGeom>
          <a:solidFill>
            <a:srgbClr val="FBFBF8"/>
          </a:solidFill>
          <a:ln w="6350">
            <a:solidFill>
              <a:srgbClr val="D5DAD3"/>
            </a:solidFill>
            <a:prstDash val="solid"/>
          </a:ln>
        </p:spPr>
      </p:sp>
      <p:sp>
        <p:nvSpPr>
          <p:cNvPr id="5" name="Text 3"/>
          <p:cNvSpPr/>
          <p:nvPr/>
        </p:nvSpPr>
        <p:spPr>
          <a:xfrm>
            <a:off x="1022350" y="2114550"/>
            <a:ext cx="30914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Abwarten</a:t>
            </a:r>
            <a:endParaRPr lang="en-US" sz="1600" dirty="0"/>
          </a:p>
        </p:txBody>
      </p:sp>
      <p:sp>
        <p:nvSpPr>
          <p:cNvPr id="6" name="Text 4"/>
          <p:cNvSpPr/>
          <p:nvPr/>
        </p:nvSpPr>
        <p:spPr>
          <a:xfrm>
            <a:off x="1022350" y="2432050"/>
            <a:ext cx="3091408" cy="6159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WAIT</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WAIT_FOR_GAP</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REQUEST_ADDITIONAL_INFORMATION</a:t>
            </a:r>
            <a:endParaRPr lang="en-US" sz="1200" dirty="0"/>
          </a:p>
        </p:txBody>
      </p:sp>
      <p:sp>
        <p:nvSpPr>
          <p:cNvPr id="7" name="Shape 5"/>
          <p:cNvSpPr/>
          <p:nvPr/>
        </p:nvSpPr>
        <p:spPr>
          <a:xfrm>
            <a:off x="4388842" y="1933575"/>
            <a:ext cx="3414216" cy="1663700"/>
          </a:xfrm>
          <a:prstGeom prst="roundRect">
            <a:avLst>
              <a:gd name="adj" fmla="val 5916"/>
            </a:avLst>
          </a:prstGeom>
          <a:solidFill>
            <a:srgbClr val="FBFBF8"/>
          </a:solidFill>
          <a:ln w="6350">
            <a:solidFill>
              <a:srgbClr val="D5DAD3"/>
            </a:solidFill>
            <a:prstDash val="solid"/>
          </a:ln>
        </p:spPr>
      </p:sp>
      <p:sp>
        <p:nvSpPr>
          <p:cNvPr id="8" name="Text 6"/>
          <p:cNvSpPr/>
          <p:nvPr/>
        </p:nvSpPr>
        <p:spPr>
          <a:xfrm>
            <a:off x="4595217" y="2114550"/>
            <a:ext cx="309151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Kleine Manöver</a:t>
            </a:r>
            <a:endParaRPr lang="en-US" sz="1600" dirty="0"/>
          </a:p>
        </p:txBody>
      </p:sp>
      <p:sp>
        <p:nvSpPr>
          <p:cNvPr id="9" name="Text 7"/>
          <p:cNvSpPr/>
          <p:nvPr/>
        </p:nvSpPr>
        <p:spPr>
          <a:xfrm>
            <a:off x="4595217" y="2432050"/>
            <a:ext cx="3091510" cy="10096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NUDGE_AROUND_OBSTACLE</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AVOID_TEMPORARY_OBSTRUCTION</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CHANGE_LANE · CREEP_FORWARD</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CROSS_LOW_RISK_OBJECT</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REVERSE_SHORT</a:t>
            </a:r>
            <a:endParaRPr lang="en-US" sz="1200" dirty="0"/>
          </a:p>
        </p:txBody>
      </p:sp>
      <p:sp>
        <p:nvSpPr>
          <p:cNvPr id="10" name="Shape 8"/>
          <p:cNvSpPr/>
          <p:nvPr/>
        </p:nvSpPr>
        <p:spPr>
          <a:xfrm>
            <a:off x="7961809" y="1933575"/>
            <a:ext cx="3414117" cy="1663700"/>
          </a:xfrm>
          <a:prstGeom prst="roundRect">
            <a:avLst>
              <a:gd name="adj" fmla="val 5916"/>
            </a:avLst>
          </a:prstGeom>
          <a:solidFill>
            <a:srgbClr val="FBFBF8"/>
          </a:solidFill>
          <a:ln w="6350">
            <a:solidFill>
              <a:srgbClr val="D5DAD3"/>
            </a:solidFill>
            <a:prstDash val="solid"/>
          </a:ln>
        </p:spPr>
      </p:sp>
      <p:sp>
        <p:nvSpPr>
          <p:cNvPr id="11" name="Text 9"/>
          <p:cNvSpPr/>
          <p:nvPr/>
        </p:nvSpPr>
        <p:spPr>
          <a:xfrm>
            <a:off x="8168184" y="2114550"/>
            <a:ext cx="30914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Phasenmanöver</a:t>
            </a:r>
            <a:endParaRPr lang="en-US" sz="1600" dirty="0"/>
          </a:p>
        </p:txBody>
      </p:sp>
      <p:sp>
        <p:nvSpPr>
          <p:cNvPr id="12" name="Text 10"/>
          <p:cNvSpPr/>
          <p:nvPr/>
        </p:nvSpPr>
        <p:spPr>
          <a:xfrm>
            <a:off x="8168184" y="2432050"/>
            <a:ext cx="3091408" cy="41910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PEEK_OUT · OVERTAKE</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RESUME · ABORT_TO_LANE</a:t>
            </a:r>
            <a:endParaRPr lang="en-US" sz="1200" dirty="0"/>
          </a:p>
        </p:txBody>
      </p:sp>
      <p:sp>
        <p:nvSpPr>
          <p:cNvPr id="13" name="Text 11"/>
          <p:cNvSpPr/>
          <p:nvPr/>
        </p:nvSpPr>
        <p:spPr>
          <a:xfrm>
            <a:off x="8168184" y="2901950"/>
            <a:ext cx="309140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halten an Checkpoints, die Uhr läuft weiter</a:t>
            </a:r>
            <a:endParaRPr lang="en-US" sz="1200" dirty="0"/>
          </a:p>
        </p:txBody>
      </p:sp>
      <p:sp>
        <p:nvSpPr>
          <p:cNvPr id="14" name="Shape 12"/>
          <p:cNvSpPr/>
          <p:nvPr/>
        </p:nvSpPr>
        <p:spPr>
          <a:xfrm>
            <a:off x="815975" y="3756025"/>
            <a:ext cx="3414117" cy="1568450"/>
          </a:xfrm>
          <a:prstGeom prst="roundRect">
            <a:avLst>
              <a:gd name="adj" fmla="val 6275"/>
            </a:avLst>
          </a:prstGeom>
          <a:solidFill>
            <a:srgbClr val="FBFBF8"/>
          </a:solidFill>
          <a:ln w="6350">
            <a:solidFill>
              <a:srgbClr val="D5DAD3"/>
            </a:solidFill>
            <a:prstDash val="solid"/>
          </a:ln>
        </p:spPr>
      </p:sp>
      <p:sp>
        <p:nvSpPr>
          <p:cNvPr id="15" name="Text 13"/>
          <p:cNvSpPr/>
          <p:nvPr/>
        </p:nvSpPr>
        <p:spPr>
          <a:xfrm>
            <a:off x="1022350" y="3937000"/>
            <a:ext cx="30914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Route und Mission</a:t>
            </a:r>
            <a:endParaRPr lang="en-US" sz="1600" dirty="0"/>
          </a:p>
        </p:txBody>
      </p:sp>
      <p:sp>
        <p:nvSpPr>
          <p:cNvPr id="16" name="Text 14"/>
          <p:cNvSpPr/>
          <p:nvPr/>
        </p:nvSpPr>
        <p:spPr>
          <a:xfrm>
            <a:off x="1022350" y="4254500"/>
            <a:ext cx="3091408" cy="6159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REPLAN_ROUTE · TURN_AROUND</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PULL_OVER · DROP_PASSENGER</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RETURN_HOME</a:t>
            </a:r>
            <a:endParaRPr lang="en-US" sz="1200" dirty="0"/>
          </a:p>
        </p:txBody>
      </p:sp>
      <p:sp>
        <p:nvSpPr>
          <p:cNvPr id="17" name="Shape 15"/>
          <p:cNvSpPr/>
          <p:nvPr/>
        </p:nvSpPr>
        <p:spPr>
          <a:xfrm>
            <a:off x="4388842" y="3756025"/>
            <a:ext cx="3414216" cy="1568450"/>
          </a:xfrm>
          <a:prstGeom prst="roundRect">
            <a:avLst>
              <a:gd name="adj" fmla="val 6275"/>
            </a:avLst>
          </a:prstGeom>
          <a:solidFill>
            <a:srgbClr val="FBFBF8"/>
          </a:solidFill>
          <a:ln w="6350">
            <a:solidFill>
              <a:srgbClr val="D5DAD3"/>
            </a:solidFill>
            <a:prstDash val="solid"/>
          </a:ln>
        </p:spPr>
      </p:sp>
      <p:sp>
        <p:nvSpPr>
          <p:cNvPr id="18" name="Text 16"/>
          <p:cNvSpPr/>
          <p:nvPr/>
        </p:nvSpPr>
        <p:spPr>
          <a:xfrm>
            <a:off x="4595217" y="3937000"/>
            <a:ext cx="309151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Eskalieren und anhalten</a:t>
            </a:r>
            <a:endParaRPr lang="en-US" sz="1600" dirty="0"/>
          </a:p>
        </p:txBody>
      </p:sp>
      <p:sp>
        <p:nvSpPr>
          <p:cNvPr id="19" name="Text 17"/>
          <p:cNvSpPr/>
          <p:nvPr/>
        </p:nvSpPr>
        <p:spPr>
          <a:xfrm>
            <a:off x="4595217" y="4254500"/>
            <a:ext cx="3091510" cy="6159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REQUEST_REMOTE_ASSISTANCE</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ESCALATE_TO_RULE_ENGINE</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SAFE_STOP · ABORT_MISSION</a:t>
            </a:r>
            <a:endParaRPr lang="en-US" sz="1200" dirty="0"/>
          </a:p>
        </p:txBody>
      </p:sp>
      <p:sp>
        <p:nvSpPr>
          <p:cNvPr id="20" name="Shape 18"/>
          <p:cNvSpPr/>
          <p:nvPr/>
        </p:nvSpPr>
        <p:spPr>
          <a:xfrm>
            <a:off x="7961809" y="3756025"/>
            <a:ext cx="3414117" cy="1568450"/>
          </a:xfrm>
          <a:prstGeom prst="roundRect">
            <a:avLst>
              <a:gd name="adj" fmla="val 6275"/>
            </a:avLst>
          </a:prstGeom>
          <a:solidFill>
            <a:srgbClr val="FBFBF8"/>
          </a:solidFill>
          <a:ln w="6350">
            <a:solidFill>
              <a:srgbClr val="D5DAD3"/>
            </a:solidFill>
            <a:prstDash val="solid"/>
          </a:ln>
        </p:spPr>
      </p:sp>
      <p:sp>
        <p:nvSpPr>
          <p:cNvPr id="21" name="Text 19"/>
          <p:cNvSpPr/>
          <p:nvPr/>
        </p:nvSpPr>
        <p:spPr>
          <a:xfrm>
            <a:off x="8168184" y="3937000"/>
            <a:ext cx="30914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41A"/>
                </a:solidFill>
                <a:latin typeface="IBM Plex Sans" pitchFamily="34" charset="0"/>
                <a:ea typeface="IBM Plex Sans" pitchFamily="34" charset="-122"/>
                <a:cs typeface="IBM Plex Sans" pitchFamily="34" charset="-120"/>
              </a:rPr>
              <a:t>Nach einem Unfall</a:t>
            </a:r>
            <a:endParaRPr lang="en-US" sz="1600" dirty="0"/>
          </a:p>
        </p:txBody>
      </p:sp>
      <p:sp>
        <p:nvSpPr>
          <p:cNvPr id="22" name="Text 20"/>
          <p:cNvSpPr/>
          <p:nvPr/>
        </p:nvSpPr>
        <p:spPr>
          <a:xfrm>
            <a:off x="8168184" y="4254500"/>
            <a:ext cx="3091408" cy="41910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SECURE_SCENE</a:t>
            </a:r>
            <a:endParaRPr lang="en-US" sz="1200" dirty="0"/>
          </a:p>
          <a:p>
            <a:pPr algn="l" indent="0" marL="0">
              <a:lnSpc>
                <a:spcPts val="1560"/>
              </a:lnSpc>
              <a:buNone/>
            </a:pPr>
            <a:r>
              <a:rPr lang="en-US" sz="1200" dirty="0">
                <a:solidFill>
                  <a:srgbClr val="46525C"/>
                </a:solidFill>
                <a:latin typeface="JetBrains Mono" pitchFamily="49" charset="0"/>
                <a:ea typeface="JetBrains Mono" pitchFamily="49" charset="-122"/>
                <a:cs typeface="JetBrains Mono" pitchFamily="49" charset="-120"/>
              </a:rPr>
              <a:t>REPORT_INCIDENT</a:t>
            </a:r>
            <a:endParaRPr lang="en-US" sz="1200" dirty="0"/>
          </a:p>
        </p:txBody>
      </p:sp>
      <p:sp>
        <p:nvSpPr>
          <p:cNvPr id="23" name="Text 21"/>
          <p:cNvSpPr/>
          <p:nvPr/>
        </p:nvSpPr>
        <p:spPr>
          <a:xfrm>
            <a:off x="8168184" y="4724400"/>
            <a:ext cx="309140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Weiterfahren ohne Meldung zählt wie ein Personenschaden</a:t>
            </a:r>
            <a:endParaRPr lang="en-US" sz="1200" dirty="0"/>
          </a:p>
        </p:txBody>
      </p:sp>
      <p:sp>
        <p:nvSpPr>
          <p:cNvPr id="24" name="Text 22"/>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 · Details in COMMANDS.md</a:t>
            </a:r>
            <a:endParaRPr lang="en-US" sz="1200" dirty="0"/>
          </a:p>
        </p:txBody>
      </p:sp>
      <p:sp>
        <p:nvSpPr>
          <p:cNvPr id="25" name="Text 23"/>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B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994A"/>
                </a:solidFill>
                <a:latin typeface="IBM Plex Sans" pitchFamily="34" charset="0"/>
                <a:ea typeface="IBM Plex Sans" pitchFamily="34" charset="-122"/>
                <a:cs typeface="IBM Plex Sans" pitchFamily="34" charset="-120"/>
              </a:rPr>
              <a:t>SICHERHEITSVERTRAG</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1"/>
                </a:solidFill>
                <a:latin typeface="Space Grotesk" pitchFamily="34" charset="0"/>
                <a:ea typeface="Space Grotesk" pitchFamily="34" charset="-122"/>
                <a:cs typeface="Space Grotesk" pitchFamily="34" charset="-120"/>
              </a:rPr>
              <a:t>Der Simulator traut eurem Agenten nicht</a:t>
            </a:r>
            <a:endParaRPr lang="en-US" sz="3600" dirty="0"/>
          </a:p>
        </p:txBody>
      </p:sp>
      <p:pic>
        <p:nvPicPr>
          <p:cNvPr id="4" name="Image 0" descr="Lock">    </p:cNvPr>
          <p:cNvPicPr>
            <a:picLocks noChangeAspect="1"/>
          </p:cNvPicPr>
          <p:nvPr/>
        </p:nvPicPr>
        <p:blipFill>
          <a:blip r:embed="rId1"/>
          <a:srcRect l="0" r="0" t="0" b="0"/>
          <a:stretch/>
        </p:blipFill>
        <p:spPr>
          <a:xfrm>
            <a:off x="812800" y="1981200"/>
            <a:ext cx="304800" cy="304800"/>
          </a:xfrm>
          <a:prstGeom prst="rect">
            <a:avLst/>
          </a:prstGeom>
        </p:spPr>
      </p:pic>
      <p:sp>
        <p:nvSpPr>
          <p:cNvPr id="5" name="Text 2"/>
          <p:cNvSpPr/>
          <p:nvPr/>
        </p:nvSpPr>
        <p:spPr>
          <a:xfrm>
            <a:off x="1270000" y="1981200"/>
            <a:ext cx="48138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1"/>
                </a:solidFill>
                <a:latin typeface="IBM Plex Sans" pitchFamily="34" charset="0"/>
                <a:ea typeface="IBM Plex Sans" pitchFamily="34" charset="-122"/>
                <a:cs typeface="IBM Plex Sans" pitchFamily="34" charset="-120"/>
              </a:rPr>
              <a:t>Harte Regeln</a:t>
            </a:r>
            <a:endParaRPr lang="en-US" sz="1600" dirty="0"/>
          </a:p>
        </p:txBody>
      </p:sp>
      <p:sp>
        <p:nvSpPr>
          <p:cNvPr id="6" name="Text 3"/>
          <p:cNvSpPr/>
          <p:nvPr/>
        </p:nvSpPr>
        <p:spPr>
          <a:xfrm>
            <a:off x="1270000" y="2273300"/>
            <a:ext cx="481380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Durchgezogene Linie, Absperrung, Wegfahren nach einem Unfall: nie übersteuerbar</a:t>
            </a:r>
            <a:endParaRPr lang="en-US" sz="1200" dirty="0"/>
          </a:p>
        </p:txBody>
      </p:sp>
      <p:pic>
        <p:nvPicPr>
          <p:cNvPr id="7" name="Image 1" descr="Clock">    </p:cNvPr>
          <p:cNvPicPr>
            <a:picLocks noChangeAspect="1"/>
          </p:cNvPicPr>
          <p:nvPr/>
        </p:nvPicPr>
        <p:blipFill>
          <a:blip r:embed="rId2"/>
          <a:srcRect l="0" r="0" t="0" b="0"/>
          <a:stretch/>
        </p:blipFill>
        <p:spPr>
          <a:xfrm>
            <a:off x="812800" y="2895600"/>
            <a:ext cx="304800" cy="304800"/>
          </a:xfrm>
          <a:prstGeom prst="rect">
            <a:avLst/>
          </a:prstGeom>
        </p:spPr>
      </p:pic>
      <p:sp>
        <p:nvSpPr>
          <p:cNvPr id="8" name="Text 4"/>
          <p:cNvSpPr/>
          <p:nvPr/>
        </p:nvSpPr>
        <p:spPr>
          <a:xfrm>
            <a:off x="1270000" y="2895600"/>
            <a:ext cx="48138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1"/>
                </a:solidFill>
                <a:latin typeface="IBM Plex Sans" pitchFamily="34" charset="0"/>
                <a:ea typeface="IBM Plex Sans" pitchFamily="34" charset="-122"/>
                <a:cs typeface="IBM Plex Sans" pitchFamily="34" charset="-120"/>
              </a:rPr>
              <a:t>Budgets</a:t>
            </a:r>
            <a:endParaRPr lang="en-US" sz="1600" dirty="0"/>
          </a:p>
        </p:txBody>
      </p:sp>
      <p:sp>
        <p:nvSpPr>
          <p:cNvPr id="9" name="Text 5"/>
          <p:cNvSpPr/>
          <p:nvPr/>
        </p:nvSpPr>
        <p:spPr>
          <a:xfrm>
            <a:off x="1270000" y="3187700"/>
            <a:ext cx="481380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14 Werkzeugaufrufe und 3 Entscheidungsversuche je Sitzung, begrenzte Befehle je Episode</a:t>
            </a:r>
            <a:endParaRPr lang="en-US" sz="1200" dirty="0"/>
          </a:p>
        </p:txBody>
      </p:sp>
      <p:pic>
        <p:nvPicPr>
          <p:cNvPr id="10" name="Image 2" descr="Verified">    </p:cNvPr>
          <p:cNvPicPr>
            <a:picLocks noChangeAspect="1"/>
          </p:cNvPicPr>
          <p:nvPr/>
        </p:nvPicPr>
        <p:blipFill>
          <a:blip r:embed="rId3"/>
          <a:srcRect l="0" r="0" t="0" b="0"/>
          <a:stretch/>
        </p:blipFill>
        <p:spPr>
          <a:xfrm>
            <a:off x="812800" y="3810000"/>
            <a:ext cx="304800" cy="304800"/>
          </a:xfrm>
          <a:prstGeom prst="rect">
            <a:avLst/>
          </a:prstGeom>
        </p:spPr>
      </p:pic>
      <p:sp>
        <p:nvSpPr>
          <p:cNvPr id="11" name="Text 6"/>
          <p:cNvSpPr/>
          <p:nvPr/>
        </p:nvSpPr>
        <p:spPr>
          <a:xfrm>
            <a:off x="1270000" y="3810000"/>
            <a:ext cx="481380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1"/>
                </a:solidFill>
                <a:latin typeface="IBM Plex Sans" pitchFamily="34" charset="0"/>
                <a:ea typeface="IBM Plex Sans" pitchFamily="34" charset="-122"/>
                <a:cs typeface="IBM Plex Sans" pitchFamily="34" charset="-120"/>
              </a:rPr>
              <a:t>Fail-safe</a:t>
            </a:r>
            <a:endParaRPr lang="en-US" sz="1600" dirty="0"/>
          </a:p>
        </p:txBody>
      </p:sp>
      <p:sp>
        <p:nvSpPr>
          <p:cNvPr id="12" name="Text 7"/>
          <p:cNvSpPr/>
          <p:nvPr/>
        </p:nvSpPr>
        <p:spPr>
          <a:xfrm>
            <a:off x="1270000" y="4102100"/>
            <a:ext cx="49784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Bei Fehler, Zeitüberschreitung oder ungültiger Ausgabe immer WAIT</a:t>
            </a:r>
            <a:endParaRPr lang="en-US" sz="1200" dirty="0"/>
          </a:p>
        </p:txBody>
      </p:sp>
      <p:sp>
        <p:nvSpPr>
          <p:cNvPr id="13" name="Text 8"/>
          <p:cNvSpPr/>
          <p:nvPr/>
        </p:nvSpPr>
        <p:spPr>
          <a:xfrm>
            <a:off x="6248400" y="1981200"/>
            <a:ext cx="5284724"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1"/>
                </a:solidFill>
                <a:latin typeface="IBM Plex Sans" pitchFamily="34" charset="0"/>
                <a:ea typeface="IBM Plex Sans" pitchFamily="34" charset="-122"/>
                <a:cs typeface="IBM Plex Sans" pitchFamily="34" charset="-120"/>
              </a:rPr>
              <a:t>Prüfmodi: wie viel Schutz bleibt</a:t>
            </a:r>
            <a:endParaRPr lang="en-US" sz="1600" dirty="0"/>
          </a:p>
        </p:txBody>
      </p:sp>
      <p:sp>
        <p:nvSpPr>
          <p:cNvPr id="14" name="Shape 9"/>
          <p:cNvSpPr/>
          <p:nvPr/>
        </p:nvSpPr>
        <p:spPr>
          <a:xfrm>
            <a:off x="6251575" y="2327275"/>
            <a:ext cx="5124450" cy="520700"/>
          </a:xfrm>
          <a:prstGeom prst="roundRect">
            <a:avLst>
              <a:gd name="adj" fmla="val 18902"/>
            </a:avLst>
          </a:prstGeom>
          <a:solidFill>
            <a:srgbClr val="1C2833"/>
          </a:solidFill>
          <a:ln w="6350">
            <a:solidFill>
              <a:srgbClr val="2C3A47"/>
            </a:solidFill>
            <a:prstDash val="solid"/>
          </a:ln>
        </p:spPr>
      </p:sp>
      <p:sp>
        <p:nvSpPr>
          <p:cNvPr id="15" name="Text 10"/>
          <p:cNvSpPr/>
          <p:nvPr/>
        </p:nvSpPr>
        <p:spPr>
          <a:xfrm>
            <a:off x="6457950" y="2482850"/>
            <a:ext cx="1130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B2E5"/>
                </a:solidFill>
                <a:latin typeface="JetBrains Mono" pitchFamily="49" charset="0"/>
                <a:ea typeface="JetBrains Mono" pitchFamily="49" charset="-122"/>
                <a:cs typeface="JetBrains Mono" pitchFamily="49" charset="-120"/>
              </a:rPr>
              <a:t>strict</a:t>
            </a:r>
            <a:endParaRPr lang="en-US" sz="1200" dirty="0"/>
          </a:p>
        </p:txBody>
      </p:sp>
      <p:sp>
        <p:nvSpPr>
          <p:cNvPr id="16" name="Text 11"/>
          <p:cNvSpPr/>
          <p:nvPr/>
        </p:nvSpPr>
        <p:spPr>
          <a:xfrm>
            <a:off x="7689850" y="2482850"/>
            <a:ext cx="358419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lehnt Manöver ohne Belege ab</a:t>
            </a:r>
            <a:endParaRPr lang="en-US" sz="1200" dirty="0"/>
          </a:p>
        </p:txBody>
      </p:sp>
      <p:sp>
        <p:nvSpPr>
          <p:cNvPr id="17" name="Shape 12"/>
          <p:cNvSpPr/>
          <p:nvPr/>
        </p:nvSpPr>
        <p:spPr>
          <a:xfrm>
            <a:off x="6251575" y="2955925"/>
            <a:ext cx="5124450" cy="520700"/>
          </a:xfrm>
          <a:prstGeom prst="roundRect">
            <a:avLst>
              <a:gd name="adj" fmla="val 18902"/>
            </a:avLst>
          </a:prstGeom>
          <a:solidFill>
            <a:srgbClr val="1C2833"/>
          </a:solidFill>
          <a:ln w="6350">
            <a:solidFill>
              <a:srgbClr val="2C3A47"/>
            </a:solidFill>
            <a:prstDash val="solid"/>
          </a:ln>
        </p:spPr>
      </p:sp>
      <p:sp>
        <p:nvSpPr>
          <p:cNvPr id="18" name="Text 13"/>
          <p:cNvSpPr/>
          <p:nvPr/>
        </p:nvSpPr>
        <p:spPr>
          <a:xfrm>
            <a:off x="6457950" y="3111500"/>
            <a:ext cx="1130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C14E"/>
                </a:solidFill>
                <a:latin typeface="JetBrains Mono" pitchFamily="49" charset="0"/>
                <a:ea typeface="JetBrains Mono" pitchFamily="49" charset="-122"/>
                <a:cs typeface="JetBrains Mono" pitchFamily="49" charset="-120"/>
              </a:rPr>
              <a:t>advisory</a:t>
            </a:r>
            <a:endParaRPr lang="en-US" sz="1200" dirty="0"/>
          </a:p>
        </p:txBody>
      </p:sp>
      <p:sp>
        <p:nvSpPr>
          <p:cNvPr id="19" name="Text 14"/>
          <p:cNvSpPr/>
          <p:nvPr/>
        </p:nvSpPr>
        <p:spPr>
          <a:xfrm>
            <a:off x="7689850" y="3111500"/>
            <a:ext cx="358419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warnt nur, der Agent entscheidet</a:t>
            </a:r>
            <a:endParaRPr lang="en-US" sz="1200" dirty="0"/>
          </a:p>
        </p:txBody>
      </p:sp>
      <p:sp>
        <p:nvSpPr>
          <p:cNvPr id="20" name="Shape 15"/>
          <p:cNvSpPr/>
          <p:nvPr/>
        </p:nvSpPr>
        <p:spPr>
          <a:xfrm>
            <a:off x="6251575" y="3584575"/>
            <a:ext cx="5124450" cy="730250"/>
          </a:xfrm>
          <a:prstGeom prst="roundRect">
            <a:avLst>
              <a:gd name="adj" fmla="val 13478"/>
            </a:avLst>
          </a:prstGeom>
          <a:solidFill>
            <a:srgbClr val="1C2833"/>
          </a:solidFill>
          <a:ln w="6350">
            <a:solidFill>
              <a:srgbClr val="2C3A47"/>
            </a:solidFill>
            <a:prstDash val="solid"/>
          </a:ln>
        </p:spPr>
      </p:sp>
      <p:sp>
        <p:nvSpPr>
          <p:cNvPr id="21" name="Text 16"/>
          <p:cNvSpPr/>
          <p:nvPr/>
        </p:nvSpPr>
        <p:spPr>
          <a:xfrm>
            <a:off x="6457950" y="3844925"/>
            <a:ext cx="1130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94A"/>
                </a:solidFill>
                <a:latin typeface="JetBrains Mono" pitchFamily="49" charset="0"/>
                <a:ea typeface="JetBrains Mono" pitchFamily="49" charset="-122"/>
                <a:cs typeface="JetBrains Mono" pitchFamily="49" charset="-120"/>
              </a:rPr>
              <a:t>off</a:t>
            </a:r>
            <a:endParaRPr lang="en-US" sz="1200" dirty="0"/>
          </a:p>
        </p:txBody>
      </p:sp>
      <p:sp>
        <p:nvSpPr>
          <p:cNvPr id="22" name="Text 17"/>
          <p:cNvSpPr/>
          <p:nvPr/>
        </p:nvSpPr>
        <p:spPr>
          <a:xfrm>
            <a:off x="7689850" y="3740150"/>
            <a:ext cx="358419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nur noch harte Regeln: Wer blind losfährt, verursacht einen Unfall</a:t>
            </a:r>
            <a:endParaRPr lang="en-US" sz="1200" dirty="0"/>
          </a:p>
        </p:txBody>
      </p:sp>
      <p:sp>
        <p:nvSpPr>
          <p:cNvPr id="23" name="Text 18"/>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24" name="Text 19"/>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782A"/>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21B24"/>
                </a:solidFill>
                <a:latin typeface="IBM Plex Sans" pitchFamily="34" charset="0"/>
                <a:ea typeface="IBM Plex Sans" pitchFamily="34" charset="-122"/>
                <a:cs typeface="IBM Plex Sans" pitchFamily="34" charset="-120"/>
              </a:rPr>
              <a:t>LAGEN ÄNDERN SICH</a:t>
            </a:r>
            <a:endParaRPr lang="en-US" sz="1200" dirty="0"/>
          </a:p>
        </p:txBody>
      </p:sp>
      <p:sp>
        <p:nvSpPr>
          <p:cNvPr id="3" name="Text 1"/>
          <p:cNvSpPr/>
          <p:nvPr>
            <p:ph type="title"/>
          </p:nvPr>
        </p:nvSpPr>
        <p:spPr>
          <a:xfrm>
            <a:off x="812800" y="11239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Manche Ursachen zeigen sich erst beim Ausscheren</a:t>
            </a:r>
            <a:endParaRPr lang="en-US" sz="3600" dirty="0"/>
          </a:p>
        </p:txBody>
      </p:sp>
      <p:pic>
        <p:nvPicPr>
          <p:cNvPr id="4" name="Image 0" descr="Drei Phasen von oben: Das Ego-Fahrzeug steht hinter einem Lieferwagen, die Unfallstelle davor ist verdeckt. Dann schert es aus, sein Sichtkegel erfasst die Unfallstelle. Zuletzt fährt es zurück in die Spur und wendet.">    </p:cNvPr>
          <p:cNvPicPr>
            <a:picLocks noChangeAspect="1"/>
          </p:cNvPicPr>
          <p:nvPr/>
        </p:nvPicPr>
        <p:blipFill>
          <a:blip r:embed="rId1"/>
          <a:srcRect l="0" r="0" t="-31" b="-31"/>
          <a:stretch/>
        </p:blipFill>
        <p:spPr>
          <a:xfrm>
            <a:off x="812800" y="2381250"/>
            <a:ext cx="10566400" cy="1905000"/>
          </a:xfrm>
          <a:prstGeom prst="rect">
            <a:avLst/>
          </a:prstGeom>
        </p:spPr>
      </p:pic>
      <p:sp>
        <p:nvSpPr>
          <p:cNvPr id="5" name="Text 2"/>
          <p:cNvSpPr/>
          <p:nvPr/>
        </p:nvSpPr>
        <p:spPr>
          <a:xfrm>
            <a:off x="812800" y="4540250"/>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1B24"/>
                </a:solidFill>
                <a:latin typeface="IBM Plex Sans" pitchFamily="34" charset="0"/>
                <a:ea typeface="IBM Plex Sans" pitchFamily="34" charset="-122"/>
                <a:cs typeface="IBM Plex Sans" pitchFamily="34" charset="-120"/>
              </a:rPr>
              <a:t>1 · Lieferwagen steht ohne Grund</a:t>
            </a:r>
            <a:endParaRPr lang="en-US" sz="1600" dirty="0"/>
          </a:p>
        </p:txBody>
      </p:sp>
      <p:sp>
        <p:nvSpPr>
          <p:cNvPr id="6" name="Text 3"/>
          <p:cNvSpPr/>
          <p:nvPr/>
        </p:nvSpPr>
        <p:spPr>
          <a:xfrm>
            <a:off x="812800" y="4845050"/>
            <a:ext cx="340106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B24"/>
                </a:solidFill>
                <a:latin typeface="IBM Plex Sans" pitchFamily="34" charset="0"/>
                <a:ea typeface="IBM Plex Sans" pitchFamily="34" charset="-122"/>
                <a:cs typeface="IBM Plex Sans" pitchFamily="34" charset="-120"/>
              </a:rPr>
              <a:t>Von hier aus ist nicht zu erkennen, was davor liegt.</a:t>
            </a:r>
            <a:endParaRPr lang="en-US" sz="1200" dirty="0"/>
          </a:p>
        </p:txBody>
      </p:sp>
      <p:sp>
        <p:nvSpPr>
          <p:cNvPr id="7" name="Text 4"/>
          <p:cNvSpPr/>
          <p:nvPr/>
        </p:nvSpPr>
        <p:spPr>
          <a:xfrm>
            <a:off x="4445000" y="4540250"/>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1B24"/>
                </a:solidFill>
                <a:latin typeface="IBM Plex Sans" pitchFamily="34" charset="0"/>
                <a:ea typeface="IBM Plex Sans" pitchFamily="34" charset="-122"/>
                <a:cs typeface="IBM Plex Sans" pitchFamily="34" charset="-120"/>
              </a:rPr>
              <a:t>2 · Ausscheren, Checkpoint</a:t>
            </a:r>
            <a:endParaRPr lang="en-US" sz="1600" dirty="0"/>
          </a:p>
        </p:txBody>
      </p:sp>
      <p:sp>
        <p:nvSpPr>
          <p:cNvPr id="8" name="Text 5"/>
          <p:cNvSpPr/>
          <p:nvPr/>
        </p:nvSpPr>
        <p:spPr>
          <a:xfrm>
            <a:off x="4445000" y="4845050"/>
            <a:ext cx="340106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B24"/>
                </a:solidFill>
                <a:latin typeface="IBM Plex Sans" pitchFamily="34" charset="0"/>
                <a:ea typeface="IBM Plex Sans" pitchFamily="34" charset="-122"/>
                <a:cs typeface="IBM Plex Sans" pitchFamily="34" charset="-120"/>
              </a:rPr>
              <a:t>OVERTAKE hält ausgeschert an. Jetzt ist die Unfallstelle sichtbar.</a:t>
            </a:r>
            <a:endParaRPr lang="en-US" sz="1200" dirty="0"/>
          </a:p>
        </p:txBody>
      </p:sp>
      <p:sp>
        <p:nvSpPr>
          <p:cNvPr id="9" name="Text 6"/>
          <p:cNvSpPr/>
          <p:nvPr/>
        </p:nvSpPr>
        <p:spPr>
          <a:xfrm>
            <a:off x="8077200" y="4540250"/>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1B24"/>
                </a:solidFill>
                <a:latin typeface="IBM Plex Sans" pitchFamily="34" charset="0"/>
                <a:ea typeface="IBM Plex Sans" pitchFamily="34" charset="-122"/>
                <a:cs typeface="IBM Plex Sans" pitchFamily="34" charset="-120"/>
              </a:rPr>
              <a:t>3 · Neu entscheiden</a:t>
            </a:r>
            <a:endParaRPr lang="en-US" sz="1600" dirty="0"/>
          </a:p>
        </p:txBody>
      </p:sp>
      <p:sp>
        <p:nvSpPr>
          <p:cNvPr id="10" name="Text 7"/>
          <p:cNvSpPr/>
          <p:nvPr/>
        </p:nvSpPr>
        <p:spPr>
          <a:xfrm>
            <a:off x="8077200" y="4845050"/>
            <a:ext cx="340106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B24"/>
                </a:solidFill>
                <a:latin typeface="IBM Plex Sans" pitchFamily="34" charset="0"/>
                <a:ea typeface="IBM Plex Sans" pitchFamily="34" charset="-122"/>
                <a:cs typeface="IBM Plex Sans" pitchFamily="34" charset="-120"/>
              </a:rPr>
              <a:t>Zurück in die Spur und wenden. Die Uhr läuft die ganze Zeit.</a:t>
            </a:r>
            <a:endParaRPr lang="en-US" sz="1200" dirty="0"/>
          </a:p>
        </p:txBody>
      </p:sp>
      <p:sp>
        <p:nvSpPr>
          <p:cNvPr id="11" name="Text 8"/>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B24"/>
                </a:solidFill>
                <a:latin typeface="IBM Plex Sans" pitchFamily="34" charset="0"/>
                <a:ea typeface="IBM Plex Sans" pitchFamily="34" charset="-122"/>
                <a:cs typeface="IBM Plex Sans" pitchFamily="34" charset="-120"/>
              </a:rPr>
              <a:t>Autonomy Recovery Lab · Einstieg · Szenariofamilie F1</a:t>
            </a:r>
            <a:endParaRPr lang="en-US" sz="1200" dirty="0"/>
          </a:p>
        </p:txBody>
      </p:sp>
      <p:sp>
        <p:nvSpPr>
          <p:cNvPr id="12" name="Text 9"/>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B24"/>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EA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AUTONOMYRECOVERYSIM</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Ein Simulator auf Straßen in Hannover</a:t>
            </a:r>
            <a:endParaRPr lang="en-US" sz="3600" dirty="0"/>
          </a:p>
        </p:txBody>
      </p:sp>
      <p:sp>
        <p:nvSpPr>
          <p:cNvPr id="4" name="Shape 2"/>
          <p:cNvSpPr/>
          <p:nvPr/>
        </p:nvSpPr>
        <p:spPr>
          <a:xfrm>
            <a:off x="815975" y="1984375"/>
            <a:ext cx="2520950" cy="1746250"/>
          </a:xfrm>
          <a:prstGeom prst="roundRect">
            <a:avLst>
              <a:gd name="adj" fmla="val 7091"/>
            </a:avLst>
          </a:prstGeom>
          <a:solidFill>
            <a:srgbClr val="FBFBF8"/>
          </a:solidFill>
          <a:ln w="6350">
            <a:solidFill>
              <a:srgbClr val="D5DAD3"/>
            </a:solidFill>
            <a:prstDash val="solid"/>
          </a:ln>
        </p:spPr>
      </p:sp>
      <p:sp>
        <p:nvSpPr>
          <p:cNvPr id="5" name="Text 3"/>
          <p:cNvSpPr/>
          <p:nvPr/>
        </p:nvSpPr>
        <p:spPr>
          <a:xfrm>
            <a:off x="1073150" y="2241550"/>
            <a:ext cx="2066798"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A64A0"/>
                </a:solidFill>
                <a:latin typeface="Space Grotesk" pitchFamily="34" charset="0"/>
                <a:ea typeface="Space Grotesk" pitchFamily="34" charset="-122"/>
                <a:cs typeface="Space Grotesk" pitchFamily="34" charset="-120"/>
              </a:rPr>
              <a:t>61</a:t>
            </a:r>
            <a:endParaRPr lang="en-US" sz="5600" dirty="0"/>
          </a:p>
        </p:txBody>
      </p:sp>
      <p:sp>
        <p:nvSpPr>
          <p:cNvPr id="6" name="Text 4"/>
          <p:cNvSpPr/>
          <p:nvPr/>
        </p:nvSpPr>
        <p:spPr>
          <a:xfrm>
            <a:off x="1073150" y="3054350"/>
            <a:ext cx="206679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Szenarien auf echten Straßen aus OpenStreetMap</a:t>
            </a:r>
            <a:endParaRPr lang="en-US" sz="1200" dirty="0"/>
          </a:p>
        </p:txBody>
      </p:sp>
      <p:sp>
        <p:nvSpPr>
          <p:cNvPr id="7" name="Shape 5"/>
          <p:cNvSpPr/>
          <p:nvPr/>
        </p:nvSpPr>
        <p:spPr>
          <a:xfrm>
            <a:off x="3495675" y="1984375"/>
            <a:ext cx="2520950" cy="1746250"/>
          </a:xfrm>
          <a:prstGeom prst="roundRect">
            <a:avLst>
              <a:gd name="adj" fmla="val 7091"/>
            </a:avLst>
          </a:prstGeom>
          <a:solidFill>
            <a:srgbClr val="FBFBF8"/>
          </a:solidFill>
          <a:ln w="6350">
            <a:solidFill>
              <a:srgbClr val="D5DAD3"/>
            </a:solidFill>
            <a:prstDash val="solid"/>
          </a:ln>
        </p:spPr>
      </p:sp>
      <p:sp>
        <p:nvSpPr>
          <p:cNvPr id="8" name="Text 6"/>
          <p:cNvSpPr/>
          <p:nvPr/>
        </p:nvSpPr>
        <p:spPr>
          <a:xfrm>
            <a:off x="3752850" y="2241550"/>
            <a:ext cx="2066798"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A64A0"/>
                </a:solidFill>
                <a:latin typeface="Space Grotesk" pitchFamily="34" charset="0"/>
                <a:ea typeface="Space Grotesk" pitchFamily="34" charset="-122"/>
                <a:cs typeface="Space Grotesk" pitchFamily="34" charset="-120"/>
              </a:rPr>
              <a:t>6 × 3</a:t>
            </a:r>
            <a:endParaRPr lang="en-US" sz="5600" dirty="0"/>
          </a:p>
        </p:txBody>
      </p:sp>
      <p:sp>
        <p:nvSpPr>
          <p:cNvPr id="9" name="Text 7"/>
          <p:cNvSpPr/>
          <p:nvPr/>
        </p:nvSpPr>
        <p:spPr>
          <a:xfrm>
            <a:off x="3752850" y="3054350"/>
            <a:ext cx="206679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Szenariofamilien, deren Lage sich ändert</a:t>
            </a:r>
            <a:endParaRPr lang="en-US" sz="1200" dirty="0"/>
          </a:p>
        </p:txBody>
      </p:sp>
      <p:sp>
        <p:nvSpPr>
          <p:cNvPr id="10" name="Shape 8"/>
          <p:cNvSpPr/>
          <p:nvPr/>
        </p:nvSpPr>
        <p:spPr>
          <a:xfrm>
            <a:off x="6175375" y="1984375"/>
            <a:ext cx="2520950" cy="1746250"/>
          </a:xfrm>
          <a:prstGeom prst="roundRect">
            <a:avLst>
              <a:gd name="adj" fmla="val 7091"/>
            </a:avLst>
          </a:prstGeom>
          <a:solidFill>
            <a:srgbClr val="FBFBF8"/>
          </a:solidFill>
          <a:ln w="6350">
            <a:solidFill>
              <a:srgbClr val="D5DAD3"/>
            </a:solidFill>
            <a:prstDash val="solid"/>
          </a:ln>
        </p:spPr>
      </p:sp>
      <p:sp>
        <p:nvSpPr>
          <p:cNvPr id="11" name="Text 9"/>
          <p:cNvSpPr/>
          <p:nvPr/>
        </p:nvSpPr>
        <p:spPr>
          <a:xfrm>
            <a:off x="6432550" y="2241550"/>
            <a:ext cx="2066798"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A64A0"/>
                </a:solidFill>
                <a:latin typeface="Space Grotesk" pitchFamily="34" charset="0"/>
                <a:ea typeface="Space Grotesk" pitchFamily="34" charset="-122"/>
                <a:cs typeface="Space Grotesk" pitchFamily="34" charset="-120"/>
              </a:rPr>
              <a:t>24</a:t>
            </a:r>
            <a:endParaRPr lang="en-US" sz="5600" dirty="0"/>
          </a:p>
        </p:txBody>
      </p:sp>
      <p:sp>
        <p:nvSpPr>
          <p:cNvPr id="12" name="Text 10"/>
          <p:cNvSpPr/>
          <p:nvPr/>
        </p:nvSpPr>
        <p:spPr>
          <a:xfrm>
            <a:off x="6432550" y="3054350"/>
            <a:ext cx="206679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Befehle mit Regel- und Sicherheitsprüfung</a:t>
            </a:r>
            <a:endParaRPr lang="en-US" sz="1200" dirty="0"/>
          </a:p>
        </p:txBody>
      </p:sp>
      <p:sp>
        <p:nvSpPr>
          <p:cNvPr id="13" name="Shape 11"/>
          <p:cNvSpPr/>
          <p:nvPr/>
        </p:nvSpPr>
        <p:spPr>
          <a:xfrm>
            <a:off x="8855075" y="1984375"/>
            <a:ext cx="2520950" cy="1746250"/>
          </a:xfrm>
          <a:prstGeom prst="roundRect">
            <a:avLst>
              <a:gd name="adj" fmla="val 7091"/>
            </a:avLst>
          </a:prstGeom>
          <a:solidFill>
            <a:srgbClr val="FBFBF8"/>
          </a:solidFill>
          <a:ln w="6350">
            <a:solidFill>
              <a:srgbClr val="D5DAD3"/>
            </a:solidFill>
            <a:prstDash val="solid"/>
          </a:ln>
        </p:spPr>
      </p:sp>
      <p:sp>
        <p:nvSpPr>
          <p:cNvPr id="14" name="Text 12"/>
          <p:cNvSpPr/>
          <p:nvPr/>
        </p:nvSpPr>
        <p:spPr>
          <a:xfrm>
            <a:off x="9112250" y="2241550"/>
            <a:ext cx="2066798"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2A64A0"/>
                </a:solidFill>
                <a:latin typeface="Space Grotesk" pitchFamily="34" charset="0"/>
                <a:ea typeface="Space Grotesk" pitchFamily="34" charset="-122"/>
                <a:cs typeface="Space Grotesk" pitchFamily="34" charset="-120"/>
              </a:rPr>
              <a:t>0</a:t>
            </a:r>
            <a:endParaRPr lang="en-US" sz="5600" dirty="0"/>
          </a:p>
        </p:txBody>
      </p:sp>
      <p:sp>
        <p:nvSpPr>
          <p:cNvPr id="15" name="Text 13"/>
          <p:cNvSpPr/>
          <p:nvPr/>
        </p:nvSpPr>
        <p:spPr>
          <a:xfrm>
            <a:off x="9112250" y="3054350"/>
            <a:ext cx="206679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GPUs nötig: nur Python und die Standardbibliothek</a:t>
            </a:r>
            <a:endParaRPr lang="en-US" sz="1200" dirty="0"/>
          </a:p>
        </p:txBody>
      </p:sp>
      <p:pic>
        <p:nvPicPr>
          <p:cNvPr id="16" name="Image 0" descr="Globe">    </p:cNvPr>
          <p:cNvPicPr>
            <a:picLocks noChangeAspect="1"/>
          </p:cNvPicPr>
          <p:nvPr/>
        </p:nvPicPr>
        <p:blipFill>
          <a:blip r:embed="rId1"/>
          <a:srcRect l="0" r="0" t="0" b="0"/>
          <a:stretch/>
        </p:blipFill>
        <p:spPr>
          <a:xfrm>
            <a:off x="812800" y="4089400"/>
            <a:ext cx="304800" cy="304800"/>
          </a:xfrm>
          <a:prstGeom prst="rect">
            <a:avLst/>
          </a:prstGeom>
        </p:spPr>
      </p:pic>
      <p:sp>
        <p:nvSpPr>
          <p:cNvPr id="17" name="Text 14"/>
          <p:cNvSpPr/>
          <p:nvPr/>
        </p:nvSpPr>
        <p:spPr>
          <a:xfrm>
            <a:off x="1244600" y="4137025"/>
            <a:ext cx="297378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Browser mit 2D- und 3D-Ansicht</a:t>
            </a:r>
            <a:endParaRPr lang="en-US" sz="1200" dirty="0"/>
          </a:p>
        </p:txBody>
      </p:sp>
      <p:pic>
        <p:nvPicPr>
          <p:cNvPr id="18" name="Image 1" descr="Play">    </p:cNvPr>
          <p:cNvPicPr>
            <a:picLocks noChangeAspect="1"/>
          </p:cNvPicPr>
          <p:nvPr/>
        </p:nvPicPr>
        <p:blipFill>
          <a:blip r:embed="rId2"/>
          <a:srcRect l="0" r="0" t="0" b="0"/>
          <a:stretch/>
        </p:blipFill>
        <p:spPr>
          <a:xfrm>
            <a:off x="4436566" y="4089400"/>
            <a:ext cx="304800" cy="304800"/>
          </a:xfrm>
          <a:prstGeom prst="rect">
            <a:avLst/>
          </a:prstGeom>
        </p:spPr>
      </p:pic>
      <p:sp>
        <p:nvSpPr>
          <p:cNvPr id="19" name="Text 15"/>
          <p:cNvSpPr/>
          <p:nvPr/>
        </p:nvSpPr>
        <p:spPr>
          <a:xfrm>
            <a:off x="4868366" y="4137025"/>
            <a:ext cx="297378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Recovery Console: selbst Agent spielen</a:t>
            </a:r>
            <a:endParaRPr lang="en-US" sz="1200" dirty="0"/>
          </a:p>
        </p:txBody>
      </p:sp>
      <p:pic>
        <p:nvPicPr>
          <p:cNvPr id="20" name="Image 2" descr="Chart">    </p:cNvPr>
          <p:cNvPicPr>
            <a:picLocks noChangeAspect="1"/>
          </p:cNvPicPr>
          <p:nvPr/>
        </p:nvPicPr>
        <p:blipFill>
          <a:blip r:embed="rId3"/>
          <a:srcRect l="0" r="0" t="0" b="0"/>
          <a:stretch/>
        </p:blipFill>
        <p:spPr>
          <a:xfrm>
            <a:off x="8060333" y="4089400"/>
            <a:ext cx="304800" cy="304800"/>
          </a:xfrm>
          <a:prstGeom prst="rect">
            <a:avLst/>
          </a:prstGeom>
        </p:spPr>
      </p:pic>
      <p:sp>
        <p:nvSpPr>
          <p:cNvPr id="21" name="Text 16"/>
          <p:cNvSpPr/>
          <p:nvPr/>
        </p:nvSpPr>
        <p:spPr>
          <a:xfrm>
            <a:off x="8492133" y="4137025"/>
            <a:ext cx="3464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Batchläufe mit Bericht und Kostenmodell</a:t>
            </a:r>
            <a:endParaRPr lang="en-US" sz="1200" dirty="0"/>
          </a:p>
        </p:txBody>
      </p:sp>
      <p:sp>
        <p:nvSpPr>
          <p:cNvPr id="22" name="Text 17"/>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 · Kartendaten © OpenStreetMap-Mitwirkende</a:t>
            </a:r>
            <a:endParaRPr lang="en-US" sz="1200" dirty="0"/>
          </a:p>
        </p:txBody>
      </p:sp>
      <p:sp>
        <p:nvSpPr>
          <p:cNvPr id="23" name="Text 18"/>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B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994A"/>
                </a:solidFill>
                <a:latin typeface="IBM Plex Sans" pitchFamily="34" charset="0"/>
                <a:ea typeface="IBM Plex Sans" pitchFamily="34" charset="-122"/>
                <a:cs typeface="IBM Plex Sans" pitchFamily="34" charset="-120"/>
              </a:rPr>
              <a:t>DER LERNWEG</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1"/>
                </a:solidFill>
                <a:latin typeface="Space Grotesk" pitchFamily="34" charset="0"/>
                <a:ea typeface="Space Grotesk" pitchFamily="34" charset="-122"/>
                <a:cs typeface="Space Grotesk" pitchFamily="34" charset="-120"/>
              </a:rPr>
              <a:t>Ein Agent, der mit jeder Lektion wächst</a:t>
            </a:r>
            <a:endParaRPr lang="en-US" sz="3600" dirty="0"/>
          </a:p>
        </p:txBody>
      </p:sp>
      <p:sp>
        <p:nvSpPr>
          <p:cNvPr id="4" name="Shape 2"/>
          <p:cNvSpPr/>
          <p:nvPr/>
        </p:nvSpPr>
        <p:spPr>
          <a:xfrm>
            <a:off x="815975" y="1933575"/>
            <a:ext cx="2005310" cy="1892300"/>
          </a:xfrm>
          <a:prstGeom prst="roundRect">
            <a:avLst>
              <a:gd name="adj" fmla="val 5201"/>
            </a:avLst>
          </a:prstGeom>
          <a:solidFill>
            <a:srgbClr val="1C2833"/>
          </a:solidFill>
          <a:ln w="6350">
            <a:solidFill>
              <a:srgbClr val="2C3A47"/>
            </a:solidFill>
            <a:prstDash val="solid"/>
          </a:ln>
        </p:spPr>
      </p:sp>
      <p:sp>
        <p:nvSpPr>
          <p:cNvPr id="5" name="Text 3"/>
          <p:cNvSpPr/>
          <p:nvPr/>
        </p:nvSpPr>
        <p:spPr>
          <a:xfrm>
            <a:off x="996950" y="2114550"/>
            <a:ext cx="16941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EINSTIEG</a:t>
            </a:r>
            <a:endParaRPr lang="en-US" sz="1200" dirty="0"/>
          </a:p>
        </p:txBody>
      </p:sp>
      <p:sp>
        <p:nvSpPr>
          <p:cNvPr id="6" name="Text 4"/>
          <p:cNvSpPr/>
          <p:nvPr/>
        </p:nvSpPr>
        <p:spPr>
          <a:xfrm>
            <a:off x="996950" y="24257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0</a:t>
            </a:r>
            <a:r>
              <a:rPr lang="en-US" sz="1200" dirty="0">
                <a:solidFill>
                  <a:srgbClr val="DCE3E8"/>
                </a:solidFill>
                <a:latin typeface="IBM Plex Sans" pitchFamily="34" charset="0"/>
                <a:ea typeface="IBM Plex Sans" pitchFamily="34" charset="-122"/>
                <a:cs typeface="IBM Plex Sans" pitchFamily="34" charset="-120"/>
              </a:rPr>
              <a:t> Grundlagen</a:t>
            </a:r>
            <a:endParaRPr lang="en-US" sz="1200" dirty="0"/>
          </a:p>
        </p:txBody>
      </p:sp>
      <p:sp>
        <p:nvSpPr>
          <p:cNvPr id="7" name="Text 5"/>
          <p:cNvSpPr/>
          <p:nvPr/>
        </p:nvSpPr>
        <p:spPr>
          <a:xfrm>
            <a:off x="996950" y="27305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1</a:t>
            </a:r>
            <a:r>
              <a:rPr lang="en-US" sz="1200" dirty="0">
                <a:solidFill>
                  <a:srgbClr val="DCE3E8"/>
                </a:solidFill>
                <a:latin typeface="IBM Plex Sans" pitchFamily="34" charset="0"/>
                <a:ea typeface="IBM Plex Sans" pitchFamily="34" charset="-122"/>
                <a:cs typeface="IBM Plex Sans" pitchFamily="34" charset="-120"/>
              </a:rPr>
              <a:t> Agent spielen</a:t>
            </a:r>
            <a:endParaRPr lang="en-US" sz="1200" dirty="0"/>
          </a:p>
        </p:txBody>
      </p:sp>
      <p:sp>
        <p:nvSpPr>
          <p:cNvPr id="8" name="Shape 6"/>
          <p:cNvSpPr/>
          <p:nvPr/>
        </p:nvSpPr>
        <p:spPr>
          <a:xfrm>
            <a:off x="2954635" y="1933575"/>
            <a:ext cx="2005310" cy="1892300"/>
          </a:xfrm>
          <a:prstGeom prst="roundRect">
            <a:avLst>
              <a:gd name="adj" fmla="val 5201"/>
            </a:avLst>
          </a:prstGeom>
          <a:solidFill>
            <a:srgbClr val="1C2833"/>
          </a:solidFill>
          <a:ln w="6350">
            <a:solidFill>
              <a:srgbClr val="2C3A47"/>
            </a:solidFill>
            <a:prstDash val="solid"/>
          </a:ln>
        </p:spPr>
      </p:sp>
      <p:sp>
        <p:nvSpPr>
          <p:cNvPr id="9" name="Text 7"/>
          <p:cNvSpPr/>
          <p:nvPr/>
        </p:nvSpPr>
        <p:spPr>
          <a:xfrm>
            <a:off x="3135610" y="2114550"/>
            <a:ext cx="16941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REGELN</a:t>
            </a:r>
            <a:endParaRPr lang="en-US" sz="1200" dirty="0"/>
          </a:p>
        </p:txBody>
      </p:sp>
      <p:sp>
        <p:nvSpPr>
          <p:cNvPr id="10" name="Text 8"/>
          <p:cNvSpPr/>
          <p:nvPr/>
        </p:nvSpPr>
        <p:spPr>
          <a:xfrm>
            <a:off x="3135610" y="24257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L1</a:t>
            </a:r>
            <a:r>
              <a:rPr lang="en-US" sz="1200" dirty="0">
                <a:solidFill>
                  <a:srgbClr val="DCE3E8"/>
                </a:solidFill>
                <a:latin typeface="IBM Plex Sans" pitchFamily="34" charset="0"/>
                <a:ea typeface="IBM Plex Sans" pitchFamily="34" charset="-122"/>
                <a:cs typeface="IBM Plex Sans" pitchFamily="34" charset="-120"/>
              </a:rPr>
              <a:t> Einfachster Agent</a:t>
            </a:r>
            <a:endParaRPr lang="en-US" sz="1200" dirty="0"/>
          </a:p>
        </p:txBody>
      </p:sp>
      <p:sp>
        <p:nvSpPr>
          <p:cNvPr id="11" name="Text 9"/>
          <p:cNvSpPr/>
          <p:nvPr/>
        </p:nvSpPr>
        <p:spPr>
          <a:xfrm>
            <a:off x="3135610" y="27305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L2</a:t>
            </a:r>
            <a:r>
              <a:rPr lang="en-US" sz="1200" dirty="0">
                <a:solidFill>
                  <a:srgbClr val="DCE3E8"/>
                </a:solidFill>
                <a:latin typeface="IBM Plex Sans" pitchFamily="34" charset="0"/>
                <a:ea typeface="IBM Plex Sans" pitchFamily="34" charset="-122"/>
                <a:cs typeface="IBM Plex Sans" pitchFamily="34" charset="-120"/>
              </a:rPr>
              <a:t> Regelagent</a:t>
            </a:r>
            <a:endParaRPr lang="en-US" sz="1200" dirty="0"/>
          </a:p>
        </p:txBody>
      </p:sp>
      <p:sp>
        <p:nvSpPr>
          <p:cNvPr id="12" name="Text 10"/>
          <p:cNvSpPr/>
          <p:nvPr/>
        </p:nvSpPr>
        <p:spPr>
          <a:xfrm>
            <a:off x="3135610" y="30353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L3</a:t>
            </a:r>
            <a:r>
              <a:rPr lang="en-US" sz="1200" dirty="0">
                <a:solidFill>
                  <a:srgbClr val="DCE3E8"/>
                </a:solidFill>
                <a:latin typeface="IBM Plex Sans" pitchFamily="34" charset="0"/>
                <a:ea typeface="IBM Plex Sans" pitchFamily="34" charset="-122"/>
                <a:cs typeface="IBM Plex Sans" pitchFamily="34" charset="-120"/>
              </a:rPr>
              <a:t> Gedächtnis</a:t>
            </a:r>
            <a:endParaRPr lang="en-US" sz="1200" dirty="0"/>
          </a:p>
        </p:txBody>
      </p:sp>
      <p:sp>
        <p:nvSpPr>
          <p:cNvPr id="13" name="Text 11"/>
          <p:cNvSpPr/>
          <p:nvPr/>
        </p:nvSpPr>
        <p:spPr>
          <a:xfrm>
            <a:off x="3135610" y="33401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a:t>
            </a:r>
            <a:r>
              <a:rPr lang="en-US" sz="1200" dirty="0">
                <a:solidFill>
                  <a:srgbClr val="DCE3E8"/>
                </a:solidFill>
                <a:latin typeface="IBM Plex Sans" pitchFamily="34" charset="0"/>
                <a:ea typeface="IBM Plex Sans" pitchFamily="34" charset="-122"/>
                <a:cs typeface="IBM Plex Sans" pitchFamily="34" charset="-120"/>
              </a:rPr>
              <a:t> Forschungsplan</a:t>
            </a:r>
            <a:endParaRPr lang="en-US" sz="1200" dirty="0"/>
          </a:p>
        </p:txBody>
      </p:sp>
      <p:sp>
        <p:nvSpPr>
          <p:cNvPr id="14" name="Shape 12"/>
          <p:cNvSpPr/>
          <p:nvPr/>
        </p:nvSpPr>
        <p:spPr>
          <a:xfrm>
            <a:off x="5093295" y="1933575"/>
            <a:ext cx="2005310" cy="1892300"/>
          </a:xfrm>
          <a:prstGeom prst="roundRect">
            <a:avLst>
              <a:gd name="adj" fmla="val 5201"/>
            </a:avLst>
          </a:prstGeom>
          <a:solidFill>
            <a:srgbClr val="1C2833"/>
          </a:solidFill>
          <a:ln w="6350">
            <a:solidFill>
              <a:srgbClr val="2C3A47"/>
            </a:solidFill>
            <a:prstDash val="solid"/>
          </a:ln>
        </p:spPr>
      </p:sp>
      <p:sp>
        <p:nvSpPr>
          <p:cNvPr id="15" name="Text 13"/>
          <p:cNvSpPr/>
          <p:nvPr/>
        </p:nvSpPr>
        <p:spPr>
          <a:xfrm>
            <a:off x="5274270" y="2114550"/>
            <a:ext cx="16941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MODELL</a:t>
            </a:r>
            <a:endParaRPr lang="en-US" sz="1200" dirty="0"/>
          </a:p>
        </p:txBody>
      </p:sp>
      <p:sp>
        <p:nvSpPr>
          <p:cNvPr id="16" name="Text 14"/>
          <p:cNvSpPr/>
          <p:nvPr/>
        </p:nvSpPr>
        <p:spPr>
          <a:xfrm>
            <a:off x="5274270" y="24257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L4</a:t>
            </a:r>
            <a:r>
              <a:rPr lang="en-US" sz="1200" dirty="0">
                <a:solidFill>
                  <a:srgbClr val="DCE3E8"/>
                </a:solidFill>
                <a:latin typeface="IBM Plex Sans" pitchFamily="34" charset="0"/>
                <a:ea typeface="IBM Plex Sans" pitchFamily="34" charset="-122"/>
                <a:cs typeface="IBM Plex Sans" pitchFamily="34" charset="-120"/>
              </a:rPr>
              <a:t> Selbst wahrnehmen</a:t>
            </a:r>
            <a:endParaRPr lang="en-US" sz="1200" dirty="0"/>
          </a:p>
        </p:txBody>
      </p:sp>
      <p:sp>
        <p:nvSpPr>
          <p:cNvPr id="17" name="Text 15"/>
          <p:cNvSpPr/>
          <p:nvPr/>
        </p:nvSpPr>
        <p:spPr>
          <a:xfrm>
            <a:off x="5274270" y="2730500"/>
            <a:ext cx="1694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L5</a:t>
            </a:r>
            <a:r>
              <a:rPr lang="en-US" sz="1200" dirty="0">
                <a:solidFill>
                  <a:srgbClr val="DCE3E8"/>
                </a:solidFill>
                <a:latin typeface="IBM Plex Sans" pitchFamily="34" charset="0"/>
                <a:ea typeface="IBM Plex Sans" pitchFamily="34" charset="-122"/>
                <a:cs typeface="IBM Plex Sans" pitchFamily="34" charset="-120"/>
              </a:rPr>
              <a:t> LLM-Agent</a:t>
            </a:r>
            <a:endParaRPr lang="en-US" sz="1200" dirty="0"/>
          </a:p>
        </p:txBody>
      </p:sp>
      <p:sp>
        <p:nvSpPr>
          <p:cNvPr id="18" name="Shape 16"/>
          <p:cNvSpPr/>
          <p:nvPr/>
        </p:nvSpPr>
        <p:spPr>
          <a:xfrm>
            <a:off x="7231955" y="1933575"/>
            <a:ext cx="2005310" cy="1892300"/>
          </a:xfrm>
          <a:prstGeom prst="roundRect">
            <a:avLst>
              <a:gd name="adj" fmla="val 5201"/>
            </a:avLst>
          </a:prstGeom>
          <a:solidFill>
            <a:srgbClr val="1C2833"/>
          </a:solidFill>
          <a:ln w="6350">
            <a:solidFill>
              <a:srgbClr val="2C3A47"/>
            </a:solidFill>
            <a:prstDash val="solid"/>
          </a:ln>
        </p:spPr>
      </p:sp>
      <p:sp>
        <p:nvSpPr>
          <p:cNvPr id="19" name="Text 17"/>
          <p:cNvSpPr/>
          <p:nvPr/>
        </p:nvSpPr>
        <p:spPr>
          <a:xfrm>
            <a:off x="7412930" y="2114550"/>
            <a:ext cx="16941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SCHWERE FÄLLE</a:t>
            </a:r>
            <a:endParaRPr lang="en-US" sz="1200" dirty="0"/>
          </a:p>
        </p:txBody>
      </p:sp>
      <p:sp>
        <p:nvSpPr>
          <p:cNvPr id="20" name="Text 18"/>
          <p:cNvSpPr/>
          <p:nvPr/>
        </p:nvSpPr>
        <p:spPr>
          <a:xfrm>
            <a:off x="7412930" y="2425700"/>
            <a:ext cx="1694160"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L6</a:t>
            </a:r>
            <a:r>
              <a:rPr lang="en-US" sz="1200" dirty="0">
                <a:solidFill>
                  <a:srgbClr val="DCE3E8"/>
                </a:solidFill>
                <a:latin typeface="IBM Plex Sans" pitchFamily="34" charset="0"/>
                <a:ea typeface="IBM Plex Sans" pitchFamily="34" charset="-122"/>
                <a:cs typeface="IBM Plex Sans" pitchFamily="34" charset="-120"/>
              </a:rPr>
              <a:t> Alpamayo misstrauen</a:t>
            </a:r>
            <a:endParaRPr lang="en-US" sz="1200" dirty="0"/>
          </a:p>
        </p:txBody>
      </p:sp>
      <p:sp>
        <p:nvSpPr>
          <p:cNvPr id="21" name="Text 19"/>
          <p:cNvSpPr/>
          <p:nvPr/>
        </p:nvSpPr>
        <p:spPr>
          <a:xfrm>
            <a:off x="7412930" y="2933700"/>
            <a:ext cx="1821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L7</a:t>
            </a:r>
            <a:r>
              <a:rPr lang="en-US" sz="1200" dirty="0">
                <a:solidFill>
                  <a:srgbClr val="DCE3E8"/>
                </a:solidFill>
                <a:latin typeface="IBM Plex Sans" pitchFamily="34" charset="0"/>
                <a:ea typeface="IBM Plex Sans" pitchFamily="34" charset="-122"/>
                <a:cs typeface="IBM Plex Sans" pitchFamily="34" charset="-120"/>
              </a:rPr>
              <a:t> Phasen und Dynamik</a:t>
            </a:r>
            <a:endParaRPr lang="en-US" sz="1200" dirty="0"/>
          </a:p>
        </p:txBody>
      </p:sp>
      <p:sp>
        <p:nvSpPr>
          <p:cNvPr id="22" name="Text 20"/>
          <p:cNvSpPr/>
          <p:nvPr/>
        </p:nvSpPr>
        <p:spPr>
          <a:xfrm>
            <a:off x="7412930" y="3238500"/>
            <a:ext cx="1694160"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L8</a:t>
            </a:r>
            <a:r>
              <a:rPr lang="en-US" sz="1200" dirty="0">
                <a:solidFill>
                  <a:srgbClr val="DCE3E8"/>
                </a:solidFill>
                <a:latin typeface="IBM Plex Sans" pitchFamily="34" charset="0"/>
                <a:ea typeface="IBM Plex Sans" pitchFamily="34" charset="-122"/>
                <a:cs typeface="IBM Plex Sans" pitchFamily="34" charset="-120"/>
              </a:rPr>
              <a:t> Unfälle und Schutzregeln</a:t>
            </a:r>
            <a:endParaRPr lang="en-US" sz="1200" dirty="0"/>
          </a:p>
        </p:txBody>
      </p:sp>
      <p:sp>
        <p:nvSpPr>
          <p:cNvPr id="23" name="Shape 21"/>
          <p:cNvSpPr/>
          <p:nvPr/>
        </p:nvSpPr>
        <p:spPr>
          <a:xfrm>
            <a:off x="9370616" y="1933575"/>
            <a:ext cx="2005310" cy="1892300"/>
          </a:xfrm>
          <a:prstGeom prst="roundRect">
            <a:avLst>
              <a:gd name="adj" fmla="val 5201"/>
            </a:avLst>
          </a:prstGeom>
          <a:solidFill>
            <a:srgbClr val="1C2833"/>
          </a:solidFill>
          <a:ln w="6350">
            <a:solidFill>
              <a:srgbClr val="2C3A47"/>
            </a:solidFill>
            <a:prstDash val="solid"/>
          </a:ln>
        </p:spPr>
      </p:sp>
      <p:sp>
        <p:nvSpPr>
          <p:cNvPr id="24" name="Text 22"/>
          <p:cNvSpPr/>
          <p:nvPr/>
        </p:nvSpPr>
        <p:spPr>
          <a:xfrm>
            <a:off x="9551591" y="2114550"/>
            <a:ext cx="16941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94A"/>
                </a:solidFill>
                <a:latin typeface="IBM Plex Sans" pitchFamily="34" charset="0"/>
                <a:ea typeface="IBM Plex Sans" pitchFamily="34" charset="-122"/>
                <a:cs typeface="IBM Plex Sans" pitchFamily="34" charset="-120"/>
              </a:rPr>
              <a:t>ABSCHLUSS</a:t>
            </a:r>
            <a:endParaRPr lang="en-US" sz="1200" dirty="0"/>
          </a:p>
        </p:txBody>
      </p:sp>
      <p:sp>
        <p:nvSpPr>
          <p:cNvPr id="25" name="Text 23"/>
          <p:cNvSpPr/>
          <p:nvPr/>
        </p:nvSpPr>
        <p:spPr>
          <a:xfrm>
            <a:off x="9551591" y="2425700"/>
            <a:ext cx="182116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FB2E5"/>
                </a:solidFill>
                <a:latin typeface="IBM Plex Sans" pitchFamily="34" charset="0"/>
                <a:ea typeface="IBM Plex Sans" pitchFamily="34" charset="-122"/>
                <a:cs typeface="IBM Plex Sans" pitchFamily="34" charset="-120"/>
              </a:rPr>
              <a:t>6</a:t>
            </a:r>
            <a:r>
              <a:rPr lang="en-US" sz="1200" dirty="0">
                <a:solidFill>
                  <a:srgbClr val="DCE3E8"/>
                </a:solidFill>
                <a:latin typeface="IBM Plex Sans" pitchFamily="34" charset="0"/>
                <a:ea typeface="IBM Plex Sans" pitchFamily="34" charset="-122"/>
                <a:cs typeface="IBM Plex Sans" pitchFamily="34" charset="-120"/>
              </a:rPr>
              <a:t> Messen und berichten</a:t>
            </a:r>
            <a:endParaRPr lang="en-US" sz="1200" dirty="0"/>
          </a:p>
        </p:txBody>
      </p:sp>
      <p:sp>
        <p:nvSpPr>
          <p:cNvPr id="26" name="Text 24"/>
          <p:cNvSpPr/>
          <p:nvPr/>
        </p:nvSpPr>
        <p:spPr>
          <a:xfrm>
            <a:off x="812800" y="4133850"/>
            <a:ext cx="1137920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4CC"/>
                </a:solidFill>
                <a:latin typeface="IBM Plex Sans" pitchFamily="34" charset="0"/>
                <a:ea typeface="IBM Plex Sans" pitchFamily="34" charset="-122"/>
                <a:cs typeface="IBM Plex Sans" pitchFamily="34" charset="-120"/>
              </a:rPr>
              <a:t>Jede Lektion bringt einen </a:t>
            </a:r>
            <a:r>
              <a:rPr lang="en-US" sz="1600" dirty="0">
                <a:solidFill>
                  <a:srgbClr val="F4F5F1"/>
                </a:solidFill>
                <a:latin typeface="IBM Plex Sans" pitchFamily="34" charset="0"/>
                <a:ea typeface="IBM Plex Sans" pitchFamily="34" charset="-122"/>
                <a:cs typeface="IBM Plex Sans" pitchFamily="34" charset="-120"/>
              </a:rPr>
              <a:t>Startstand</a:t>
            </a:r>
            <a:r>
              <a:rPr lang="en-US" sz="1600" dirty="0">
                <a:solidFill>
                  <a:srgbClr val="B9C4CC"/>
                </a:solidFill>
                <a:latin typeface="IBM Plex Sans" pitchFamily="34" charset="0"/>
                <a:ea typeface="IBM Plex Sans" pitchFamily="34" charset="-122"/>
                <a:cs typeface="IBM Plex Sans" pitchFamily="34" charset="-120"/>
              </a:rPr>
              <a:t>, einen </a:t>
            </a:r>
            <a:r>
              <a:rPr lang="en-US" sz="1600" dirty="0">
                <a:solidFill>
                  <a:srgbClr val="F4F5F1"/>
                </a:solidFill>
                <a:latin typeface="IBM Plex Sans" pitchFamily="34" charset="0"/>
                <a:ea typeface="IBM Plex Sans" pitchFamily="34" charset="-122"/>
                <a:cs typeface="IBM Plex Sans" pitchFamily="34" charset="-120"/>
              </a:rPr>
              <a:t>Richtwert</a:t>
            </a:r>
            <a:r>
              <a:rPr lang="en-US" sz="1600" dirty="0">
                <a:solidFill>
                  <a:srgbClr val="B9C4CC"/>
                </a:solidFill>
                <a:latin typeface="IBM Plex Sans" pitchFamily="34" charset="0"/>
                <a:ea typeface="IBM Plex Sans" pitchFamily="34" charset="-122"/>
                <a:cs typeface="IBM Plex Sans" pitchFamily="34" charset="-120"/>
              </a:rPr>
              <a:t> und </a:t>
            </a:r>
            <a:r>
              <a:rPr lang="en-US" sz="1600" dirty="0">
                <a:solidFill>
                  <a:srgbClr val="F4F5F1"/>
                </a:solidFill>
                <a:latin typeface="IBM Plex Sans" pitchFamily="34" charset="0"/>
                <a:ea typeface="IBM Plex Sans" pitchFamily="34" charset="-122"/>
                <a:cs typeface="IBM Plex Sans" pitchFamily="34" charset="-120"/>
              </a:rPr>
              <a:t>Ideen zum Weiterbauen</a:t>
            </a:r>
            <a:r>
              <a:rPr lang="en-US" sz="1600" dirty="0">
                <a:solidFill>
                  <a:srgbClr val="B9C4CC"/>
                </a:solidFill>
                <a:latin typeface="IBM Plex Sans" pitchFamily="34" charset="0"/>
                <a:ea typeface="IBM Plex Sans" pitchFamily="34" charset="-122"/>
                <a:cs typeface="IBM Plex Sans" pitchFamily="34" charset="-120"/>
              </a:rPr>
              <a:t>. Ihr arbeitet im eigenen Tempo.</a:t>
            </a:r>
            <a:endParaRPr lang="en-US" sz="1600" dirty="0"/>
          </a:p>
        </p:txBody>
      </p:sp>
      <p:sp>
        <p:nvSpPr>
          <p:cNvPr id="27" name="Text 25"/>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28" name="Text 2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LABORAUFGABE</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Ein Agent, zwei Betriebsarten</a:t>
            </a:r>
            <a:endParaRPr lang="en-US" sz="3600" dirty="0"/>
          </a:p>
        </p:txBody>
      </p:sp>
      <p:sp>
        <p:nvSpPr>
          <p:cNvPr id="4" name="Shape 2"/>
          <p:cNvSpPr/>
          <p:nvPr/>
        </p:nvSpPr>
        <p:spPr>
          <a:xfrm>
            <a:off x="815975" y="1933575"/>
            <a:ext cx="4540250" cy="1200150"/>
          </a:xfrm>
          <a:prstGeom prst="roundRect">
            <a:avLst>
              <a:gd name="adj" fmla="val 10317"/>
            </a:avLst>
          </a:prstGeom>
          <a:solidFill>
            <a:srgbClr val="FBFBF8"/>
          </a:solidFill>
          <a:ln w="6350">
            <a:solidFill>
              <a:srgbClr val="D5DAD3"/>
            </a:solidFill>
            <a:prstDash val="solid"/>
          </a:ln>
        </p:spPr>
      </p:sp>
      <p:sp>
        <p:nvSpPr>
          <p:cNvPr id="5" name="Text 3"/>
          <p:cNvSpPr/>
          <p:nvPr/>
        </p:nvSpPr>
        <p:spPr>
          <a:xfrm>
            <a:off x="1073150" y="2165350"/>
            <a:ext cx="414667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Teil A · ohne Sprachmodell</a:t>
            </a:r>
            <a:endParaRPr lang="en-US" sz="1600" dirty="0"/>
          </a:p>
        </p:txBody>
      </p:sp>
      <p:sp>
        <p:nvSpPr>
          <p:cNvPr id="6" name="Text 4"/>
          <p:cNvSpPr/>
          <p:nvPr/>
        </p:nvSpPr>
        <p:spPr>
          <a:xfrm>
            <a:off x="1073150" y="2482850"/>
            <a:ext cx="4146677"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Euer Agent entscheidet allein mit Werkzeugdaten und eigenen Regeln.</a:t>
            </a:r>
            <a:endParaRPr lang="en-US" sz="1200" dirty="0"/>
          </a:p>
        </p:txBody>
      </p:sp>
      <p:sp>
        <p:nvSpPr>
          <p:cNvPr id="7" name="Shape 5"/>
          <p:cNvSpPr/>
          <p:nvPr/>
        </p:nvSpPr>
        <p:spPr>
          <a:xfrm>
            <a:off x="815975" y="3292475"/>
            <a:ext cx="4540250" cy="1200150"/>
          </a:xfrm>
          <a:prstGeom prst="roundRect">
            <a:avLst>
              <a:gd name="adj" fmla="val 10317"/>
            </a:avLst>
          </a:prstGeom>
          <a:solidFill>
            <a:srgbClr val="FBFBF8"/>
          </a:solidFill>
          <a:ln w="6350">
            <a:solidFill>
              <a:srgbClr val="D5DAD3"/>
            </a:solidFill>
            <a:prstDash val="solid"/>
          </a:ln>
        </p:spPr>
      </p:sp>
      <p:sp>
        <p:nvSpPr>
          <p:cNvPr id="8" name="Text 6"/>
          <p:cNvSpPr/>
          <p:nvPr/>
        </p:nvSpPr>
        <p:spPr>
          <a:xfrm>
            <a:off x="1073150" y="3524250"/>
            <a:ext cx="4146677"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4A0"/>
                </a:solidFill>
                <a:latin typeface="IBM Plex Sans" pitchFamily="34" charset="0"/>
                <a:ea typeface="IBM Plex Sans" pitchFamily="34" charset="-122"/>
                <a:cs typeface="IBM Plex Sans" pitchFamily="34" charset="-120"/>
              </a:rPr>
              <a:t>Teil B · mit Sprachmodell</a:t>
            </a:r>
            <a:endParaRPr lang="en-US" sz="1600" dirty="0"/>
          </a:p>
        </p:txBody>
      </p:sp>
      <p:sp>
        <p:nvSpPr>
          <p:cNvPr id="9" name="Text 7"/>
          <p:cNvSpPr/>
          <p:nvPr/>
        </p:nvSpPr>
        <p:spPr>
          <a:xfrm>
            <a:off x="1073150" y="3841750"/>
            <a:ext cx="4146677"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Derselbe Agent gibt die offenen Fälle an ein Modell. Eure Hebel: Lagebild, Werkzeuge, Prompt, Modell.</a:t>
            </a:r>
            <a:endParaRPr lang="en-US" sz="1200" dirty="0"/>
          </a:p>
        </p:txBody>
      </p:sp>
      <p:pic>
        <p:nvPicPr>
          <p:cNvPr id="10" name="Image 0" descr="arrow-right">    </p:cNvPr>
          <p:cNvPicPr>
            <a:picLocks noChangeAspect="1"/>
          </p:cNvPicPr>
          <p:nvPr/>
        </p:nvPicPr>
        <p:blipFill>
          <a:blip r:embed="rId1"/>
          <a:srcRect l="0" r="0" t="0" b="0"/>
          <a:stretch/>
        </p:blipFill>
        <p:spPr>
          <a:xfrm>
            <a:off x="5562600" y="3086100"/>
            <a:ext cx="457200" cy="254000"/>
          </a:xfrm>
          <a:prstGeom prst="rect">
            <a:avLst/>
          </a:prstGeom>
        </p:spPr>
      </p:pic>
      <p:sp>
        <p:nvSpPr>
          <p:cNvPr id="11" name="Shape 8"/>
          <p:cNvSpPr/>
          <p:nvPr/>
        </p:nvSpPr>
        <p:spPr>
          <a:xfrm>
            <a:off x="6223000" y="2276475"/>
            <a:ext cx="5156200" cy="1873250"/>
          </a:xfrm>
          <a:prstGeom prst="roundRect">
            <a:avLst>
              <a:gd name="adj" fmla="val 6780"/>
            </a:avLst>
          </a:prstGeom>
          <a:solidFill>
            <a:srgbClr val="121B24"/>
          </a:solidFill>
          <a:ln/>
        </p:spPr>
      </p:sp>
      <p:sp>
        <p:nvSpPr>
          <p:cNvPr id="12" name="Text 9"/>
          <p:cNvSpPr/>
          <p:nvPr/>
        </p:nvSpPr>
        <p:spPr>
          <a:xfrm>
            <a:off x="6527800" y="2581275"/>
            <a:ext cx="468299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994A"/>
                </a:solidFill>
                <a:latin typeface="IBM Plex Sans" pitchFamily="34" charset="0"/>
                <a:ea typeface="IBM Plex Sans" pitchFamily="34" charset="-122"/>
                <a:cs typeface="IBM Plex Sans" pitchFamily="34" charset="-120"/>
              </a:rPr>
              <a:t>Teil C · Vergleich</a:t>
            </a:r>
            <a:endParaRPr lang="en-US" sz="1600" dirty="0"/>
          </a:p>
        </p:txBody>
      </p:sp>
      <p:sp>
        <p:nvSpPr>
          <p:cNvPr id="13" name="Text 10"/>
          <p:cNvSpPr/>
          <p:nvPr/>
        </p:nvSpPr>
        <p:spPr>
          <a:xfrm>
            <a:off x="6527800" y="2949575"/>
            <a:ext cx="4682998"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4F5F1"/>
                </a:solidFill>
                <a:latin typeface="IBM Plex Sans" pitchFamily="34" charset="0"/>
                <a:ea typeface="IBM Plex Sans" pitchFamily="34" charset="-122"/>
                <a:cs typeface="IBM Plex Sans" pitchFamily="34" charset="-120"/>
              </a:rPr>
              <a:t>Was trägt das Modell wirklich bei?</a:t>
            </a:r>
            <a:endParaRPr lang="en-US" sz="2200" dirty="0"/>
          </a:p>
        </p:txBody>
      </p:sp>
      <p:sp>
        <p:nvSpPr>
          <p:cNvPr id="14" name="Text 11"/>
          <p:cNvSpPr/>
          <p:nvPr/>
        </p:nvSpPr>
        <p:spPr>
          <a:xfrm>
            <a:off x="6527800" y="3425825"/>
            <a:ext cx="468299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Gleiche Szenarien, gleiche Kennzahlen, Wiederholungen. Maßstab ist ein Agent, bei dem allein das Modell entscheidet.</a:t>
            </a:r>
            <a:endParaRPr lang="en-US" sz="1200" dirty="0"/>
          </a:p>
        </p:txBody>
      </p:sp>
      <p:sp>
        <p:nvSpPr>
          <p:cNvPr id="15" name="Text 12"/>
          <p:cNvSpPr/>
          <p:nvPr/>
        </p:nvSpPr>
        <p:spPr>
          <a:xfrm>
            <a:off x="812800" y="48006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Teil A misst ihr mit </a:t>
            </a:r>
            <a:r>
              <a:rPr lang="en-US" sz="1200" dirty="0">
                <a:solidFill>
                  <a:srgbClr val="121B24"/>
                </a:solidFill>
                <a:latin typeface="IBM Plex Sans" pitchFamily="34" charset="0"/>
                <a:ea typeface="IBM Plex Sans" pitchFamily="34" charset="-122"/>
                <a:cs typeface="IBM Plex Sans" pitchFamily="34" charset="-120"/>
              </a:rPr>
              <a:t>AUTONOMY_RECOVERY_MODEL=none</a:t>
            </a:r>
            <a:r>
              <a:rPr lang="en-US" sz="1200" dirty="0">
                <a:solidFill>
                  <a:srgbClr val="46525C"/>
                </a:solidFill>
                <a:latin typeface="IBM Plex Sans" pitchFamily="34" charset="0"/>
                <a:ea typeface="IBM Plex Sans" pitchFamily="34" charset="-122"/>
                <a:cs typeface="IBM Plex Sans" pitchFamily="34" charset="-120"/>
              </a:rPr>
              <a:t>. Ohne API-Schlüssel ersetzt ein lokales Spielmodell das Sprachmodell.</a:t>
            </a:r>
            <a:endParaRPr lang="en-US" sz="1200" dirty="0"/>
          </a:p>
        </p:txBody>
      </p:sp>
      <p:sp>
        <p:nvSpPr>
          <p:cNvPr id="16" name="Text 13"/>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 · Details in ASSIGNMENT.md</a:t>
            </a:r>
            <a:endParaRPr lang="en-US" sz="1200" dirty="0"/>
          </a:p>
        </p:txBody>
      </p:sp>
      <p:sp>
        <p:nvSpPr>
          <p:cNvPr id="17" name="Text 14"/>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7EA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DAS LABOR IST UNBENOTET</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Rückmeldung nach jedem Lauf</a:t>
            </a:r>
            <a:endParaRPr lang="en-US" sz="3600" dirty="0"/>
          </a:p>
        </p:txBody>
      </p:sp>
      <p:sp>
        <p:nvSpPr>
          <p:cNvPr id="4" name="Shape 2"/>
          <p:cNvSpPr/>
          <p:nvPr/>
        </p:nvSpPr>
        <p:spPr>
          <a:xfrm>
            <a:off x="812800" y="1930400"/>
            <a:ext cx="5384800" cy="2114550"/>
          </a:xfrm>
          <a:prstGeom prst="roundRect">
            <a:avLst>
              <a:gd name="adj" fmla="val 6006"/>
            </a:avLst>
          </a:prstGeom>
          <a:solidFill>
            <a:srgbClr val="121B24"/>
          </a:solidFill>
          <a:ln/>
        </p:spPr>
      </p:sp>
      <p:sp>
        <p:nvSpPr>
          <p:cNvPr id="5" name="Text 3"/>
          <p:cNvSpPr/>
          <p:nvPr/>
        </p:nvSpPr>
        <p:spPr>
          <a:xfrm>
            <a:off x="1066800" y="2184400"/>
            <a:ext cx="502310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Beispielausgabe, gekürzt</a:t>
            </a:r>
            <a:endParaRPr lang="en-US" sz="1200" dirty="0"/>
          </a:p>
        </p:txBody>
      </p:sp>
      <p:sp>
        <p:nvSpPr>
          <p:cNvPr id="6" name="Text 4"/>
          <p:cNvSpPr/>
          <p:nvPr/>
        </p:nvSpPr>
        <p:spPr>
          <a:xfrm>
            <a:off x="1066800" y="2495550"/>
            <a:ext cx="5023104" cy="13208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C99A4"/>
                </a:solidFill>
                <a:latin typeface="JetBrains Mono" pitchFamily="49" charset="0"/>
                <a:ea typeface="JetBrains Mono" pitchFamily="49" charset="-122"/>
                <a:cs typeface="JetBrains Mono" pitchFamily="49" charset="-120"/>
              </a:rPr>
              <a:t>$</a:t>
            </a:r>
            <a:r>
              <a:rPr lang="en-US" sz="1200" dirty="0">
                <a:solidFill>
                  <a:srgbClr val="DCE3E8"/>
                </a:solidFill>
                <a:latin typeface="JetBrains Mono" pitchFamily="49" charset="0"/>
                <a:ea typeface="JetBrains Mono" pitchFamily="49" charset="-122"/>
                <a:cs typeface="JetBrains Mono" pitchFamily="49" charset="-120"/>
              </a:rPr>
              <a:t> python3 -m autonomy_recovery_sim batch \</a:t>
            </a:r>
            <a:endParaRPr lang="en-US" sz="1200" dirty="0"/>
          </a:p>
          <a:p>
            <a:pPr algn="l" indent="0" marL="0">
              <a:lnSpc>
                <a:spcPts val="1740"/>
              </a:lnSpc>
              <a:buNone/>
            </a:pPr>
            <a:r>
              <a:rPr lang="en-US" sz="1200" dirty="0">
                <a:solidFill>
                  <a:srgbClr val="DCE3E8"/>
                </a:solidFill>
                <a:latin typeface="JetBrains Mono" pitchFamily="49" charset="0"/>
                <a:ea typeface="JetBrains Mono" pitchFamily="49" charset="-122"/>
                <a:cs typeface="JetBrains Mono" pitchFamily="49" charset="-120"/>
              </a:rPr>
              <a:t>    --release sprint1 --agent mein_agent:decide</a:t>
            </a:r>
            <a:endParaRPr lang="en-US" sz="1200" dirty="0"/>
          </a:p>
          <a:p>
            <a:pPr algn="l" indent="0" marL="0">
              <a:lnSpc>
                <a:spcPts val="1740"/>
              </a:lnSpc>
              <a:buNone/>
            </a:pPr>
            <a:endParaRPr lang="en-US" sz="1200" dirty="0"/>
          </a:p>
          <a:p>
            <a:pPr algn="l" indent="0" marL="0">
              <a:lnSpc>
                <a:spcPts val="1740"/>
              </a:lnSpc>
              <a:buNone/>
            </a:pPr>
            <a:r>
              <a:rPr lang="en-US" sz="1200" dirty="0">
                <a:solidFill>
                  <a:srgbClr val="F2994A"/>
                </a:solidFill>
                <a:latin typeface="JetBrains Mono" pitchFamily="49" charset="0"/>
                <a:ea typeface="JetBrains Mono" pitchFamily="49" charset="-122"/>
                <a:cs typeface="JetBrains Mono" pitchFamily="49" charset="-120"/>
              </a:rPr>
              <a:t>Fortschritt: 6 -&gt; 8 bestanden (+2), …</a:t>
            </a:r>
            <a:endParaRPr lang="en-US" sz="1200" dirty="0"/>
          </a:p>
          <a:p>
            <a:pPr algn="l" indent="0" marL="0">
              <a:lnSpc>
                <a:spcPts val="1740"/>
              </a:lnSpc>
              <a:buNone/>
            </a:pPr>
            <a:r>
              <a:rPr lang="en-US" sz="1200" dirty="0">
                <a:solidFill>
                  <a:srgbClr val="DCE3E8"/>
                </a:solidFill>
                <a:latin typeface="JetBrains Mono" pitchFamily="49" charset="0"/>
                <a:ea typeface="JetBrains Mono" pitchFamily="49" charset="-122"/>
                <a:cs typeface="JetBrains Mono" pitchFamily="49" charset="-120"/>
              </a:rPr>
              <a:t>  neu bestanden: hannover_frei,</a:t>
            </a:r>
            <a:endParaRPr lang="en-US" sz="1200" dirty="0"/>
          </a:p>
          <a:p>
            <a:pPr algn="l" indent="0" marL="0">
              <a:lnSpc>
                <a:spcPts val="1740"/>
              </a:lnSpc>
              <a:buNone/>
            </a:pPr>
            <a:r>
              <a:rPr lang="en-US" sz="1200" dirty="0">
                <a:solidFill>
                  <a:srgbClr val="DCE3E8"/>
                </a:solidFill>
                <a:latin typeface="JetBrains Mono" pitchFamily="49" charset="0"/>
                <a:ea typeface="JetBrains Mono" pitchFamily="49" charset="-122"/>
                <a:cs typeface="JetBrains Mono" pitchFamily="49" charset="-120"/>
              </a:rPr>
              <a:t>    hannover_gegenverkehr_fern</a:t>
            </a:r>
            <a:endParaRPr lang="en-US" sz="1200" dirty="0"/>
          </a:p>
        </p:txBody>
      </p:sp>
      <p:pic>
        <p:nvPicPr>
          <p:cNvPr id="7" name="Image 0" descr="Chart">    </p:cNvPr>
          <p:cNvPicPr>
            <a:picLocks noChangeAspect="1"/>
          </p:cNvPicPr>
          <p:nvPr/>
        </p:nvPicPr>
        <p:blipFill>
          <a:blip r:embed="rId1"/>
          <a:srcRect l="0" r="0" t="0" b="0"/>
          <a:stretch/>
        </p:blipFill>
        <p:spPr>
          <a:xfrm>
            <a:off x="6502400" y="1930400"/>
            <a:ext cx="304800" cy="304800"/>
          </a:xfrm>
          <a:prstGeom prst="rect">
            <a:avLst/>
          </a:prstGeom>
        </p:spPr>
      </p:pic>
      <p:sp>
        <p:nvSpPr>
          <p:cNvPr id="8" name="Text 5"/>
          <p:cNvSpPr/>
          <p:nvPr/>
        </p:nvSpPr>
        <p:spPr>
          <a:xfrm>
            <a:off x="6959600" y="1930400"/>
            <a:ext cx="455218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Wie gut?</a:t>
            </a:r>
            <a:endParaRPr lang="en-US" sz="1600" dirty="0"/>
          </a:p>
        </p:txBody>
      </p:sp>
      <p:sp>
        <p:nvSpPr>
          <p:cNvPr id="9" name="Text 6"/>
          <p:cNvSpPr/>
          <p:nvPr/>
        </p:nvSpPr>
        <p:spPr>
          <a:xfrm>
            <a:off x="6959600" y="2197100"/>
            <a:ext cx="45521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Einstufung A bis D und Kennzahlen</a:t>
            </a:r>
            <a:endParaRPr lang="en-US" sz="1200" dirty="0"/>
          </a:p>
        </p:txBody>
      </p:sp>
      <p:pic>
        <p:nvPicPr>
          <p:cNvPr id="10" name="Image 1" descr="Search">    </p:cNvPr>
          <p:cNvPicPr>
            <a:picLocks noChangeAspect="1"/>
          </p:cNvPicPr>
          <p:nvPr/>
        </p:nvPicPr>
        <p:blipFill>
          <a:blip r:embed="rId2"/>
          <a:srcRect l="0" r="0" t="0" b="0"/>
          <a:stretch/>
        </p:blipFill>
        <p:spPr>
          <a:xfrm>
            <a:off x="6502400" y="2584450"/>
            <a:ext cx="304800" cy="304800"/>
          </a:xfrm>
          <a:prstGeom prst="rect">
            <a:avLst/>
          </a:prstGeom>
        </p:spPr>
      </p:pic>
      <p:sp>
        <p:nvSpPr>
          <p:cNvPr id="11" name="Text 7"/>
          <p:cNvSpPr/>
          <p:nvPr/>
        </p:nvSpPr>
        <p:spPr>
          <a:xfrm>
            <a:off x="6959600" y="2584450"/>
            <a:ext cx="455218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Wo scheitert er?</a:t>
            </a:r>
            <a:endParaRPr lang="en-US" sz="1600" dirty="0"/>
          </a:p>
        </p:txBody>
      </p:sp>
      <p:sp>
        <p:nvSpPr>
          <p:cNvPr id="12" name="Text 8"/>
          <p:cNvSpPr/>
          <p:nvPr/>
        </p:nvSpPr>
        <p:spPr>
          <a:xfrm>
            <a:off x="6959600" y="2851150"/>
            <a:ext cx="45521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Befund je Fall, Detailseite mit Trace</a:t>
            </a:r>
            <a:endParaRPr lang="en-US" sz="1200" dirty="0"/>
          </a:p>
        </p:txBody>
      </p:sp>
      <p:pic>
        <p:nvPicPr>
          <p:cNvPr id="13" name="Image 2" descr="Activity">    </p:cNvPr>
          <p:cNvPicPr>
            <a:picLocks noChangeAspect="1"/>
          </p:cNvPicPr>
          <p:nvPr/>
        </p:nvPicPr>
        <p:blipFill>
          <a:blip r:embed="rId3"/>
          <a:srcRect l="0" r="0" t="0" b="0"/>
          <a:stretch/>
        </p:blipFill>
        <p:spPr>
          <a:xfrm>
            <a:off x="6502400" y="3238500"/>
            <a:ext cx="304800" cy="304800"/>
          </a:xfrm>
          <a:prstGeom prst="rect">
            <a:avLst/>
          </a:prstGeom>
        </p:spPr>
      </p:pic>
      <p:sp>
        <p:nvSpPr>
          <p:cNvPr id="14" name="Text 9"/>
          <p:cNvSpPr/>
          <p:nvPr/>
        </p:nvSpPr>
        <p:spPr>
          <a:xfrm>
            <a:off x="6959600" y="3238500"/>
            <a:ext cx="455218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Wird er besser?</a:t>
            </a:r>
            <a:endParaRPr lang="en-US" sz="1600" dirty="0"/>
          </a:p>
        </p:txBody>
      </p:sp>
      <p:sp>
        <p:nvSpPr>
          <p:cNvPr id="15" name="Text 10"/>
          <p:cNvSpPr/>
          <p:nvPr/>
        </p:nvSpPr>
        <p:spPr>
          <a:xfrm>
            <a:off x="6959600" y="3505200"/>
            <a:ext cx="45521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Vergleich mit dem vorigen Lauf und Verlauf</a:t>
            </a:r>
            <a:endParaRPr lang="en-US" sz="1200" dirty="0"/>
          </a:p>
        </p:txBody>
      </p:sp>
      <p:sp>
        <p:nvSpPr>
          <p:cNvPr id="16" name="Text 11"/>
          <p:cNvSpPr/>
          <p:nvPr/>
        </p:nvSpPr>
        <p:spPr>
          <a:xfrm>
            <a:off x="812800" y="434975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Eine Kollision ergibt immer D. </a:t>
            </a:r>
            <a:r>
              <a:rPr lang="en-US" sz="1600" b="1" dirty="0">
                <a:solidFill>
                  <a:srgbClr val="121B24"/>
                </a:solidFill>
                <a:latin typeface="IBM Plex Sans" pitchFamily="34" charset="0"/>
                <a:ea typeface="IBM Plex Sans" pitchFamily="34" charset="-122"/>
                <a:cs typeface="IBM Plex Sans" pitchFamily="34" charset="-120"/>
              </a:rPr>
              <a:t>Sicherheit geht vor.</a:t>
            </a:r>
            <a:endParaRPr lang="en-US" sz="1600" dirty="0"/>
          </a:p>
        </p:txBody>
      </p:sp>
      <p:sp>
        <p:nvSpPr>
          <p:cNvPr id="17" name="Text 12"/>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 · Details in PRUEFSTAND.md</a:t>
            </a:r>
            <a:endParaRPr lang="en-US" sz="1200" dirty="0"/>
          </a:p>
        </p:txBody>
      </p:sp>
      <p:sp>
        <p:nvSpPr>
          <p:cNvPr id="18" name="Text 13"/>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B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994A"/>
                </a:solidFill>
                <a:latin typeface="IBM Plex Sans" pitchFamily="34" charset="0"/>
                <a:ea typeface="IBM Plex Sans" pitchFamily="34" charset="-122"/>
                <a:cs typeface="IBM Plex Sans" pitchFamily="34" charset="-120"/>
              </a:rPr>
              <a:t>ZUSAMMENARBEIT</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1"/>
                </a:solidFill>
                <a:latin typeface="Space Grotesk" pitchFamily="34" charset="0"/>
                <a:ea typeface="Space Grotesk" pitchFamily="34" charset="-122"/>
                <a:cs typeface="Space Grotesk" pitchFamily="34" charset="-120"/>
              </a:rPr>
              <a:t>Vier Personen, ein gemeinsames System</a:t>
            </a:r>
            <a:endParaRPr lang="en-US" sz="3600" dirty="0"/>
          </a:p>
        </p:txBody>
      </p:sp>
      <p:sp>
        <p:nvSpPr>
          <p:cNvPr id="4" name="Text 2"/>
          <p:cNvSpPr/>
          <p:nvPr/>
        </p:nvSpPr>
        <p:spPr>
          <a:xfrm>
            <a:off x="812800" y="1930400"/>
            <a:ext cx="523240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1"/>
                </a:solidFill>
                <a:latin typeface="IBM Plex Sans" pitchFamily="34" charset="0"/>
                <a:ea typeface="IBM Plex Sans" pitchFamily="34" charset="-122"/>
                <a:cs typeface="IBM Plex Sans" pitchFamily="34" charset="-120"/>
              </a:rPr>
              <a:t>Rollen, die rotieren</a:t>
            </a:r>
            <a:endParaRPr lang="en-US" sz="1600" dirty="0"/>
          </a:p>
        </p:txBody>
      </p:sp>
      <p:sp>
        <p:nvSpPr>
          <p:cNvPr id="5" name="Shape 3"/>
          <p:cNvSpPr/>
          <p:nvPr/>
        </p:nvSpPr>
        <p:spPr>
          <a:xfrm>
            <a:off x="815975" y="2327275"/>
            <a:ext cx="2482850" cy="565150"/>
          </a:xfrm>
          <a:prstGeom prst="roundRect">
            <a:avLst>
              <a:gd name="adj" fmla="val 17416"/>
            </a:avLst>
          </a:prstGeom>
          <a:solidFill>
            <a:srgbClr val="1C2833"/>
          </a:solidFill>
          <a:ln w="6350">
            <a:solidFill>
              <a:srgbClr val="2C3A47"/>
            </a:solidFill>
            <a:prstDash val="solid"/>
          </a:ln>
        </p:spPr>
      </p:sp>
      <p:pic>
        <p:nvPicPr>
          <p:cNvPr id="6" name="Image 0" descr="Code">    </p:cNvPr>
          <p:cNvPicPr>
            <a:picLocks noChangeAspect="1"/>
          </p:cNvPicPr>
          <p:nvPr/>
        </p:nvPicPr>
        <p:blipFill>
          <a:blip r:embed="rId1"/>
          <a:srcRect l="0" r="0" t="0" b="0"/>
          <a:stretch/>
        </p:blipFill>
        <p:spPr>
          <a:xfrm>
            <a:off x="971550" y="2482850"/>
            <a:ext cx="254000" cy="254000"/>
          </a:xfrm>
          <a:prstGeom prst="rect">
            <a:avLst/>
          </a:prstGeom>
        </p:spPr>
      </p:pic>
      <p:sp>
        <p:nvSpPr>
          <p:cNvPr id="7" name="Text 4"/>
          <p:cNvSpPr/>
          <p:nvPr/>
        </p:nvSpPr>
        <p:spPr>
          <a:xfrm>
            <a:off x="1327150" y="2505075"/>
            <a:ext cx="187058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Implementierung</a:t>
            </a:r>
            <a:endParaRPr lang="en-US" sz="1200" dirty="0"/>
          </a:p>
        </p:txBody>
      </p:sp>
      <p:sp>
        <p:nvSpPr>
          <p:cNvPr id="8" name="Shape 5"/>
          <p:cNvSpPr/>
          <p:nvPr/>
        </p:nvSpPr>
        <p:spPr>
          <a:xfrm>
            <a:off x="3406775" y="2327275"/>
            <a:ext cx="2482850" cy="565150"/>
          </a:xfrm>
          <a:prstGeom prst="roundRect">
            <a:avLst>
              <a:gd name="adj" fmla="val 17416"/>
            </a:avLst>
          </a:prstGeom>
          <a:solidFill>
            <a:srgbClr val="1C2833"/>
          </a:solidFill>
          <a:ln w="6350">
            <a:solidFill>
              <a:srgbClr val="2C3A47"/>
            </a:solidFill>
            <a:prstDash val="solid"/>
          </a:ln>
        </p:spPr>
      </p:sp>
      <p:pic>
        <p:nvPicPr>
          <p:cNvPr id="9" name="Image 1" descr="Trust">    </p:cNvPr>
          <p:cNvPicPr>
            <a:picLocks noChangeAspect="1"/>
          </p:cNvPicPr>
          <p:nvPr/>
        </p:nvPicPr>
        <p:blipFill>
          <a:blip r:embed="rId2"/>
          <a:srcRect l="0" r="0" t="0" b="0"/>
          <a:stretch/>
        </p:blipFill>
        <p:spPr>
          <a:xfrm>
            <a:off x="3562350" y="2482850"/>
            <a:ext cx="254000" cy="254000"/>
          </a:xfrm>
          <a:prstGeom prst="rect">
            <a:avLst/>
          </a:prstGeom>
        </p:spPr>
      </p:pic>
      <p:sp>
        <p:nvSpPr>
          <p:cNvPr id="10" name="Text 6"/>
          <p:cNvSpPr/>
          <p:nvPr/>
        </p:nvSpPr>
        <p:spPr>
          <a:xfrm>
            <a:off x="3917950" y="2505075"/>
            <a:ext cx="187058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Safety-Prüfung</a:t>
            </a:r>
            <a:endParaRPr lang="en-US" sz="1200" dirty="0"/>
          </a:p>
        </p:txBody>
      </p:sp>
      <p:sp>
        <p:nvSpPr>
          <p:cNvPr id="11" name="Shape 7"/>
          <p:cNvSpPr/>
          <p:nvPr/>
        </p:nvSpPr>
        <p:spPr>
          <a:xfrm>
            <a:off x="815975" y="3000375"/>
            <a:ext cx="2482850" cy="565150"/>
          </a:xfrm>
          <a:prstGeom prst="roundRect">
            <a:avLst>
              <a:gd name="adj" fmla="val 17416"/>
            </a:avLst>
          </a:prstGeom>
          <a:solidFill>
            <a:srgbClr val="1C2833"/>
          </a:solidFill>
          <a:ln w="6350">
            <a:solidFill>
              <a:srgbClr val="2C3A47"/>
            </a:solidFill>
            <a:prstDash val="solid"/>
          </a:ln>
        </p:spPr>
      </p:sp>
      <p:pic>
        <p:nvPicPr>
          <p:cNvPr id="12" name="Image 2" descr="Activity">    </p:cNvPr>
          <p:cNvPicPr>
            <a:picLocks noChangeAspect="1"/>
          </p:cNvPicPr>
          <p:nvPr/>
        </p:nvPicPr>
        <p:blipFill>
          <a:blip r:embed="rId3"/>
          <a:srcRect l="0" r="0" t="0" b="0"/>
          <a:stretch/>
        </p:blipFill>
        <p:spPr>
          <a:xfrm>
            <a:off x="971550" y="3155950"/>
            <a:ext cx="254000" cy="254000"/>
          </a:xfrm>
          <a:prstGeom prst="rect">
            <a:avLst/>
          </a:prstGeom>
        </p:spPr>
      </p:pic>
      <p:sp>
        <p:nvSpPr>
          <p:cNvPr id="13" name="Text 8"/>
          <p:cNvSpPr/>
          <p:nvPr/>
        </p:nvSpPr>
        <p:spPr>
          <a:xfrm>
            <a:off x="1327150" y="3178175"/>
            <a:ext cx="187058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Messung und Trace</a:t>
            </a:r>
            <a:endParaRPr lang="en-US" sz="1200" dirty="0"/>
          </a:p>
        </p:txBody>
      </p:sp>
      <p:sp>
        <p:nvSpPr>
          <p:cNvPr id="14" name="Shape 9"/>
          <p:cNvSpPr/>
          <p:nvPr/>
        </p:nvSpPr>
        <p:spPr>
          <a:xfrm>
            <a:off x="3406775" y="3000375"/>
            <a:ext cx="2482850" cy="565150"/>
          </a:xfrm>
          <a:prstGeom prst="roundRect">
            <a:avLst>
              <a:gd name="adj" fmla="val 17416"/>
            </a:avLst>
          </a:prstGeom>
          <a:solidFill>
            <a:srgbClr val="1C2833"/>
          </a:solidFill>
          <a:ln w="6350">
            <a:solidFill>
              <a:srgbClr val="2C3A47"/>
            </a:solidFill>
            <a:prstDash val="solid"/>
          </a:ln>
        </p:spPr>
      </p:sp>
      <p:pic>
        <p:nvPicPr>
          <p:cNvPr id="15" name="Image 3" descr="Book">    </p:cNvPr>
          <p:cNvPicPr>
            <a:picLocks noChangeAspect="1"/>
          </p:cNvPicPr>
          <p:nvPr/>
        </p:nvPicPr>
        <p:blipFill>
          <a:blip r:embed="rId4"/>
          <a:srcRect l="0" r="0" t="0" b="0"/>
          <a:stretch/>
        </p:blipFill>
        <p:spPr>
          <a:xfrm>
            <a:off x="3562350" y="3155950"/>
            <a:ext cx="254000" cy="254000"/>
          </a:xfrm>
          <a:prstGeom prst="rect">
            <a:avLst/>
          </a:prstGeom>
        </p:spPr>
      </p:pic>
      <p:sp>
        <p:nvSpPr>
          <p:cNvPr id="16" name="Text 10"/>
          <p:cNvSpPr/>
          <p:nvPr/>
        </p:nvSpPr>
        <p:spPr>
          <a:xfrm>
            <a:off x="3917950" y="3178175"/>
            <a:ext cx="187058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8"/>
                </a:solidFill>
                <a:latin typeface="IBM Plex Sans" pitchFamily="34" charset="0"/>
                <a:ea typeface="IBM Plex Sans" pitchFamily="34" charset="-122"/>
                <a:cs typeface="IBM Plex Sans" pitchFamily="34" charset="-120"/>
              </a:rPr>
              <a:t>Dokumentation</a:t>
            </a:r>
            <a:endParaRPr lang="en-US" sz="1200" dirty="0"/>
          </a:p>
        </p:txBody>
      </p:sp>
      <p:sp>
        <p:nvSpPr>
          <p:cNvPr id="17" name="Text 11"/>
          <p:cNvSpPr/>
          <p:nvPr/>
        </p:nvSpPr>
        <p:spPr>
          <a:xfrm>
            <a:off x="812800" y="3721100"/>
            <a:ext cx="523240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Jede Änderung prüft eine zweite Person. Am Checkpoint kann jede Person zu jedem Teil gefragt werden.</a:t>
            </a:r>
            <a:endParaRPr lang="en-US" sz="1200" dirty="0"/>
          </a:p>
        </p:txBody>
      </p:sp>
      <p:sp>
        <p:nvSpPr>
          <p:cNvPr id="18" name="Text 12"/>
          <p:cNvSpPr/>
          <p:nvPr/>
        </p:nvSpPr>
        <p:spPr>
          <a:xfrm>
            <a:off x="6299200" y="1930400"/>
            <a:ext cx="523240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1"/>
                </a:solidFill>
                <a:latin typeface="IBM Plex Sans" pitchFamily="34" charset="0"/>
                <a:ea typeface="IBM Plex Sans" pitchFamily="34" charset="-122"/>
                <a:cs typeface="IBM Plex Sans" pitchFamily="34" charset="-120"/>
              </a:rPr>
              <a:t>Rhythmus in jeder Lektion</a:t>
            </a:r>
            <a:endParaRPr lang="en-US" sz="1600" dirty="0"/>
          </a:p>
        </p:txBody>
      </p:sp>
      <p:sp>
        <p:nvSpPr>
          <p:cNvPr id="19" name="Shape 13"/>
          <p:cNvSpPr/>
          <p:nvPr/>
        </p:nvSpPr>
        <p:spPr>
          <a:xfrm>
            <a:off x="6299200" y="2324100"/>
            <a:ext cx="1144290" cy="361950"/>
          </a:xfrm>
          <a:prstGeom prst="roundRect">
            <a:avLst>
              <a:gd name="adj" fmla="val 50000"/>
            </a:avLst>
          </a:prstGeom>
          <a:solidFill>
            <a:srgbClr val="F2994A"/>
          </a:solidFill>
          <a:ln/>
        </p:spPr>
      </p:sp>
      <p:sp>
        <p:nvSpPr>
          <p:cNvPr id="20" name="Text 14"/>
          <p:cNvSpPr/>
          <p:nvPr/>
        </p:nvSpPr>
        <p:spPr>
          <a:xfrm>
            <a:off x="6426200" y="2400300"/>
            <a:ext cx="94109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B24"/>
                </a:solidFill>
                <a:latin typeface="IBM Plex Sans" pitchFamily="34" charset="0"/>
                <a:ea typeface="IBM Plex Sans" pitchFamily="34" charset="-122"/>
                <a:cs typeface="IBM Plex Sans" pitchFamily="34" charset="-120"/>
              </a:rPr>
              <a:t>Vorhersagen</a:t>
            </a:r>
            <a:endParaRPr lang="en-US" sz="1200" dirty="0"/>
          </a:p>
        </p:txBody>
      </p:sp>
      <p:pic>
        <p:nvPicPr>
          <p:cNvPr id="21" name="Image 4" descr="arrow-right">    </p:cNvPr>
          <p:cNvPicPr>
            <a:picLocks noChangeAspect="1"/>
          </p:cNvPicPr>
          <p:nvPr/>
        </p:nvPicPr>
        <p:blipFill>
          <a:blip r:embed="rId5"/>
          <a:srcRect l="0" r="0" t="0" b="0"/>
          <a:stretch/>
        </p:blipFill>
        <p:spPr>
          <a:xfrm>
            <a:off x="7519690" y="2441575"/>
            <a:ext cx="203200" cy="127000"/>
          </a:xfrm>
          <a:prstGeom prst="rect">
            <a:avLst/>
          </a:prstGeom>
        </p:spPr>
      </p:pic>
      <p:sp>
        <p:nvSpPr>
          <p:cNvPr id="22" name="Shape 15"/>
          <p:cNvSpPr/>
          <p:nvPr/>
        </p:nvSpPr>
        <p:spPr>
          <a:xfrm>
            <a:off x="7799090" y="2324100"/>
            <a:ext cx="1101130" cy="361950"/>
          </a:xfrm>
          <a:prstGeom prst="roundRect">
            <a:avLst>
              <a:gd name="adj" fmla="val 50000"/>
            </a:avLst>
          </a:prstGeom>
          <a:solidFill>
            <a:srgbClr val="F2994A"/>
          </a:solidFill>
          <a:ln/>
        </p:spPr>
      </p:sp>
      <p:sp>
        <p:nvSpPr>
          <p:cNvPr id="23" name="Text 16"/>
          <p:cNvSpPr/>
          <p:nvPr/>
        </p:nvSpPr>
        <p:spPr>
          <a:xfrm>
            <a:off x="7926090" y="2400300"/>
            <a:ext cx="89793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B24"/>
                </a:solidFill>
                <a:latin typeface="IBM Plex Sans" pitchFamily="34" charset="0"/>
                <a:ea typeface="IBM Plex Sans" pitchFamily="34" charset="-122"/>
                <a:cs typeface="IBM Plex Sans" pitchFamily="34" charset="-120"/>
              </a:rPr>
              <a:t>Beobachten</a:t>
            </a:r>
            <a:endParaRPr lang="en-US" sz="1200" dirty="0"/>
          </a:p>
        </p:txBody>
      </p:sp>
      <p:pic>
        <p:nvPicPr>
          <p:cNvPr id="24" name="Image 5" descr="arrow-right">    </p:cNvPr>
          <p:cNvPicPr>
            <a:picLocks noChangeAspect="1"/>
          </p:cNvPicPr>
          <p:nvPr/>
        </p:nvPicPr>
        <p:blipFill>
          <a:blip r:embed="rId6"/>
          <a:srcRect l="0" r="0" t="0" b="0"/>
          <a:stretch/>
        </p:blipFill>
        <p:spPr>
          <a:xfrm>
            <a:off x="8976420" y="2441575"/>
            <a:ext cx="203200" cy="127000"/>
          </a:xfrm>
          <a:prstGeom prst="rect">
            <a:avLst/>
          </a:prstGeom>
        </p:spPr>
      </p:pic>
      <p:sp>
        <p:nvSpPr>
          <p:cNvPr id="25" name="Shape 17"/>
          <p:cNvSpPr/>
          <p:nvPr/>
        </p:nvSpPr>
        <p:spPr>
          <a:xfrm>
            <a:off x="9255820" y="2324100"/>
            <a:ext cx="854770" cy="361950"/>
          </a:xfrm>
          <a:prstGeom prst="roundRect">
            <a:avLst>
              <a:gd name="adj" fmla="val 50000"/>
            </a:avLst>
          </a:prstGeom>
          <a:solidFill>
            <a:srgbClr val="F2994A"/>
          </a:solidFill>
          <a:ln/>
        </p:spPr>
      </p:sp>
      <p:sp>
        <p:nvSpPr>
          <p:cNvPr id="26" name="Text 18"/>
          <p:cNvSpPr/>
          <p:nvPr/>
        </p:nvSpPr>
        <p:spPr>
          <a:xfrm>
            <a:off x="9382820" y="2400300"/>
            <a:ext cx="65157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B24"/>
                </a:solidFill>
                <a:latin typeface="IBM Plex Sans" pitchFamily="34" charset="0"/>
                <a:ea typeface="IBM Plex Sans" pitchFamily="34" charset="-122"/>
                <a:cs typeface="IBM Plex Sans" pitchFamily="34" charset="-120"/>
              </a:rPr>
              <a:t>Erklären</a:t>
            </a:r>
            <a:endParaRPr lang="en-US" sz="1200" dirty="0"/>
          </a:p>
        </p:txBody>
      </p:sp>
      <p:sp>
        <p:nvSpPr>
          <p:cNvPr id="27" name="Text 19"/>
          <p:cNvSpPr/>
          <p:nvPr/>
        </p:nvSpPr>
        <p:spPr>
          <a:xfrm>
            <a:off x="6299200" y="2838450"/>
            <a:ext cx="523240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4F5F1"/>
                </a:solidFill>
                <a:latin typeface="IBM Plex Sans" pitchFamily="34" charset="0"/>
                <a:ea typeface="IBM Plex Sans" pitchFamily="34" charset="-122"/>
                <a:cs typeface="IBM Plex Sans" pitchFamily="34" charset="-120"/>
              </a:rPr>
              <a:t>Wo Vorhersage und Ergebnis auseinandergehen, lernt ihr am meisten.</a:t>
            </a:r>
            <a:endParaRPr lang="en-US" sz="2200" dirty="0"/>
          </a:p>
        </p:txBody>
      </p:sp>
      <p:sp>
        <p:nvSpPr>
          <p:cNvPr id="28" name="Text 20"/>
          <p:cNvSpPr/>
          <p:nvPr/>
        </p:nvSpPr>
        <p:spPr>
          <a:xfrm>
            <a:off x="6299200" y="3689350"/>
            <a:ext cx="523240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Festgehalten im gemeinsamen Lab-Journal, Grundlage für den Laborbericht.</a:t>
            </a:r>
            <a:endParaRPr lang="en-US" sz="1200" dirty="0"/>
          </a:p>
        </p:txBody>
      </p:sp>
      <p:sp>
        <p:nvSpPr>
          <p:cNvPr id="29" name="Text 21"/>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30" name="Text 22"/>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41A"/>
                </a:solidFill>
                <a:latin typeface="IBM Plex Sans" pitchFamily="34" charset="0"/>
                <a:ea typeface="IBM Plex Sans" pitchFamily="34" charset="-122"/>
                <a:cs typeface="IBM Plex Sans" pitchFamily="34" charset="-120"/>
              </a:rPr>
              <a:t>BOOTCAMP</a:t>
            </a:r>
            <a:endParaRPr lang="en-US" sz="1200" dirty="0"/>
          </a:p>
        </p:txBody>
      </p:sp>
      <p:sp>
        <p:nvSpPr>
          <p:cNvPr id="3" name="Text 1"/>
          <p:cNvSpPr/>
          <p:nvPr>
            <p:ph type="title"/>
          </p:nvPr>
        </p:nvSpPr>
        <p:spPr>
          <a:xfrm>
            <a:off x="812800" y="11239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B24"/>
                </a:solidFill>
                <a:latin typeface="Space Grotesk" pitchFamily="34" charset="0"/>
                <a:ea typeface="Space Grotesk" pitchFamily="34" charset="-122"/>
                <a:cs typeface="Space Grotesk" pitchFamily="34" charset="-120"/>
              </a:rPr>
              <a:t>Heute spielt ihr selbst den Agenten</a:t>
            </a:r>
            <a:endParaRPr lang="en-US" sz="3600" dirty="0"/>
          </a:p>
        </p:txBody>
      </p:sp>
      <p:sp>
        <p:nvSpPr>
          <p:cNvPr id="4" name="Shape 2"/>
          <p:cNvSpPr/>
          <p:nvPr/>
        </p:nvSpPr>
        <p:spPr>
          <a:xfrm>
            <a:off x="815975" y="1933575"/>
            <a:ext cx="3414216" cy="1663700"/>
          </a:xfrm>
          <a:prstGeom prst="roundRect">
            <a:avLst>
              <a:gd name="adj" fmla="val 7443"/>
            </a:avLst>
          </a:prstGeom>
          <a:solidFill>
            <a:srgbClr val="FBFBF8"/>
          </a:solidFill>
          <a:ln w="6350">
            <a:solidFill>
              <a:srgbClr val="D5DAD3"/>
            </a:solidFill>
            <a:prstDash val="solid"/>
          </a:ln>
        </p:spPr>
      </p:sp>
      <p:sp>
        <p:nvSpPr>
          <p:cNvPr id="5" name="Text 3"/>
          <p:cNvSpPr/>
          <p:nvPr/>
        </p:nvSpPr>
        <p:spPr>
          <a:xfrm>
            <a:off x="1073150" y="2165350"/>
            <a:ext cx="2986862"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A0"/>
                </a:solidFill>
                <a:latin typeface="Space Grotesk" pitchFamily="34" charset="0"/>
                <a:ea typeface="Space Grotesk" pitchFamily="34" charset="-122"/>
                <a:cs typeface="Space Grotesk" pitchFamily="34" charset="-120"/>
              </a:rPr>
              <a:t>1</a:t>
            </a:r>
            <a:endParaRPr lang="en-US" sz="2200" dirty="0"/>
          </a:p>
        </p:txBody>
      </p:sp>
      <p:sp>
        <p:nvSpPr>
          <p:cNvPr id="6" name="Text 4"/>
          <p:cNvSpPr/>
          <p:nvPr/>
        </p:nvSpPr>
        <p:spPr>
          <a:xfrm>
            <a:off x="1073150" y="2628900"/>
            <a:ext cx="2986862"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Einrichten</a:t>
            </a:r>
            <a:endParaRPr lang="en-US" sz="1600" dirty="0"/>
          </a:p>
        </p:txBody>
      </p:sp>
      <p:sp>
        <p:nvSpPr>
          <p:cNvPr id="7" name="Text 5"/>
          <p:cNvSpPr/>
          <p:nvPr/>
        </p:nvSpPr>
        <p:spPr>
          <a:xfrm>
            <a:off x="1073150" y="2946400"/>
            <a:ext cx="298686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Repository klonen, Simulator starten, Selbsttest</a:t>
            </a:r>
            <a:endParaRPr lang="en-US" sz="1200" dirty="0"/>
          </a:p>
        </p:txBody>
      </p:sp>
      <p:sp>
        <p:nvSpPr>
          <p:cNvPr id="8" name="Shape 6"/>
          <p:cNvSpPr/>
          <p:nvPr/>
        </p:nvSpPr>
        <p:spPr>
          <a:xfrm>
            <a:off x="4388941" y="1933575"/>
            <a:ext cx="3414216" cy="1663700"/>
          </a:xfrm>
          <a:prstGeom prst="roundRect">
            <a:avLst>
              <a:gd name="adj" fmla="val 7443"/>
            </a:avLst>
          </a:prstGeom>
          <a:solidFill>
            <a:srgbClr val="FBFBF8"/>
          </a:solidFill>
          <a:ln w="6350">
            <a:solidFill>
              <a:srgbClr val="D5DAD3"/>
            </a:solidFill>
            <a:prstDash val="solid"/>
          </a:ln>
        </p:spPr>
      </p:sp>
      <p:sp>
        <p:nvSpPr>
          <p:cNvPr id="9" name="Text 7"/>
          <p:cNvSpPr/>
          <p:nvPr/>
        </p:nvSpPr>
        <p:spPr>
          <a:xfrm>
            <a:off x="4646116" y="2165350"/>
            <a:ext cx="2986862"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A0"/>
                </a:solidFill>
                <a:latin typeface="Space Grotesk" pitchFamily="34" charset="0"/>
                <a:ea typeface="Space Grotesk" pitchFamily="34" charset="-122"/>
                <a:cs typeface="Space Grotesk" pitchFamily="34" charset="-120"/>
              </a:rPr>
              <a:t>2</a:t>
            </a:r>
            <a:endParaRPr lang="en-US" sz="2200" dirty="0"/>
          </a:p>
        </p:txBody>
      </p:sp>
      <p:sp>
        <p:nvSpPr>
          <p:cNvPr id="10" name="Text 8"/>
          <p:cNvSpPr/>
          <p:nvPr/>
        </p:nvSpPr>
        <p:spPr>
          <a:xfrm>
            <a:off x="4646116" y="2628900"/>
            <a:ext cx="2986862"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Grundlagen</a:t>
            </a:r>
            <a:endParaRPr lang="en-US" sz="1600" dirty="0"/>
          </a:p>
        </p:txBody>
      </p:sp>
      <p:sp>
        <p:nvSpPr>
          <p:cNvPr id="11" name="Text 9"/>
          <p:cNvSpPr/>
          <p:nvPr/>
        </p:nvSpPr>
        <p:spPr>
          <a:xfrm>
            <a:off x="4646116" y="2946400"/>
            <a:ext cx="298686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Stufe 0: gemeinsames Bild von Agent, Werkzeugen und Grenzen</a:t>
            </a:r>
            <a:endParaRPr lang="en-US" sz="1200" dirty="0"/>
          </a:p>
        </p:txBody>
      </p:sp>
      <p:sp>
        <p:nvSpPr>
          <p:cNvPr id="12" name="Shape 10"/>
          <p:cNvSpPr/>
          <p:nvPr/>
        </p:nvSpPr>
        <p:spPr>
          <a:xfrm>
            <a:off x="7961908" y="1933575"/>
            <a:ext cx="3414216" cy="1663700"/>
          </a:xfrm>
          <a:prstGeom prst="roundRect">
            <a:avLst>
              <a:gd name="adj" fmla="val 7443"/>
            </a:avLst>
          </a:prstGeom>
          <a:solidFill>
            <a:srgbClr val="FBFBF8"/>
          </a:solidFill>
          <a:ln w="6350">
            <a:solidFill>
              <a:srgbClr val="D5DAD3"/>
            </a:solidFill>
            <a:prstDash val="solid"/>
          </a:ln>
        </p:spPr>
      </p:sp>
      <p:sp>
        <p:nvSpPr>
          <p:cNvPr id="13" name="Text 11"/>
          <p:cNvSpPr/>
          <p:nvPr/>
        </p:nvSpPr>
        <p:spPr>
          <a:xfrm>
            <a:off x="8219083" y="2165350"/>
            <a:ext cx="2986862"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A0"/>
                </a:solidFill>
                <a:latin typeface="Space Grotesk" pitchFamily="34" charset="0"/>
                <a:ea typeface="Space Grotesk" pitchFamily="34" charset="-122"/>
                <a:cs typeface="Space Grotesk" pitchFamily="34" charset="-120"/>
              </a:rPr>
              <a:t>3</a:t>
            </a:r>
            <a:endParaRPr lang="en-US" sz="2200" dirty="0"/>
          </a:p>
        </p:txBody>
      </p:sp>
      <p:sp>
        <p:nvSpPr>
          <p:cNvPr id="14" name="Text 12"/>
          <p:cNvSpPr/>
          <p:nvPr/>
        </p:nvSpPr>
        <p:spPr>
          <a:xfrm>
            <a:off x="8219083" y="2628900"/>
            <a:ext cx="2986862"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B24"/>
                </a:solidFill>
                <a:latin typeface="IBM Plex Sans" pitchFamily="34" charset="0"/>
                <a:ea typeface="IBM Plex Sans" pitchFamily="34" charset="-122"/>
                <a:cs typeface="IBM Plex Sans" pitchFamily="34" charset="-120"/>
              </a:rPr>
              <a:t>Agent spielen</a:t>
            </a:r>
            <a:endParaRPr lang="en-US" sz="1600" dirty="0"/>
          </a:p>
        </p:txBody>
      </p:sp>
      <p:sp>
        <p:nvSpPr>
          <p:cNvPr id="15" name="Text 13"/>
          <p:cNvSpPr/>
          <p:nvPr/>
        </p:nvSpPr>
        <p:spPr>
          <a:xfrm>
            <a:off x="8219083" y="2946400"/>
            <a:ext cx="298686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Stufe 1: eine Lage in der Recovery Console von Hand lösen</a:t>
            </a:r>
            <a:endParaRPr lang="en-US" sz="1200" dirty="0"/>
          </a:p>
        </p:txBody>
      </p:sp>
      <p:sp>
        <p:nvSpPr>
          <p:cNvPr id="16" name="Text 14"/>
          <p:cNvSpPr/>
          <p:nvPr/>
        </p:nvSpPr>
        <p:spPr>
          <a:xfrm>
            <a:off x="812800" y="3905250"/>
            <a:ext cx="10566400" cy="1143000"/>
          </a:xfrm>
          <a:prstGeom prst="roundRect">
            <a:avLst>
              <a:gd name="adj" fmla="val 11111"/>
            </a:avLst>
          </a:prstGeom>
          <a:solidFill>
            <a:srgbClr val="121B24"/>
          </a:solidFill>
          <a:ln/>
        </p:spPr>
        <p:txBody>
          <a:bodyPr wrap="square" lIns="216803" tIns="191403" rIns="0" bIns="166003" rtlCol="0" anchor="t">
            <a:normAutofit/>
          </a:bodyPr>
          <a:lstStyle/>
          <a:p>
            <a:pPr algn="l" indent="0" marL="0">
              <a:lnSpc>
                <a:spcPts val="1800"/>
              </a:lnSpc>
              <a:buNone/>
            </a:pPr>
            <a:r>
              <a:rPr lang="en-US" sz="1200" dirty="0">
                <a:solidFill>
                  <a:srgbClr val="DCE3E8"/>
                </a:solidFill>
                <a:latin typeface="JetBrains Mono" pitchFamily="49" charset="0"/>
                <a:ea typeface="JetBrains Mono" pitchFamily="49" charset="-122"/>
                <a:cs typeface="JetBrains Mono" pitchFamily="49" charset="-120"/>
              </a:rPr>
              <a:t>git clone https://github.com/sebastian-kleinschmidt/autonomy_recovery_lab.git</a:t>
            </a:r>
            <a:endParaRPr lang="en-US" sz="1200" dirty="0"/>
          </a:p>
          <a:p>
            <a:pPr algn="l" indent="0" marL="0">
              <a:lnSpc>
                <a:spcPts val="1800"/>
              </a:lnSpc>
              <a:buNone/>
            </a:pPr>
            <a:r>
              <a:rPr lang="en-US" sz="1200" dirty="0">
                <a:solidFill>
                  <a:srgbClr val="DCE3E8"/>
                </a:solidFill>
                <a:latin typeface="JetBrains Mono" pitchFamily="49" charset="0"/>
                <a:ea typeface="JetBrains Mono" pitchFamily="49" charset="-122"/>
                <a:cs typeface="JetBrains Mono" pitchFamily="49" charset="-120"/>
              </a:rPr>
              <a:t>cd autonomy_recovery_lab</a:t>
            </a:r>
            <a:endParaRPr lang="en-US" sz="1200" dirty="0"/>
          </a:p>
          <a:p>
            <a:pPr algn="l" indent="0" marL="0">
              <a:lnSpc>
                <a:spcPts val="1800"/>
              </a:lnSpc>
              <a:buNone/>
            </a:pPr>
            <a:r>
              <a:rPr lang="en-US" sz="1200" dirty="0">
                <a:solidFill>
                  <a:srgbClr val="DCE3E8"/>
                </a:solidFill>
                <a:latin typeface="JetBrains Mono" pitchFamily="49" charset="0"/>
                <a:ea typeface="JetBrains Mono" pitchFamily="49" charset="-122"/>
                <a:cs typeface="JetBrains Mono" pitchFamily="49" charset="-120"/>
              </a:rPr>
              <a:t>python3 -m autonomy_recovery_sim.live</a:t>
            </a:r>
            <a:r>
              <a:rPr lang="en-US" sz="1200" dirty="0">
                <a:solidFill>
                  <a:srgbClr val="8C99A4"/>
                </a:solidFill>
                <a:latin typeface="JetBrains Mono" pitchFamily="49" charset="0"/>
                <a:ea typeface="JetBrains Mono" pitchFamily="49" charset="-122"/>
                <a:cs typeface="JetBrains Mono" pitchFamily="49" charset="-120"/>
              </a:rPr>
              <a:t>   # dann http://127.0.0.1:8765 öffnen</a:t>
            </a:r>
            <a:endParaRPr lang="en-US" sz="1200" dirty="0"/>
          </a:p>
        </p:txBody>
      </p:sp>
      <p:sp>
        <p:nvSpPr>
          <p:cNvPr id="17" name="Text 15"/>
          <p:cNvSpPr/>
          <p:nvPr/>
        </p:nvSpPr>
        <p:spPr>
          <a:xfrm>
            <a:off x="812800" y="5353050"/>
            <a:ext cx="1088339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BM Plex Sans" pitchFamily="34" charset="0"/>
                <a:ea typeface="IBM Plex Sans" pitchFamily="34" charset="-122"/>
                <a:cs typeface="IBM Plex Sans" pitchFamily="34" charset="-120"/>
              </a:rPr>
              <a:t>Kein API-Schlüssel nötig: Der ganze Track läuft auch mit einem lokalen Spielmodell. Einstieg in den Lernpfad: </a:t>
            </a:r>
            <a:r>
              <a:rPr lang="en-US" sz="1200" dirty="0">
                <a:solidFill>
                  <a:srgbClr val="121B24"/>
                </a:solidFill>
                <a:latin typeface="IBM Plex Sans" pitchFamily="34" charset="0"/>
                <a:ea typeface="IBM Plex Sans" pitchFamily="34" charset="-122"/>
                <a:cs typeface="IBM Plex Sans" pitchFamily="34" charset="-120"/>
              </a:rPr>
              <a:t>autonomy_recovery_sim/tutorials/README.md</a:t>
            </a:r>
            <a:endParaRPr lang="en-US" sz="1200" dirty="0"/>
          </a:p>
        </p:txBody>
      </p:sp>
      <p:sp>
        <p:nvSpPr>
          <p:cNvPr id="18" name="Text 16"/>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19" name="Text 17"/>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B24"/>
        </a:solidFill>
      </p:bgPr>
    </p:bg>
    <p:spTree>
      <p:nvGrpSpPr>
        <p:cNvPr id="1" name=""/>
        <p:cNvGrpSpPr/>
        <p:nvPr/>
      </p:nvGrpSpPr>
      <p:grpSpPr>
        <a:xfrm>
          <a:off x="0" y="0"/>
          <a:ext cx="0" cy="0"/>
          <a:chOff x="0" y="0"/>
          <a:chExt cx="0" cy="0"/>
        </a:xfrm>
      </p:grpSpPr>
      <p:sp>
        <p:nvSpPr>
          <p:cNvPr id="2" name="Text 0"/>
          <p:cNvSpPr/>
          <p:nvPr/>
        </p:nvSpPr>
        <p:spPr>
          <a:xfrm>
            <a:off x="812800" y="1501775"/>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994A"/>
                </a:solidFill>
                <a:latin typeface="IBM Plex Sans" pitchFamily="34" charset="0"/>
                <a:ea typeface="IBM Plex Sans" pitchFamily="34" charset="-122"/>
                <a:cs typeface="IBM Plex Sans" pitchFamily="34" charset="-120"/>
              </a:rPr>
              <a:t>ZUM MITNEHMEN</a:t>
            </a:r>
            <a:endParaRPr lang="en-US" sz="1200" dirty="0"/>
          </a:p>
        </p:txBody>
      </p:sp>
      <p:sp>
        <p:nvSpPr>
          <p:cNvPr id="3" name="Text 1"/>
          <p:cNvSpPr/>
          <p:nvPr>
            <p:ph type="title"/>
          </p:nvPr>
        </p:nvSpPr>
        <p:spPr>
          <a:xfrm>
            <a:off x="812800" y="2066925"/>
            <a:ext cx="10883392" cy="106680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5F1"/>
                </a:solidFill>
                <a:latin typeface="Space Grotesk" pitchFamily="34" charset="0"/>
                <a:ea typeface="Space Grotesk" pitchFamily="34" charset="-122"/>
                <a:cs typeface="Space Grotesk" pitchFamily="34" charset="-120"/>
              </a:rPr>
              <a:t>Ein Agent, der im Normalfall funktioniert, ist noch kein guter Agent.</a:t>
            </a:r>
            <a:endParaRPr lang="en-US" sz="3600" dirty="0"/>
          </a:p>
        </p:txBody>
      </p:sp>
      <p:sp>
        <p:nvSpPr>
          <p:cNvPr id="4" name="Text 2"/>
          <p:cNvSpPr/>
          <p:nvPr/>
        </p:nvSpPr>
        <p:spPr>
          <a:xfrm>
            <a:off x="812800" y="3463925"/>
            <a:ext cx="10883392"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B9C4CC"/>
                </a:solidFill>
                <a:latin typeface="IBM Plex Sans" pitchFamily="34" charset="0"/>
                <a:ea typeface="IBM Plex Sans" pitchFamily="34" charset="-122"/>
                <a:cs typeface="IBM Plex Sans" pitchFamily="34" charset="-120"/>
              </a:rPr>
              <a:t>Gut wird er erst, wenn er Zweifel erkennt, Quellen prüft und sicher bleibt, wenn sich die Lage ändert.</a:t>
            </a:r>
            <a:endParaRPr lang="en-US" sz="2200" dirty="0"/>
          </a:p>
        </p:txBody>
      </p:sp>
      <p:sp>
        <p:nvSpPr>
          <p:cNvPr id="5" name="Text 3"/>
          <p:cNvSpPr/>
          <p:nvPr/>
        </p:nvSpPr>
        <p:spPr>
          <a:xfrm>
            <a:off x="812800" y="4518025"/>
            <a:ext cx="10883392" cy="66040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2994A"/>
                </a:solidFill>
                <a:latin typeface="Space Grotesk" pitchFamily="34" charset="0"/>
                <a:ea typeface="Space Grotesk" pitchFamily="34" charset="-122"/>
                <a:cs typeface="Space Grotesk" pitchFamily="34" charset="-120"/>
              </a:rPr>
              <a:t>Fragen?</a:t>
            </a:r>
            <a:endParaRPr lang="en-US" sz="3600" dirty="0"/>
          </a:p>
        </p:txBody>
      </p:sp>
      <p:sp>
        <p:nvSpPr>
          <p:cNvPr id="6" name="Text 4"/>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Autonomy Recovery Lab · Einstieg</a:t>
            </a:r>
            <a:endParaRPr lang="en-US" sz="1200" dirty="0"/>
          </a:p>
        </p:txBody>
      </p:sp>
      <p:sp>
        <p:nvSpPr>
          <p:cNvPr id="7" name="Text 5"/>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9A4"/>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theme/theme1.xml><?xml version="1.0" encoding="utf-8"?>
<a:theme xmlns:a="http://schemas.openxmlformats.org/drawingml/2006/main" name="Autonomy Recovery Lab – Einstieg">
  <a:themeElements>
    <a:clrScheme name="Autonomy Recovery Lab – Einstieg">
      <a:dk1>
        <a:srgbClr val="121B24"/>
      </a:dk1>
      <a:lt1>
        <a:srgbClr val="F4F5F1"/>
      </a:lt1>
      <a:dk2>
        <a:srgbClr val="293139"/>
      </a:dk2>
      <a:lt2>
        <a:srgbClr val="BCBFBE"/>
      </a:lt2>
      <a:accent1>
        <a:srgbClr val="2A64A0"/>
      </a:accent1>
      <a:accent2>
        <a:srgbClr val="F2994A"/>
      </a:accent2>
      <a:accent3>
        <a:srgbClr val="B4541A"/>
      </a:accent3>
      <a:accent4>
        <a:srgbClr val="7FB2E5"/>
      </a:accent4>
      <a:accent5>
        <a:srgbClr val="F2C14E"/>
      </a:accent5>
      <a:accent6>
        <a:srgbClr val="E8782A"/>
      </a:accent6>
      <a:hlink>
        <a:srgbClr val="0563C1"/>
      </a:hlink>
      <a:folHlink>
        <a:srgbClr val="954F72"/>
      </a:folHlink>
    </a:clrScheme>
    <a:fontScheme name="Autonomy Recovery Lab – Einstie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Autonomy Recovery Lab – Einstieg</dc:title>
  <dc:subject/>
  <dc:creator/>
  <cp:lastModifiedBy/>
  <cp:revision>1</cp:revision>
  <dcterms:created xsi:type="dcterms:W3CDTF">2026-10-08T07:57:43Z</dcterms:created>
  <dcterms:modified xsi:type="dcterms:W3CDTF">2026-10-08T07:57:43Z</dcterms:modified>
</cp:coreProperties>
</file>