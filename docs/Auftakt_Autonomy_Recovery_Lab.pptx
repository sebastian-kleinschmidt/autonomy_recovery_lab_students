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ad37f146bab48af" /><Relationship Type="http://schemas.openxmlformats.org/officeDocument/2006/relationships/extended-properties" Target="/docProps/app.xml" Id="R52d5395fe9e44966" /><Relationship Type="http://schemas.openxmlformats.org/officeDocument/2006/relationships/officeDocument" Target="/ppt/presentation.xml" Id="R2949004364204d55" /></Relationships>
</file>

<file path=ppt/presentation.xml><?xml version="1.0" encoding="utf-8"?>
<p:presentation xmlns:p="http://schemas.openxmlformats.org/presentationml/2006/main">
  <p:sldMasterIdLst>
    <p:sldMasterId xmlns:r="http://schemas.openxmlformats.org/officeDocument/2006/relationships" id="2147483648" r:id="R7fd39129356140f8"/>
  </p:sldMasterIdLst>
  <p:notesMasterIdLst>
    <p:notesMasterId xmlns:r="http://schemas.openxmlformats.org/officeDocument/2006/relationships" r:id="Re31c927307fa4b45"/>
  </p:notesMasterIdLst>
  <p:sldIdLst>
    <p:sldId xmlns:r="http://schemas.openxmlformats.org/officeDocument/2006/relationships" id="256" r:id="Rede7f74704de4c24"/>
    <p:sldId xmlns:r="http://schemas.openxmlformats.org/officeDocument/2006/relationships" id="257" r:id="R32eb4b6172034583"/>
    <p:sldId xmlns:r="http://schemas.openxmlformats.org/officeDocument/2006/relationships" id="258" r:id="R8775258321a241e6"/>
    <p:sldId xmlns:r="http://schemas.openxmlformats.org/officeDocument/2006/relationships" id="259" r:id="R8acea7a8b1b44089"/>
    <p:sldId xmlns:r="http://schemas.openxmlformats.org/officeDocument/2006/relationships" id="260" r:id="Rc6be554883fa4dab"/>
    <p:sldId xmlns:r="http://schemas.openxmlformats.org/officeDocument/2006/relationships" id="261" r:id="R396c8be394a94eb4"/>
    <p:sldId xmlns:r="http://schemas.openxmlformats.org/officeDocument/2006/relationships" id="262" r:id="R539f07f7023f4c24"/>
    <p:sldId xmlns:r="http://schemas.openxmlformats.org/officeDocument/2006/relationships" id="263" r:id="Raa0b74ec96ec4752"/>
    <p:sldId xmlns:r="http://schemas.openxmlformats.org/officeDocument/2006/relationships" id="264" r:id="R776276b75d4c4d27"/>
    <p:sldId xmlns:r="http://schemas.openxmlformats.org/officeDocument/2006/relationships" id="265" r:id="R13554207f9664d3c"/>
    <p:sldId xmlns:r="http://schemas.openxmlformats.org/officeDocument/2006/relationships" id="266" r:id="Rccb99725313a44f8"/>
    <p:sldId xmlns:r="http://schemas.openxmlformats.org/officeDocument/2006/relationships" id="267" r:id="R57e2e01a98274142"/>
    <p:sldId xmlns:r="http://schemas.openxmlformats.org/officeDocument/2006/relationships" id="268" r:id="Rc7d5c18e8f6040a6"/>
    <p:sldId xmlns:r="http://schemas.openxmlformats.org/officeDocument/2006/relationships" id="269" r:id="Rac191b0087274c65"/>
    <p:sldId xmlns:r="http://schemas.openxmlformats.org/officeDocument/2006/relationships" id="270" r:id="Raa3e642267f44db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7fd39129356140f8" /><Relationship Type="http://schemas.openxmlformats.org/officeDocument/2006/relationships/theme" Target="/ppt/theme/theme1.xml" Id="R4cd3c84faab6454e" /><Relationship Type="http://schemas.openxmlformats.org/officeDocument/2006/relationships/notesMaster" Target="/ppt/notesMasters/notesMaster1.xml" Id="Re31c927307fa4b45" /><Relationship Type="http://schemas.openxmlformats.org/officeDocument/2006/relationships/presProps" Target="/ppt/presProps.xml" Id="R7bb628f078c442ee" /><Relationship Type="http://schemas.openxmlformats.org/officeDocument/2006/relationships/viewProps" Target="/ppt/viewProps.xml" Id="R2ba6972cc97e4045" /><Relationship Type="http://schemas.openxmlformats.org/officeDocument/2006/relationships/tableStyles" Target="/ppt/tableStyles.xml" Id="R974a8501b4fd4332" /><Relationship Type="http://schemas.openxmlformats.org/officeDocument/2006/relationships/slide" Target="/ppt/slides/slide1.xml" Id="Rede7f74704de4c24" /><Relationship Type="http://schemas.openxmlformats.org/officeDocument/2006/relationships/slide" Target="/ppt/slides/slide2.xml" Id="R32eb4b6172034583" /><Relationship Type="http://schemas.openxmlformats.org/officeDocument/2006/relationships/slide" Target="/ppt/slides/slide3.xml" Id="R8775258321a241e6" /><Relationship Type="http://schemas.openxmlformats.org/officeDocument/2006/relationships/slide" Target="/ppt/slides/slide4.xml" Id="R8acea7a8b1b44089" /><Relationship Type="http://schemas.openxmlformats.org/officeDocument/2006/relationships/slide" Target="/ppt/slides/slide5.xml" Id="Rc6be554883fa4dab" /><Relationship Type="http://schemas.openxmlformats.org/officeDocument/2006/relationships/slide" Target="/ppt/slides/slide6.xml" Id="R396c8be394a94eb4" /><Relationship Type="http://schemas.openxmlformats.org/officeDocument/2006/relationships/slide" Target="/ppt/slides/slide7.xml" Id="R539f07f7023f4c24" /><Relationship Type="http://schemas.openxmlformats.org/officeDocument/2006/relationships/slide" Target="/ppt/slides/slide8.xml" Id="Raa0b74ec96ec4752" /><Relationship Type="http://schemas.openxmlformats.org/officeDocument/2006/relationships/slide" Target="/ppt/slides/slide9.xml" Id="R776276b75d4c4d27" /><Relationship Type="http://schemas.openxmlformats.org/officeDocument/2006/relationships/slide" Target="/ppt/slides/slide10.xml" Id="R13554207f9664d3c" /><Relationship Type="http://schemas.openxmlformats.org/officeDocument/2006/relationships/slide" Target="/ppt/slides/slide11.xml" Id="Rccb99725313a44f8" /><Relationship Type="http://schemas.openxmlformats.org/officeDocument/2006/relationships/slide" Target="/ppt/slides/slide12.xml" Id="R57e2e01a98274142" /><Relationship Type="http://schemas.openxmlformats.org/officeDocument/2006/relationships/slide" Target="/ppt/slides/slide13.xml" Id="Rc7d5c18e8f6040a6" /><Relationship Type="http://schemas.openxmlformats.org/officeDocument/2006/relationships/slide" Target="/ppt/slides/slide14.xml" Id="Rac191b0087274c65" /><Relationship Type="http://schemas.openxmlformats.org/officeDocument/2006/relationships/slide" Target="/ppt/slides/slide15.xml" Id="Raa3e642267f44db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39e95bcb652c49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Autonomy Recovery Lab – Einstieg">
  <a:themeElements>
    <a:clrScheme name="Autonomy Recovery Lab – Einstieg">
      <a:dk1>
        <a:srgbClr val="121B24"/>
      </a:dk1>
      <a:lt1>
        <a:srgbClr val="F4F5F1"/>
      </a:lt1>
      <a:dk2>
        <a:srgbClr val="293139"/>
      </a:dk2>
      <a:lt2>
        <a:srgbClr val="BCBFBE"/>
      </a:lt2>
      <a:accent1>
        <a:srgbClr val="2A64A0"/>
      </a:accent1>
      <a:accent2>
        <a:srgbClr val="F2994A"/>
      </a:accent2>
      <a:accent3>
        <a:srgbClr val="B4541A"/>
      </a:accent3>
      <a:accent4>
        <a:srgbClr val="7FB2E5"/>
      </a:accent4>
      <a:accent5>
        <a:srgbClr val="F2C14E"/>
      </a:accent5>
      <a:accent6>
        <a:srgbClr val="E8782A"/>
      </a:accent6>
      <a:hlink>
        <a:srgbClr val="0563C1"/>
      </a:hlink>
      <a:folHlink>
        <a:srgbClr val="954F72"/>
      </a:folHlink>
    </a:clrScheme>
    <a:fontScheme name="Autonomy Recovery Lab – Einstieg">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utonomy Recovery Lab – Einstieg">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2b5121d25e44c6" /><Relationship Type="http://schemas.openxmlformats.org/officeDocument/2006/relationships/notesMaster" Target="/ppt/notesMasters/notesMaster1.xml" Id="Ra339a207084348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c5437a3901488b" /><Relationship Type="http://schemas.openxmlformats.org/officeDocument/2006/relationships/notesMaster" Target="/ppt/notesMasters/notesMaster1.xml" Id="R9d32f69cf3b240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e66e9cb0d5b414c" /><Relationship Type="http://schemas.openxmlformats.org/officeDocument/2006/relationships/notesMaster" Target="/ppt/notesMasters/notesMaster1.xml" Id="R5bd35c012e3a4a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7c00c25e7449d2" /><Relationship Type="http://schemas.openxmlformats.org/officeDocument/2006/relationships/notesMaster" Target="/ppt/notesMasters/notesMaster1.xml" Id="R58bce953fd1f42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e8bf121f0c424e" /><Relationship Type="http://schemas.openxmlformats.org/officeDocument/2006/relationships/notesMaster" Target="/ppt/notesMasters/notesMaster1.xml" Id="R649144a311fa45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47342d161b4a86" /><Relationship Type="http://schemas.openxmlformats.org/officeDocument/2006/relationships/notesMaster" Target="/ppt/notesMasters/notesMaster1.xml" Id="R5c0d8a8bb39d4e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65eae1dd5a4d1e" /><Relationship Type="http://schemas.openxmlformats.org/officeDocument/2006/relationships/notesMaster" Target="/ppt/notesMasters/notesMaster1.xml" Id="Rce0be052ca864f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f5c59c332e492a" /><Relationship Type="http://schemas.openxmlformats.org/officeDocument/2006/relationships/notesMaster" Target="/ppt/notesMasters/notesMaster1.xml" Id="R31d790d4917240a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f93801b7084b52" /><Relationship Type="http://schemas.openxmlformats.org/officeDocument/2006/relationships/notesMaster" Target="/ppt/notesMasters/notesMaster1.xml" Id="R18889a7a945e4a7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3211639d1244e2f" /><Relationship Type="http://schemas.openxmlformats.org/officeDocument/2006/relationships/notesMaster" Target="/ppt/notesMasters/notesMaster1.xml" Id="Raa5c4b096b4b44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57d11817226451c" /><Relationship Type="http://schemas.openxmlformats.org/officeDocument/2006/relationships/notesMaster" Target="/ppt/notesMasters/notesMaster1.xml" Id="R6aa6f5dd79aa4f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7c682d3dd0d4740" /><Relationship Type="http://schemas.openxmlformats.org/officeDocument/2006/relationships/notesMaster" Target="/ppt/notesMasters/notesMaster1.xml" Id="R225a09a8da314e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d812946ca954449" /><Relationship Type="http://schemas.openxmlformats.org/officeDocument/2006/relationships/notesMaster" Target="/ppt/notesMasters/notesMaster1.xml" Id="R275a5556a3604c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3ee9ff3c70341f5" /><Relationship Type="http://schemas.openxmlformats.org/officeDocument/2006/relationships/notesMaster" Target="/ppt/notesMasters/notesMaster1.xml" Id="Rc43b6e9718f6430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4480f2daf864533" /><Relationship Type="http://schemas.openxmlformats.org/officeDocument/2006/relationships/notesMaster" Target="/ppt/notesMasters/notesMaster1.xml" Id="R79f0cee514124f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Willkommen zum Laborversuch. Das Bild zeigt ein autonomes Shuttle, wie es auf einem Campus fahren könnte. Solche Fahrzeuge fahren die meiste Zeit problemlos. Dieser Versuch beschäftigt sich mit den Momenten, in denen sie nicht weiterwissen, und mit der Frage, wie ein Agent mit Sprachmodell dann helfen kann, ohne selbst zum Risiko zu werden.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Vier typische Lagen, alle im Simulator enthalten. Allen gemeinsam ist: Das Fahrzeug verhält sich korrekt, indem es anhält. Aber Anhalten ist keine Lösung. Ein menschlicher Fahrer würde jetzt nachdenken, genauer hinsehen und dann etwas tun, zum Beispiel vorsichtig vorbeifahren, warten oder umkehren. Genau diese Rolle übernimmt euer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Agent wird erst gerufen, wenn der Stillstandsmonitor einen möglichen Deadlock meldet. Dann hat er ein begrenztes Budget an Werkzeugaufrufen, um die Lage zu verstehen, und reicht einen Befehl ein. Wichtig für das Verständnis: Der Agent ist kein Fahrer. Er ist eher wie ein Disponent, der sagt: Fahr vorsichtig links vorbei, maximal 35 Meter. Die Ausführung und die Sicherheitsüberwachung bleiben Infrastruktur.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ist die wichtigste und am häufigsten unterschätzte Teilaufgabe. Der Monitor ist absichtlich dumm: Er sieht nur, dass das Fahrzeug steht. Ein Agent, der immer eingreift, fährt bei Rot los. Ein Agent, der immer wartet, steht ewig hinter einem verlassenen Lieferwagen. Beide Fehlerarten werden getrennt gemessen, als Fehlalarm und als verpasster Eingriff. Die Szenariomenge erkennen.txt ist genau dafür gebaut.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Wahrnehmung wird im Lauf des Labors realistischer. Am Anfang bekommt ihr fertige Urteile, damit ihr euch auf die Agentenlogik konzentrieren könnt. Ab Lektion 4 bekommt ihr eine Objektliste, wie sie ein realer Fahrstack, etwa Autoware, ausgibt: Klassen mit Wahrscheinlichkeiten, Positionen mit Standardabweichung, Tracks mit Alter. Dazu Sichtabdeckung und Karte. In Lektion 6 kommt die Selbstauskunft eines Vision-Language-Action-Modells hinzu, angelehnt an NVIDIA Alpamayo: eine Begründung in Text, eine grobe Fahrabsicht und eine Konfidenz. Der Kernpunkt: Text, der überzeugend klingt, ist kein Beleg. Die Werte auf der Folie sind gekürzte Beispielwerte.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Katalog ist fest. Ihr könnt keine neuen Befehle erfinden, genau wie in einem echten Fahrzeug, in dem der Ausführer zertifiziert ist. Eure Arbeit ist die Entscheidung, welcher Befehl wann mit welchen Parametern passt. Die Phasenmanöver sind besonders: Ein Überholmanöver schert erst aus und hält an einem Checkpoint. Dort wird euer Agent erneut gefragt, ob er weiterfahren will, und währenddessen läuft die Zeit weiter. Für den Fall, dass es doch knallt, gibt es eigene Befehle zur Unfallabwicklung.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Agent mit Sprachmodell kann halluzinieren, sich in Schleifen verfangen oder auf manipulierte Texte hereinfallen. Deshalb behandelt der Simulator ihn als nicht vertrauenswürdig. Die harten Regeln gelten immer. Wie viel Schutz darüber hinaus bleibt, bestimmt der Prüfmodus. Im Modus strict lehnt die Prüfung ein Überholmanöver ab, wenn der Agent vorher nicht nachgesehen hat. In advisory und off gibt es diese Bevormundung nicht mehr. Dann kann es tatsächlich knallen, und der Agent muss den Unfall erkennen und richtig abwickeln. Das ist Thema von Lektion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ist ein Beispiel aus den Szenariofamilien. Ein Lieferwagen steht scheinbar grundlos. Der Agent entscheidet sich zu überholen. Das Manöver schert aus und hält an einem Checkpoint. Erst jetzt sieht der Agent, dass vor dem Lieferwagen eine Unfallstelle liegt. Er muss neu entscheiden: zurück in die Spur und wenden. Das Prinzip dahinter: Ein guter Agent plant nicht einmal und führt dann blind aus, sondern prüft an jedem Punkt ohne Rückkehr erneut. Wichtig ist auch die Fairness: Jede Überraschung hat einen Hinweis, den ein aufmerksamer Agent mit einem Werkzeug erkennen kann.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Simulator ist bewusst einfach gehalten: ein deterministischer 2D-Simulator in reinem Python. Er läuft auf jedem Laptop, ohne GPU und ohne Modellgewichte. Die Straßen sind echte Straßen in Hannover aus OpenStreetMap. Es gibt 61 Einzelszenarien und sechs Szenariofamilien mit je drei Varianten, die alle von Anfang an zugänglich sind, einschließlich ihrer Erfolgskriterien. Die Sprintmengen empfehlen eine Lernreihenfolge; Robustheit prüfen wir mit weiteren Seeds. Das Kostenmodell bildet ab, was einen Betreiber Geld kostet: Personenschäden am meisten, dann Sachschäden, dazu jeder Anruf in der Leitstelle und jede Minute Standzeit.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Kern des Labors ist der Tutorial-Track. Ihr arbeitet die ganze Zeit an einer einzigen Datei, mein_agent.py. In Lektion 1 gibt der Agent nur einen festen Befehl zurück, damit ihr Schnittstelle und Messung kennenlernt. Danach kommen Regeln, Gedächtnis und Eskalation dazu. Ab Lektion 4 rechnet der Agent mit verrauschten Messungen, in Lektion 5 kommt das Sprachmodell dazu. Die Lektionen 6 bis 8 bringen die eigentlich spannenden Fälle: Quellen, die sich irren, Lagen, die sich ändern, und Unfälle. Wer zurückliegt, kann mit dem Startstand jeder Lektion neu ansetzen. Die Richtwerte sind Orientierung, keine Bestehensgrenze. Nach Lektion 3 schreibt das Team einen Forschungsplan.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Laboraufgabe hat drei Teile, aber nur einen Agenten. Teil A ist euer Agent ohne Modell, also reine Regeln. Teil B ist derselbe Agent, der die Fälle, bei denen die Regeln unsicher sind, an ein Sprachmodell gibt. Weil sich beide nur im Modell unterscheiden, zeigt der Vergleich in Teil C sauber, was das Modell beiträgt. Spoiler aus unseren Messungen: Ein schwaches Modell kann einen guten Regelagenten auch schlechter machen. Genau deshalb wird gemessen und nicht geglaubt.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 gibt keine Note. Stattdessen bekommt ihr nach jedem Batchlauf drei Antworten: wie gut der aktuelle Stand ist, wo er scheitert und ob er sich gegenüber dem letzten Lauf verbessert hat. Dazu startet ihr den Lauf einfach immer wieder in denselben Ausgabeordner. Der Bericht nennt dann neu bestandene und neu gescheiterte Fälle. Die Einstufung A bis D ist eine Zusammenfassung. Sie ist hart bei Unfällen: Eine Kollision bedeutet immer D, egal wie viele Fälle sonst gelöst sind. Dazu kommen die Richtwerte in den Lektionen, die Gespräche an den Checkpoints und am Ende Läufe mit weiteren dokumentierten Seeds der bekannten Szenarien.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Ihr arbeitet als Viererteam an einem gemeinsamen System, nicht an vier Einzelagenten. Arbeitsteilung ist erwünscht, Silos nicht. Deshalb rotieren die Rollen, und jede Änderung wird von einer zweiten Person geprüft. Am Checkpoint fragen wir gezielt jemanden zu einem Bereich, den die Person nicht selbst gebaut hat. Jede Lektion folgt demselben Rhythmus: Vorher aufschreiben, was passieren wird, dann laufen lassen, dann Abweichungen erklären. Genau diese Abweichungen sind der Lerngewinn.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heute gilt: erst selbst Agent sein, bevor ihr einen programmiert. Ihr richtet den Simulator ein, klärt in Stufe 0 gemeinsam, was ein Agent ist und wo seine Grenzen liegen, und löst dann in Stufe 1 eine Lage von Hand in der Recovery Console. Ihr ruft dieselben Werkzeuge auf und bekommt dieselben Ablehnungen, die später euer Programm bekommt. Python 3.10 reicht, eine Installation von Paketen ist nicht nötig.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Zum Abschluss die Botschaft, die sich durch das ganze Labor zieht: Den Normalfall lösen viele Agenten. Interessant wird es bei Quellen, die sich irren, bei Lagen, die sich während eines Manövers ändern, und dann, wenn der Ausführer euch nicht mehr schützt. Danach Fragen und dann direkt in das Bootcamp.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c883bb5c66341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118ea778d0e4552"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3.xml><?xml version="1.0" encoding="utf-8"?>
<p:sldLayout xmlns:p="http://schemas.openxmlformats.org/presentationml/2006/main">
  <p:cSld name="Title and body">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4C860779-372E-4886-865B-42E8EBA294D5}"/>
              </a:ext>
            </a:extLst>
          </p:cNvPr>
          <p:cNvSpPr/>
          <p:nvPr>
            <p:ph type="title" idx="0"/>
          </p:nvPr>
        </p:nvSpPr>
        <p:spPr>
          <a:xfrm xmlns:a="http://schemas.openxmlformats.org/drawingml/2006/main">
            <a:off x="812800" y="1123950"/>
            <a:ext cx="10566400" cy="5016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600">
                <a:solidFill>
                  <a:srgbClr val="F4F5F1"/>
                </a:solidFill>
                <a:latin typeface="Space Grotesk"/>
                <a:ea typeface="Space Grotesk"/>
                <a:cs typeface="Space Grotesk"/>
              </a:defRPr>
            </a:lvl1pPr>
          </a:lstStyle>
          <a:p xmlns:a="http://schemas.openxmlformats.org/drawingml/2006/main"/>
        </p:txBody>
      </p:sp>
      <p:sp>
        <p:nvSpPr>
          <p:cNvPr id="3" name="Text Placeholder 2">
            <a:extLst xmlns:a="http://schemas.openxmlformats.org/drawingml/2006/main">
              <a:ext uri="{FF2B5EF4-FFF2-40B4-BE49-F238E27FC236}">
                <a16:creationId xmlns:a16="http://schemas.microsoft.com/office/drawing/2014/main" id="{A7451920-F082-438B-9516-894450ADBD0A}"/>
              </a:ext>
            </a:extLst>
          </p:cNvPr>
          <p:cNvSpPr/>
          <p:nvPr>
            <p:ph type="body" idx="101"/>
          </p:nvPr>
        </p:nvSpPr>
        <p:spPr>
          <a:xfrm xmlns:a="http://schemas.openxmlformats.org/drawingml/2006/main">
            <a:off x="812800" y="1930400"/>
            <a:ext cx="10566400" cy="4114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F4F5F1"/>
                </a:solidFill>
                <a:latin typeface="IBM Plex Sans"/>
                <a:ea typeface="IBM Plex Sans"/>
                <a:cs typeface="IBM Plex Sans"/>
              </a:defRPr>
            </a:lvl1pPr>
          </a:lstStyle>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2eb3cd27b37e471d" /><Relationship Type="http://schemas.openxmlformats.org/officeDocument/2006/relationships/slideLayout" Target="/ppt/slideLayouts/slideLayout2.xml" Id="Rde6a283d5d74404c" /><Relationship Type="http://schemas.openxmlformats.org/officeDocument/2006/relationships/slideLayout" Target="/ppt/slideLayouts/slideLayout3.xml" Id="R66ab26cad27847f1" /></Relationships>
</file>

<file path=ppt/slideMasters/slideMaster1.xml><?xml version="1.0" encoding="utf-8"?>
<p:sldMaster xmlns:p="http://schemas.openxmlformats.org/presentationml/2006/main">
  <p:cSld>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89939FC9-0021-49A1-ABEF-7AA96AE2F349}"/>
              </a:ext>
            </a:extLst>
          </p:cNvPr>
          <p:cNvSpPr/>
          <p:nvPr>
            <p:ph type="title" idx="0"/>
          </p:nvPr>
        </p:nvSpPr>
        <p:spPr>
          <a:xfrm xmlns:a="http://schemas.openxmlformats.org/drawingml/2006/main">
            <a:off x="812800" y="1123950"/>
            <a:ext cx="10566400" cy="5016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600">
                <a:solidFill>
                  <a:srgbClr val="F4F5F1"/>
                </a:solidFill>
                <a:latin typeface="Space Grotesk"/>
                <a:ea typeface="Space Grotesk"/>
                <a:cs typeface="Space Grotesk"/>
              </a:defRPr>
            </a:lvl1pPr>
          </a:lstStyle>
          <a:p xmlns:a="http://schemas.openxmlformats.org/drawingml/2006/main"/>
        </p:txBody>
      </p:sp>
      <p:sp>
        <p:nvSpPr>
          <p:cNvPr id="3" name="Text Placeholder 2">
            <a:extLst xmlns:a="http://schemas.openxmlformats.org/drawingml/2006/main">
              <a:ext uri="{FF2B5EF4-FFF2-40B4-BE49-F238E27FC236}">
                <a16:creationId xmlns:a16="http://schemas.microsoft.com/office/drawing/2014/main" id="{FFDA02DE-3CD9-4BEE-BD4F-8950DE1441F6}"/>
              </a:ext>
            </a:extLst>
          </p:cNvPr>
          <p:cNvSpPr/>
          <p:nvPr>
            <p:ph type="body" idx="101"/>
          </p:nvPr>
        </p:nvSpPr>
        <p:spPr>
          <a:xfrm xmlns:a="http://schemas.openxmlformats.org/drawingml/2006/main">
            <a:off x="812800" y="1930400"/>
            <a:ext cx="10566400" cy="4114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F4F5F1"/>
                </a:solidFill>
                <a:latin typeface="IBM Plex Sans"/>
                <a:ea typeface="IBM Plex Sans"/>
                <a:cs typeface="IBM Plex Sans"/>
              </a:defRPr>
            </a:lvl1pPr>
          </a:lstStyle>
          <a:p xmlns:a="http://schemas.openxmlformats.org/drawingml/2006/main"/>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de6a283d5d74404c"/>
    <p:sldLayoutId xmlns:r="http://schemas.openxmlformats.org/officeDocument/2006/relationships" id="2147483650" r:id="R66ab26cad27847f1"/>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3.xml" Id="R22cdb14111ce43f1" /><Relationship Type="http://schemas.openxmlformats.org/officeDocument/2006/relationships/image" Target="/ppt/media/image.jpeg" Id="R2ca47ad17cbc42c5" /><Relationship Type="http://schemas.openxmlformats.org/officeDocument/2006/relationships/notesSlide" Target="/ppt/notesSlides/notesSlide1.xml" Id="Rad84f0db372843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93239e8c6c1a4f7f" /><Relationship Type="http://schemas.openxmlformats.org/officeDocument/2006/relationships/image" Target="/ppt/media/image.png" Id="R81220639502546e1" /><Relationship Type="http://schemas.openxmlformats.org/officeDocument/2006/relationships/image" Target="/ppt/media/image2.png" Id="R7d802df4f91f4278" /><Relationship Type="http://schemas.openxmlformats.org/officeDocument/2006/relationships/image" Target="/ppt/media/image3.png" Id="Rc5c806d7d66f4e27" /><Relationship Type="http://schemas.openxmlformats.org/officeDocument/2006/relationships/image" Target="/ppt/media/image4.png" Id="Rf235514a9b7448c9" /><Relationship Type="http://schemas.openxmlformats.org/officeDocument/2006/relationships/notesSlide" Target="/ppt/notesSlides/notesSlide2.xml" Id="R72011912783642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a6f3321e46cd4d33" /><Relationship Type="http://schemas.openxmlformats.org/officeDocument/2006/relationships/image" Target="/ppt/media/image5.png" Id="Rad914f5cb79e4621" /><Relationship Type="http://schemas.openxmlformats.org/officeDocument/2006/relationships/image" Target="/ppt/media/image6.png" Id="R9fcfb5a6e658418f" /><Relationship Type="http://schemas.openxmlformats.org/officeDocument/2006/relationships/notesSlide" Target="/ppt/notesSlides/notesSlide3.xml" Id="Rd5c20ef1161a4423"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a99682680701456b" /><Relationship Type="http://schemas.openxmlformats.org/officeDocument/2006/relationships/image" Target="/ppt/media/image7.png" Id="R779717957e494e73" /><Relationship Type="http://schemas.openxmlformats.org/officeDocument/2006/relationships/image" Target="/ppt/media/image8.png" Id="R50f64d53f7ca46c7" /><Relationship Type="http://schemas.openxmlformats.org/officeDocument/2006/relationships/notesSlide" Target="/ppt/notesSlides/notesSlide4.xml" Id="R55d3ebfd3f804e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8cc497d699d943e7" /><Relationship Type="http://schemas.openxmlformats.org/officeDocument/2006/relationships/notesSlide" Target="/ppt/notesSlides/notesSlide5.xml" Id="Rd18c1227ff2d453c"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f2ecc5063e544004" /><Relationship Type="http://schemas.openxmlformats.org/officeDocument/2006/relationships/notesSlide" Target="/ppt/notesSlides/notesSlide6.xml" Id="Rc02b5d9e0aef4a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88a132f403be4c07" /><Relationship Type="http://schemas.openxmlformats.org/officeDocument/2006/relationships/image" Target="/ppt/media/image9.png" Id="R4684a172ba734d21" /><Relationship Type="http://schemas.openxmlformats.org/officeDocument/2006/relationships/image" Target="/ppt/media/image10.png" Id="R1e28244ae0f943af" /><Relationship Type="http://schemas.openxmlformats.org/officeDocument/2006/relationships/image" Target="/ppt/media/image11.png" Id="R7e9f093e6da34771" /><Relationship Type="http://schemas.openxmlformats.org/officeDocument/2006/relationships/notesSlide" Target="/ppt/notesSlides/notesSlide7.xml" Id="Rdcce7aba16a042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16d064dbf25d48f1" /><Relationship Type="http://schemas.openxmlformats.org/officeDocument/2006/relationships/image" Target="/ppt/media/image12.png" Id="R5822b75be1054a55" /><Relationship Type="http://schemas.openxmlformats.org/officeDocument/2006/relationships/notesSlide" Target="/ppt/notesSlides/notesSlide8.xml" Id="R9417d43fd67f47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dd54c18fe634df4" /><Relationship Type="http://schemas.openxmlformats.org/officeDocument/2006/relationships/image" Target="/ppt/media/image13.png" Id="R106f025224444516" /><Relationship Type="http://schemas.openxmlformats.org/officeDocument/2006/relationships/image" Target="/ppt/media/image14.png" Id="Rdcd2c88ecf594a0b" /><Relationship Type="http://schemas.openxmlformats.org/officeDocument/2006/relationships/image" Target="/ppt/media/image15.png" Id="R660aecbab09148c9" /><Relationship Type="http://schemas.openxmlformats.org/officeDocument/2006/relationships/notesSlide" Target="/ppt/notesSlides/notesSlide9.xml" Id="R10ac19c83c1747a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cc0a5cc0f42e4635" /><Relationship Type="http://schemas.openxmlformats.org/officeDocument/2006/relationships/notesSlide" Target="/ppt/notesSlides/notesSlide10.xml" Id="Rd7e986f4d18a44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e19e0f6b56304192" /><Relationship Type="http://schemas.openxmlformats.org/officeDocument/2006/relationships/image" Target="/ppt/media/image16.png" Id="Rd08a7d523d764c3e" /><Relationship Type="http://schemas.openxmlformats.org/officeDocument/2006/relationships/notesSlide" Target="/ppt/notesSlides/notesSlide11.xml" Id="R1f627ac9516745c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91020bc3c6b14e44" /><Relationship Type="http://schemas.openxmlformats.org/officeDocument/2006/relationships/image" Target="/ppt/media/image17.png" Id="Rf687f7c4d9714cf0" /><Relationship Type="http://schemas.openxmlformats.org/officeDocument/2006/relationships/image" Target="/ppt/media/image18.png" Id="Re4779d7df28f4b91" /><Relationship Type="http://schemas.openxmlformats.org/officeDocument/2006/relationships/image" Target="/ppt/media/image19.png" Id="R1d160e18bf804a2c" /><Relationship Type="http://schemas.openxmlformats.org/officeDocument/2006/relationships/notesSlide" Target="/ppt/notesSlides/notesSlide12.xml" Id="R7c098b20029c4d8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baf89f900ff54cbf" /><Relationship Type="http://schemas.openxmlformats.org/officeDocument/2006/relationships/image" Target="/ppt/media/image20.png" Id="R83b20e6fbcd14bd0" /><Relationship Type="http://schemas.openxmlformats.org/officeDocument/2006/relationships/image" Target="/ppt/media/image21.png" Id="Rfd9392a9902a48b4" /><Relationship Type="http://schemas.openxmlformats.org/officeDocument/2006/relationships/image" Target="/ppt/media/image22.png" Id="R6322491c90a94534" /><Relationship Type="http://schemas.openxmlformats.org/officeDocument/2006/relationships/image" Target="/ppt/media/image23.png" Id="R0f962b5d86614cf8" /><Relationship Type="http://schemas.openxmlformats.org/officeDocument/2006/relationships/image" Target="/ppt/media/image24.png" Id="Ra377fbcf19144136" /><Relationship Type="http://schemas.openxmlformats.org/officeDocument/2006/relationships/image" Target="/ppt/media/image25.png" Id="R7a8b5019459b49de" /><Relationship Type="http://schemas.openxmlformats.org/officeDocument/2006/relationships/notesSlide" Target="/ppt/notesSlides/notesSlide13.xml" Id="R0d84a99dc67b4ee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a802d3f6ee0c45c4" /><Relationship Type="http://schemas.openxmlformats.org/officeDocument/2006/relationships/notesSlide" Target="/ppt/notesSlides/notesSlide14.xml" Id="Rde4bd8cb03434d2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6ac44a24560f46f4" /><Relationship Type="http://schemas.openxmlformats.org/officeDocument/2006/relationships/notesSlide" Target="/ppt/notesSlides/notesSlide15.xml" Id="R168d89a7f5af4a89" /></Relationships>
</file>

<file path=ppt/slides/slide1.xml><?xml version="1.0" encoding="utf-8"?>
<p:sld xmlns:p="http://schemas.openxmlformats.org/presentationml/2006/main">
  <p:cSld>
    <p:bg>
      <p:bgPr>
        <a:solidFill xmlns:a="http://schemas.openxmlformats.org/drawingml/2006/main">
          <a:srgbClr val="F4F5F1"/>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2010084-DD6C-4909-9752-C8BC2BDE28A5}"/>
              </a:ext>
            </a:extLst>
          </p:cNvPr>
          <p:cNvSpPr>
            <a:spLocks xmlns:a="http://schemas.openxmlformats.org/drawingml/2006/main" noGrp="1"/>
          </p:cNvSpPr>
          <p:nvPr/>
        </p:nvSpPr>
        <p:spPr>
          <a:xfrm xmlns:a="http://schemas.openxmlformats.org/drawingml/2006/main">
            <a:off x="812800" y="1673225"/>
            <a:ext cx="549402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LABORVERSUCH · AGENTIC AI</a:t>
            </a:r>
          </a:p>
        </p:txBody>
      </p:sp>
      <p:sp>
        <p:nvSpPr>
          <p:cNvPr id="3" name="Text 1">
            <a:extLst xmlns:a="http://schemas.openxmlformats.org/drawingml/2006/main">
              <a:ext uri="{FF2B5EF4-FFF2-40B4-BE49-F238E27FC236}">
                <a16:creationId xmlns:a16="http://schemas.microsoft.com/office/drawing/2014/main" id="{EB630F05-E762-4A23-85AA-48A722998EFE}"/>
              </a:ext>
            </a:extLst>
          </p:cNvPr>
          <p:cNvSpPr>
            <a:spLocks xmlns:a="http://schemas.openxmlformats.org/drawingml/2006/main" noGrp="1"/>
          </p:cNvSpPr>
          <p:nvPr>
            <p:ph type="title" idx="0"/>
          </p:nvPr>
        </p:nvSpPr>
        <p:spPr>
          <a:xfrm xmlns:a="http://schemas.openxmlformats.org/drawingml/2006/main">
            <a:off x="812800" y="2136775"/>
            <a:ext cx="5494020" cy="1447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5600"/>
              </a:lnSpc>
              <a:buNone/>
            </a:pPr>
            <a:r>
              <a:rPr sz="5600" b="1" i="0">
                <a:solidFill>
                  <a:srgbClr val="121B24"/>
                </a:solidFill>
                <a:latin typeface="Space Grotesk"/>
                <a:ea typeface="Space Grotesk"/>
                <a:cs typeface="Space Grotesk"/>
              </a:rPr>
              <a:t>Autonomy</a:t>
            </a:r>
          </a:p>
          <a:p xmlns:a="http://schemas.openxmlformats.org/drawingml/2006/main">
            <a:pPr marL="0" indent="0" algn="l">
              <a:lnSpc>
                <a:spcPts val="5600"/>
              </a:lnSpc>
              <a:buNone/>
            </a:pPr>
            <a:r>
              <a:rPr sz="5600" b="1" i="0">
                <a:solidFill>
                  <a:srgbClr val="121B24"/>
                </a:solidFill>
                <a:latin typeface="Space Grotesk"/>
                <a:ea typeface="Space Grotesk"/>
                <a:cs typeface="Space Grotesk"/>
              </a:rPr>
              <a:t>Recovery Lab</a:t>
            </a:r>
          </a:p>
        </p:txBody>
      </p:sp>
      <p:sp>
        <p:nvSpPr>
          <p:cNvPr id="4" name="Text 2">
            <a:extLst xmlns:a="http://schemas.openxmlformats.org/drawingml/2006/main">
              <a:ext uri="{FF2B5EF4-FFF2-40B4-BE49-F238E27FC236}">
                <a16:creationId xmlns:a16="http://schemas.microsoft.com/office/drawing/2014/main" id="{83752275-EE7B-403A-A56E-3B324A2222CC}"/>
              </a:ext>
            </a:extLst>
          </p:cNvPr>
          <p:cNvSpPr>
            <a:spLocks xmlns:a="http://schemas.openxmlformats.org/drawingml/2006/main" noGrp="1"/>
          </p:cNvSpPr>
          <p:nvPr/>
        </p:nvSpPr>
        <p:spPr>
          <a:xfrm xmlns:a="http://schemas.openxmlformats.org/drawingml/2006/main">
            <a:off x="812800" y="3813175"/>
            <a:ext cx="549402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50"/>
              </a:lnSpc>
              <a:buNone/>
            </a:pPr>
            <a:r>
              <a:rPr sz="2200">
                <a:solidFill>
                  <a:srgbClr val="46525C"/>
                </a:solidFill>
                <a:latin typeface="IBM Plex Sans"/>
                <a:ea typeface="IBM Plex Sans"/>
                <a:cs typeface="IBM Plex Sans"/>
              </a:rPr>
              <a:t>Wenn das autonome Fahrzeug nicht mehr weiterweiß</a:t>
            </a:r>
          </a:p>
        </p:txBody>
      </p:sp>
      <p:sp>
        <p:nvSpPr>
          <p:cNvPr id="5" name="Text 3">
            <a:extLst xmlns:a="http://schemas.openxmlformats.org/drawingml/2006/main">
              <a:ext uri="{FF2B5EF4-FFF2-40B4-BE49-F238E27FC236}">
                <a16:creationId xmlns:a16="http://schemas.microsoft.com/office/drawing/2014/main" id="{46EC0F0C-94CD-4975-96D1-96EF81065097}"/>
              </a:ext>
            </a:extLst>
          </p:cNvPr>
          <p:cNvSpPr>
            <a:spLocks xmlns:a="http://schemas.openxmlformats.org/drawingml/2006/main" noGrp="1"/>
          </p:cNvSpPr>
          <p:nvPr/>
        </p:nvSpPr>
        <p:spPr>
          <a:xfrm xmlns:a="http://schemas.openxmlformats.org/drawingml/2006/main">
            <a:off x="812800" y="4765675"/>
            <a:ext cx="549402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Einstiegsveranstaltung · Arbeit im Viererteam · Simulator AutonomyRecoverySim</a:t>
            </a:r>
          </a:p>
        </p:txBody>
      </p:sp>
      <p:pic>
        <p:nvPicPr>
          <p:cNvPr id="6" name="Image 0"/>
          <p:cNvPicPr>
            <a:picLocks xmlns:a="http://schemas.openxmlformats.org/drawingml/2006/main" noChangeAspect="1"/>
          </p:cNvPicPr>
          <p:nvPr/>
        </p:nvPicPr>
        <p:blipFill>
          <a:blip xmlns:r="http://schemas.openxmlformats.org/officeDocument/2006/relationships" xmlns:a="http://schemas.openxmlformats.org/drawingml/2006/main" r:embed="R2ca47ad17cbc42c5"/>
          <a:srcRect xmlns:a="http://schemas.openxmlformats.org/drawingml/2006/main" l="0" t="-38" r="0" b="-38"/>
          <a:stretch xmlns:a="http://schemas.openxmlformats.org/drawingml/2006/main"/>
        </p:blipFill>
        <p:spPr>
          <a:xfrm xmlns:a="http://schemas.openxmlformats.org/drawingml/2006/main">
            <a:off x="6553200" y="1997075"/>
            <a:ext cx="4826000" cy="2863850"/>
          </a:xfrm>
          <a:prstGeom xmlns:a="http://schemas.openxmlformats.org/drawingml/2006/main" prst="rect">
            <a:avLst/>
          </a:prstGeom>
        </p:spPr>
      </p:pic>
    </p:spTree>
    <p:extLst>
      <p:ext uri="{BB962C8B-B14F-4D97-AF65-F5344CB8AC3E}">
        <p14:creationId xmlns:p14="http://schemas.microsoft.com/office/powerpoint/2010/main" val="619889918"/>
      </p:ext>
    </p:extLst>
  </p:cSld>
</p:sld>
</file>

<file path=ppt/slides/slide2.xml><?xml version="1.0" encoding="utf-8"?>
<p:sld xmlns:p="http://schemas.openxmlformats.org/presentationml/2006/main">
  <p:cSld>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9E24DAF-F79D-4533-A173-99BB05A1A09B}"/>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F2994A"/>
                </a:solidFill>
                <a:latin typeface="IBM Plex Sans"/>
                <a:ea typeface="IBM Plex Sans"/>
                <a:cs typeface="IBM Plex Sans"/>
              </a:rPr>
              <a:t>DAS PROBLEM</a:t>
            </a:r>
          </a:p>
        </p:txBody>
      </p:sp>
      <p:sp>
        <p:nvSpPr>
          <p:cNvPr id="3" name="Text 1">
            <a:extLst xmlns:a="http://schemas.openxmlformats.org/drawingml/2006/main">
              <a:ext uri="{FF2B5EF4-FFF2-40B4-BE49-F238E27FC236}">
                <a16:creationId xmlns:a16="http://schemas.microsoft.com/office/drawing/2014/main" id="{2332EDF1-8142-44D7-92D7-6E57340ECEC0}"/>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F4F5F1"/>
                </a:solidFill>
                <a:latin typeface="Space Grotesk"/>
                <a:ea typeface="Space Grotesk"/>
                <a:cs typeface="Space Grotesk"/>
              </a:rPr>
              <a:t>Das Fahrzeug steht und kommt nicht weiter</a:t>
            </a:r>
          </a:p>
        </p:txBody>
      </p:sp>
      <p:sp>
        <p:nvSpPr>
          <p:cNvPr id="4" name="Shape 2">
            <a:extLst xmlns:a="http://schemas.openxmlformats.org/drawingml/2006/main">
              <a:ext uri="{FF2B5EF4-FFF2-40B4-BE49-F238E27FC236}">
                <a16:creationId xmlns:a16="http://schemas.microsoft.com/office/drawing/2014/main" id="{2E0BCD97-C79B-4AC2-B68C-1936DC079E56}"/>
              </a:ext>
            </a:extLst>
          </p:cNvPr>
          <p:cNvSpPr>
            <a:spLocks xmlns:a="http://schemas.openxmlformats.org/drawingml/2006/main" noGrp="1"/>
          </p:cNvSpPr>
          <p:nvPr/>
        </p:nvSpPr>
        <p:spPr>
          <a:xfrm xmlns:a="http://schemas.openxmlformats.org/drawingml/2006/main">
            <a:off x="815975" y="2035175"/>
            <a:ext cx="2482850" cy="2311400"/>
          </a:xfrm>
          <a:prstGeom xmlns:a="http://schemas.openxmlformats.org/drawingml/2006/main" prst="roundRect">
            <a:avLst>
              <a:gd name="adj" fmla="val 5357"/>
            </a:avLst>
          </a:prstGeom>
          <a:solidFill xmlns:a="http://schemas.openxmlformats.org/drawingml/2006/main">
            <a:srgbClr val="1C2833"/>
          </a:solidFill>
          <a:ln xmlns:a="http://schemas.openxmlformats.org/drawingml/2006/main" w="6350">
            <a:solidFill>
              <a:srgbClr val="2C3A47"/>
            </a:solidFill>
            <a:prstDash val="solid"/>
          </a:ln>
        </p:spPr>
      </p:sp>
      <p:pic>
        <p:nvPicPr>
          <p:cNvPr id="5" name="Image 0"/>
          <p:cNvPicPr>
            <a:picLocks xmlns:a="http://schemas.openxmlformats.org/drawingml/2006/main" noChangeAspect="1"/>
          </p:cNvPicPr>
          <p:nvPr/>
        </p:nvPicPr>
        <p:blipFill>
          <a:blip xmlns:r="http://schemas.openxmlformats.org/officeDocument/2006/relationships" xmlns:a="http://schemas.openxmlformats.org/drawingml/2006/main" r:embed="R81220639502546e1"/>
          <a:srcRect xmlns:a="http://schemas.openxmlformats.org/drawingml/2006/main" l="0" t="0" r="0" b="0"/>
          <a:stretch xmlns:a="http://schemas.openxmlformats.org/drawingml/2006/main"/>
        </p:blipFill>
        <p:spPr>
          <a:xfrm xmlns:a="http://schemas.openxmlformats.org/drawingml/2006/main">
            <a:off x="1073150" y="2292350"/>
            <a:ext cx="355600" cy="35560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44BFB43D-7A5D-4419-96E4-E2E445185D5A}"/>
              </a:ext>
            </a:extLst>
          </p:cNvPr>
          <p:cNvSpPr>
            <a:spLocks xmlns:a="http://schemas.openxmlformats.org/drawingml/2006/main" noGrp="1"/>
          </p:cNvSpPr>
          <p:nvPr/>
        </p:nvSpPr>
        <p:spPr>
          <a:xfrm xmlns:a="http://schemas.openxmlformats.org/drawingml/2006/main">
            <a:off x="1073150" y="2800350"/>
            <a:ext cx="2027555"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F4F5F1"/>
                </a:solidFill>
                <a:latin typeface="IBM Plex Sans"/>
                <a:ea typeface="IBM Plex Sans"/>
                <a:cs typeface="IBM Plex Sans"/>
              </a:rPr>
              <a:t>Lieferwagen in zweiter Reihe</a:t>
            </a:r>
          </a:p>
        </p:txBody>
      </p:sp>
      <p:sp>
        <p:nvSpPr>
          <p:cNvPr id="7" name="Text 4">
            <a:extLst xmlns:a="http://schemas.openxmlformats.org/drawingml/2006/main">
              <a:ext uri="{FF2B5EF4-FFF2-40B4-BE49-F238E27FC236}">
                <a16:creationId xmlns:a16="http://schemas.microsoft.com/office/drawing/2014/main" id="{759B707F-0D8F-4307-92A9-CFC2DEE02333}"/>
              </a:ext>
            </a:extLst>
          </p:cNvPr>
          <p:cNvSpPr>
            <a:spLocks xmlns:a="http://schemas.openxmlformats.org/drawingml/2006/main" noGrp="1"/>
          </p:cNvSpPr>
          <p:nvPr/>
        </p:nvSpPr>
        <p:spPr>
          <a:xfrm xmlns:a="http://schemas.openxmlformats.org/drawingml/2006/main">
            <a:off x="1073150" y="3460750"/>
            <a:ext cx="2027555"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Fährt er gleich weiter, oder ist der Fahrer weg?</a:t>
            </a:r>
          </a:p>
        </p:txBody>
      </p:sp>
      <p:sp>
        <p:nvSpPr>
          <p:cNvPr id="8" name="Shape 5">
            <a:extLst xmlns:a="http://schemas.openxmlformats.org/drawingml/2006/main">
              <a:ext uri="{FF2B5EF4-FFF2-40B4-BE49-F238E27FC236}">
                <a16:creationId xmlns:a16="http://schemas.microsoft.com/office/drawing/2014/main" id="{A351D3BB-0789-4522-A923-017BE73A60C4}"/>
              </a:ext>
            </a:extLst>
          </p:cNvPr>
          <p:cNvSpPr>
            <a:spLocks xmlns:a="http://schemas.openxmlformats.org/drawingml/2006/main" noGrp="1"/>
          </p:cNvSpPr>
          <p:nvPr/>
        </p:nvSpPr>
        <p:spPr>
          <a:xfrm xmlns:a="http://schemas.openxmlformats.org/drawingml/2006/main">
            <a:off x="3508375" y="2035175"/>
            <a:ext cx="2482850" cy="2311400"/>
          </a:xfrm>
          <a:prstGeom xmlns:a="http://schemas.openxmlformats.org/drawingml/2006/main" prst="roundRect">
            <a:avLst>
              <a:gd name="adj" fmla="val 5357"/>
            </a:avLst>
          </a:prstGeom>
          <a:solidFill xmlns:a="http://schemas.openxmlformats.org/drawingml/2006/main">
            <a:srgbClr val="1C2833"/>
          </a:solidFill>
          <a:ln xmlns:a="http://schemas.openxmlformats.org/drawingml/2006/main" w="6350">
            <a:solidFill>
              <a:srgbClr val="2C3A47"/>
            </a:solidFill>
            <a:prstDash val="solid"/>
          </a:ln>
        </p:spPr>
      </p:sp>
      <p:pic>
        <p:nvPicPr>
          <p:cNvPr id="9" name="Image 1"/>
          <p:cNvPicPr>
            <a:picLocks xmlns:a="http://schemas.openxmlformats.org/drawingml/2006/main" noChangeAspect="1"/>
          </p:cNvPicPr>
          <p:nvPr/>
        </p:nvPicPr>
        <p:blipFill>
          <a:blip xmlns:r="http://schemas.openxmlformats.org/officeDocument/2006/relationships" xmlns:a="http://schemas.openxmlformats.org/drawingml/2006/main" r:embed="R7d802df4f91f4278"/>
          <a:srcRect xmlns:a="http://schemas.openxmlformats.org/drawingml/2006/main" l="0" t="0" r="0" b="0"/>
          <a:stretch xmlns:a="http://schemas.openxmlformats.org/drawingml/2006/main"/>
        </p:blipFill>
        <p:spPr>
          <a:xfrm xmlns:a="http://schemas.openxmlformats.org/drawingml/2006/main">
            <a:off x="3765550" y="2292350"/>
            <a:ext cx="355600" cy="355600"/>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5D89FF62-9997-4B5B-A43F-EBD83C4317EA}"/>
              </a:ext>
            </a:extLst>
          </p:cNvPr>
          <p:cNvSpPr>
            <a:spLocks xmlns:a="http://schemas.openxmlformats.org/drawingml/2006/main" noGrp="1"/>
          </p:cNvSpPr>
          <p:nvPr/>
        </p:nvSpPr>
        <p:spPr>
          <a:xfrm xmlns:a="http://schemas.openxmlformats.org/drawingml/2006/main">
            <a:off x="3765550" y="2800350"/>
            <a:ext cx="2027555"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F4F5F1"/>
                </a:solidFill>
                <a:latin typeface="IBM Plex Sans"/>
                <a:ea typeface="IBM Plex Sans"/>
                <a:cs typeface="IBM Plex Sans"/>
              </a:rPr>
              <a:t>Ampel ausgefallen</a:t>
            </a:r>
          </a:p>
        </p:txBody>
      </p:sp>
      <p:sp>
        <p:nvSpPr>
          <p:cNvPr id="11" name="Text 7">
            <a:extLst xmlns:a="http://schemas.openxmlformats.org/drawingml/2006/main">
              <a:ext uri="{FF2B5EF4-FFF2-40B4-BE49-F238E27FC236}">
                <a16:creationId xmlns:a16="http://schemas.microsoft.com/office/drawing/2014/main" id="{1DE69A40-2E66-42F5-A879-44B118500A17}"/>
              </a:ext>
            </a:extLst>
          </p:cNvPr>
          <p:cNvSpPr>
            <a:spLocks xmlns:a="http://schemas.openxmlformats.org/drawingml/2006/main" noGrp="1"/>
          </p:cNvSpPr>
          <p:nvPr/>
        </p:nvSpPr>
        <p:spPr>
          <a:xfrm xmlns:a="http://schemas.openxmlformats.org/drawingml/2006/main">
            <a:off x="3765550" y="3206750"/>
            <a:ext cx="2027555"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Dunkel ist nicht rot. Wer gibt die Kreuzung frei?</a:t>
            </a:r>
          </a:p>
        </p:txBody>
      </p:sp>
      <p:sp>
        <p:nvSpPr>
          <p:cNvPr id="12" name="Shape 8">
            <a:extLst xmlns:a="http://schemas.openxmlformats.org/drawingml/2006/main">
              <a:ext uri="{FF2B5EF4-FFF2-40B4-BE49-F238E27FC236}">
                <a16:creationId xmlns:a16="http://schemas.microsoft.com/office/drawing/2014/main" id="{9179D2F9-39C9-4B3F-B7BC-3C9A512FEB8E}"/>
              </a:ext>
            </a:extLst>
          </p:cNvPr>
          <p:cNvSpPr>
            <a:spLocks xmlns:a="http://schemas.openxmlformats.org/drawingml/2006/main" noGrp="1"/>
          </p:cNvSpPr>
          <p:nvPr/>
        </p:nvSpPr>
        <p:spPr>
          <a:xfrm xmlns:a="http://schemas.openxmlformats.org/drawingml/2006/main">
            <a:off x="6200775" y="2035175"/>
            <a:ext cx="2482850" cy="2311400"/>
          </a:xfrm>
          <a:prstGeom xmlns:a="http://schemas.openxmlformats.org/drawingml/2006/main" prst="roundRect">
            <a:avLst>
              <a:gd name="adj" fmla="val 5357"/>
            </a:avLst>
          </a:prstGeom>
          <a:solidFill xmlns:a="http://schemas.openxmlformats.org/drawingml/2006/main">
            <a:srgbClr val="1C2833"/>
          </a:solidFill>
          <a:ln xmlns:a="http://schemas.openxmlformats.org/drawingml/2006/main" w="6350">
            <a:solidFill>
              <a:srgbClr val="2C3A47"/>
            </a:solidFill>
            <a:prstDash val="solid"/>
          </a:ln>
        </p:spPr>
      </p:sp>
      <p:pic>
        <p:nvPicPr>
          <p:cNvPr id="13" name="Image 2"/>
          <p:cNvPicPr>
            <a:picLocks xmlns:a="http://schemas.openxmlformats.org/drawingml/2006/main" noChangeAspect="1"/>
          </p:cNvPicPr>
          <p:nvPr/>
        </p:nvPicPr>
        <p:blipFill>
          <a:blip xmlns:r="http://schemas.openxmlformats.org/officeDocument/2006/relationships" xmlns:a="http://schemas.openxmlformats.org/drawingml/2006/main" r:embed="Rc5c806d7d66f4e27"/>
          <a:srcRect xmlns:a="http://schemas.openxmlformats.org/drawingml/2006/main" l="0" t="0" r="0" b="0"/>
          <a:stretch xmlns:a="http://schemas.openxmlformats.org/drawingml/2006/main"/>
        </p:blipFill>
        <p:spPr>
          <a:xfrm xmlns:a="http://schemas.openxmlformats.org/drawingml/2006/main">
            <a:off x="6457950" y="2292350"/>
            <a:ext cx="355600" cy="355600"/>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BC015FA4-B906-4559-B6AB-BD474FAC7AF1}"/>
              </a:ext>
            </a:extLst>
          </p:cNvPr>
          <p:cNvSpPr>
            <a:spLocks xmlns:a="http://schemas.openxmlformats.org/drawingml/2006/main" noGrp="1"/>
          </p:cNvSpPr>
          <p:nvPr/>
        </p:nvSpPr>
        <p:spPr>
          <a:xfrm xmlns:a="http://schemas.openxmlformats.org/drawingml/2006/main">
            <a:off x="6457950" y="2800350"/>
            <a:ext cx="2027555"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F4F5F1"/>
                </a:solidFill>
                <a:latin typeface="IBM Plex Sans"/>
                <a:ea typeface="IBM Plex Sans"/>
                <a:cs typeface="IBM Plex Sans"/>
              </a:rPr>
              <a:t>Ladung auf der Fahrbahn</a:t>
            </a:r>
          </a:p>
        </p:txBody>
      </p:sp>
      <p:sp>
        <p:nvSpPr>
          <p:cNvPr id="15" name="Text 10">
            <a:extLst xmlns:a="http://schemas.openxmlformats.org/drawingml/2006/main">
              <a:ext uri="{FF2B5EF4-FFF2-40B4-BE49-F238E27FC236}">
                <a16:creationId xmlns:a16="http://schemas.microsoft.com/office/drawing/2014/main" id="{010E51A8-590F-4111-878F-98BD49310C79}"/>
              </a:ext>
            </a:extLst>
          </p:cNvPr>
          <p:cNvSpPr>
            <a:spLocks xmlns:a="http://schemas.openxmlformats.org/drawingml/2006/main" noGrp="1"/>
          </p:cNvSpPr>
          <p:nvPr/>
        </p:nvSpPr>
        <p:spPr>
          <a:xfrm xmlns:a="http://schemas.openxmlformats.org/drawingml/2006/main">
            <a:off x="6457950" y="3460750"/>
            <a:ext cx="2027555" cy="654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Karton oder Stahlteil? Drüberfahren oder umfahren?</a:t>
            </a:r>
          </a:p>
        </p:txBody>
      </p:sp>
      <p:sp>
        <p:nvSpPr>
          <p:cNvPr id="16" name="Shape 11">
            <a:extLst xmlns:a="http://schemas.openxmlformats.org/drawingml/2006/main">
              <a:ext uri="{FF2B5EF4-FFF2-40B4-BE49-F238E27FC236}">
                <a16:creationId xmlns:a16="http://schemas.microsoft.com/office/drawing/2014/main" id="{7991B146-CE76-47A7-85EE-3FFB039ABF9B}"/>
              </a:ext>
            </a:extLst>
          </p:cNvPr>
          <p:cNvSpPr>
            <a:spLocks xmlns:a="http://schemas.openxmlformats.org/drawingml/2006/main" noGrp="1"/>
          </p:cNvSpPr>
          <p:nvPr/>
        </p:nvSpPr>
        <p:spPr>
          <a:xfrm xmlns:a="http://schemas.openxmlformats.org/drawingml/2006/main">
            <a:off x="8893175" y="2035175"/>
            <a:ext cx="2482850" cy="2311400"/>
          </a:xfrm>
          <a:prstGeom xmlns:a="http://schemas.openxmlformats.org/drawingml/2006/main" prst="roundRect">
            <a:avLst>
              <a:gd name="adj" fmla="val 5357"/>
            </a:avLst>
          </a:prstGeom>
          <a:solidFill xmlns:a="http://schemas.openxmlformats.org/drawingml/2006/main">
            <a:srgbClr val="1C2833"/>
          </a:solidFill>
          <a:ln xmlns:a="http://schemas.openxmlformats.org/drawingml/2006/main" w="6350">
            <a:solidFill>
              <a:srgbClr val="2C3A47"/>
            </a:solidFill>
            <a:prstDash val="solid"/>
          </a:ln>
        </p:spPr>
      </p:sp>
      <p:pic>
        <p:nvPicPr>
          <p:cNvPr id="17" name="Image 3"/>
          <p:cNvPicPr>
            <a:picLocks xmlns:a="http://schemas.openxmlformats.org/drawingml/2006/main" noChangeAspect="1"/>
          </p:cNvPicPr>
          <p:nvPr/>
        </p:nvPicPr>
        <p:blipFill>
          <a:blip xmlns:r="http://schemas.openxmlformats.org/officeDocument/2006/relationships" xmlns:a="http://schemas.openxmlformats.org/drawingml/2006/main" r:embed="Rf235514a9b7448c9"/>
          <a:srcRect xmlns:a="http://schemas.openxmlformats.org/drawingml/2006/main" l="0" t="0" r="0" b="0"/>
          <a:stretch xmlns:a="http://schemas.openxmlformats.org/drawingml/2006/main"/>
        </p:blipFill>
        <p:spPr>
          <a:xfrm xmlns:a="http://schemas.openxmlformats.org/drawingml/2006/main">
            <a:off x="9150350" y="2292350"/>
            <a:ext cx="355600" cy="35560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EF49A28E-520B-4F2F-97E6-52509642A8D6}"/>
              </a:ext>
            </a:extLst>
          </p:cNvPr>
          <p:cNvSpPr>
            <a:spLocks xmlns:a="http://schemas.openxmlformats.org/drawingml/2006/main" noGrp="1"/>
          </p:cNvSpPr>
          <p:nvPr/>
        </p:nvSpPr>
        <p:spPr>
          <a:xfrm xmlns:a="http://schemas.openxmlformats.org/drawingml/2006/main">
            <a:off x="9150350" y="2800350"/>
            <a:ext cx="2027555"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F4F5F1"/>
                </a:solidFill>
                <a:latin typeface="IBM Plex Sans"/>
                <a:ea typeface="IBM Plex Sans"/>
                <a:cs typeface="IBM Plex Sans"/>
              </a:rPr>
              <a:t>Baustelle ohne Umleitung</a:t>
            </a:r>
          </a:p>
        </p:txBody>
      </p:sp>
      <p:sp>
        <p:nvSpPr>
          <p:cNvPr id="19" name="Text 13">
            <a:extLst xmlns:a="http://schemas.openxmlformats.org/drawingml/2006/main">
              <a:ext uri="{FF2B5EF4-FFF2-40B4-BE49-F238E27FC236}">
                <a16:creationId xmlns:a16="http://schemas.microsoft.com/office/drawing/2014/main" id="{D69BD604-9D26-4620-BC13-D7898994F2D5}"/>
              </a:ext>
            </a:extLst>
          </p:cNvPr>
          <p:cNvSpPr>
            <a:spLocks xmlns:a="http://schemas.openxmlformats.org/drawingml/2006/main" noGrp="1"/>
          </p:cNvSpPr>
          <p:nvPr/>
        </p:nvSpPr>
        <p:spPr>
          <a:xfrm xmlns:a="http://schemas.openxmlformats.org/drawingml/2006/main">
            <a:off x="9150350" y="3460750"/>
            <a:ext cx="2027555"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Wenden, umplanen oder die Leitstelle rufen?</a:t>
            </a:r>
          </a:p>
        </p:txBody>
      </p:sp>
      <p:sp>
        <p:nvSpPr>
          <p:cNvPr id="20" name="Text 14">
            <a:extLst xmlns:a="http://schemas.openxmlformats.org/drawingml/2006/main">
              <a:ext uri="{FF2B5EF4-FFF2-40B4-BE49-F238E27FC236}">
                <a16:creationId xmlns:a16="http://schemas.microsoft.com/office/drawing/2014/main" id="{1039CF33-A830-46A5-AF86-689242BDB895}"/>
              </a:ext>
            </a:extLst>
          </p:cNvPr>
          <p:cNvSpPr>
            <a:spLocks xmlns:a="http://schemas.openxmlformats.org/drawingml/2006/main" noGrp="1"/>
          </p:cNvSpPr>
          <p:nvPr/>
        </p:nvSpPr>
        <p:spPr>
          <a:xfrm xmlns:a="http://schemas.openxmlformats.org/drawingml/2006/main">
            <a:off x="812800" y="4756150"/>
            <a:ext cx="10883392"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a:solidFill>
                  <a:srgbClr val="B9C4CC"/>
                </a:solidFill>
                <a:latin typeface="IBM Plex Sans"/>
                <a:ea typeface="IBM Plex Sans"/>
                <a:cs typeface="IBM Plex Sans"/>
              </a:rPr>
              <a:t>Der Fahrstack hält sicher an, </a:t>
            </a:r>
            <a:r>
              <a:rPr sz="1600">
                <a:solidFill>
                  <a:srgbClr val="F4F5F1"/>
                </a:solidFill>
                <a:latin typeface="IBM Plex Sans"/>
                <a:ea typeface="IBM Plex Sans"/>
                <a:cs typeface="IBM Plex Sans"/>
              </a:rPr>
              <a:t>löst die Lage aber nicht auf</a:t>
            </a:r>
            <a:r>
              <a:rPr sz="1600">
                <a:solidFill>
                  <a:srgbClr val="B9C4CC"/>
                </a:solidFill>
                <a:latin typeface="IBM Plex Sans"/>
                <a:ea typeface="IBM Plex Sans"/>
                <a:cs typeface="IBM Plex Sans"/>
              </a:rPr>
              <a:t>. Dafür gibt es in diesem Labor einen eigenen Agenten.</a:t>
            </a:r>
          </a:p>
        </p:txBody>
      </p:sp>
      <p:sp>
        <p:nvSpPr>
          <p:cNvPr id="21" name="Text 15">
            <a:extLst xmlns:a="http://schemas.openxmlformats.org/drawingml/2006/main">
              <a:ext uri="{FF2B5EF4-FFF2-40B4-BE49-F238E27FC236}">
                <a16:creationId xmlns:a16="http://schemas.microsoft.com/office/drawing/2014/main" id="{30222EAD-BC71-4034-B700-6B7D980B1B6B}"/>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C99A4"/>
                </a:solidFill>
                <a:latin typeface="IBM Plex Sans"/>
                <a:ea typeface="IBM Plex Sans"/>
                <a:cs typeface="IBM Plex Sans"/>
              </a:rPr>
              <a:t>Autonomy Recovery Lab · Einstieg</a:t>
            </a:r>
          </a:p>
        </p:txBody>
      </p:sp>
      <p:sp>
        <p:nvSpPr>
          <p:cNvPr id="22" name="Text 16">
            <a:extLst xmlns:a="http://schemas.openxmlformats.org/drawingml/2006/main">
              <a:ext uri="{FF2B5EF4-FFF2-40B4-BE49-F238E27FC236}">
                <a16:creationId xmlns:a16="http://schemas.microsoft.com/office/drawing/2014/main" id="{C822E11F-83A0-4FA3-A126-0FA1C861C0B4}"/>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C99A4"/>
                </a:solidFill>
                <a:latin typeface="IBM Plex Sans"/>
                <a:ea typeface="IBM Plex Sans"/>
                <a:cs typeface="IBM Plex Sans"/>
              </a:rPr>
              <a:t>2</a:t>
            </a:r>
          </a:p>
        </p:txBody>
      </p:sp>
    </p:spTree>
    <p:extLst>
      <p:ext uri="{BB962C8B-B14F-4D97-AF65-F5344CB8AC3E}">
        <p14:creationId xmlns:p14="http://schemas.microsoft.com/office/powerpoint/2010/main" val="43738009"/>
      </p:ext>
    </p:extLst>
  </p:cSld>
</p:sld>
</file>

<file path=ppt/slides/slide3.xml><?xml version="1.0" encoding="utf-8"?>
<p:sld xmlns:p="http://schemas.openxmlformats.org/presentationml/2006/main">
  <p:cSld>
    <p:bg>
      <p:bgPr>
        <a:solidFill xmlns:a="http://schemas.openxmlformats.org/drawingml/2006/main">
          <a:srgbClr val="F4F5F1"/>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E460B7-1603-4506-A1D4-019FD85B5A18}"/>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EURE AUFGABE</a:t>
            </a:r>
          </a:p>
        </p:txBody>
      </p:sp>
      <p:sp>
        <p:nvSpPr>
          <p:cNvPr id="3" name="Text 1">
            <a:extLst xmlns:a="http://schemas.openxmlformats.org/drawingml/2006/main">
              <a:ext uri="{FF2B5EF4-FFF2-40B4-BE49-F238E27FC236}">
                <a16:creationId xmlns:a16="http://schemas.microsoft.com/office/drawing/2014/main" id="{DF3BC75E-7963-4A02-B05F-E10160E505D9}"/>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Euer Agent übernimmt ab dem Stillstand</a:t>
            </a:r>
          </a:p>
        </p:txBody>
      </p:sp>
      <p:sp>
        <p:nvSpPr>
          <p:cNvPr id="4" name="Shape 2">
            <a:extLst xmlns:a="http://schemas.openxmlformats.org/drawingml/2006/main">
              <a:ext uri="{FF2B5EF4-FFF2-40B4-BE49-F238E27FC236}">
                <a16:creationId xmlns:a16="http://schemas.microsoft.com/office/drawing/2014/main" id="{EDC2DA6F-7A70-479C-8F9E-E5AC1EB9657A}"/>
              </a:ext>
            </a:extLst>
          </p:cNvPr>
          <p:cNvSpPr>
            <a:spLocks xmlns:a="http://schemas.openxmlformats.org/drawingml/2006/main" noGrp="1"/>
          </p:cNvSpPr>
          <p:nvPr/>
        </p:nvSpPr>
        <p:spPr>
          <a:xfrm xmlns:a="http://schemas.openxmlformats.org/drawingml/2006/main">
            <a:off x="815975" y="2035175"/>
            <a:ext cx="3075484" cy="2038350"/>
          </a:xfrm>
          <a:prstGeom xmlns:a="http://schemas.openxmlformats.org/drawingml/2006/main" prst="roundRect">
            <a:avLst>
              <a:gd name="adj" fmla="val 6075"/>
            </a:avLst>
          </a:prstGeom>
          <a:solidFill xmlns:a="http://schemas.openxmlformats.org/drawingml/2006/main">
            <a:srgbClr val="FBFBF8"/>
          </a:solidFill>
          <a:ln xmlns:a="http://schemas.openxmlformats.org/drawingml/2006/main" w="6350">
            <a:solidFill>
              <a:srgbClr val="D5DAD3"/>
            </a:solidFill>
            <a:prstDash val="solid"/>
          </a:ln>
        </p:spPr>
      </p:sp>
      <p:sp>
        <p:nvSpPr>
          <p:cNvPr id="5" name="Text 3">
            <a:extLst xmlns:a="http://schemas.openxmlformats.org/drawingml/2006/main">
              <a:ext uri="{FF2B5EF4-FFF2-40B4-BE49-F238E27FC236}">
                <a16:creationId xmlns:a16="http://schemas.microsoft.com/office/drawing/2014/main" id="{DB47F38A-2874-4343-80B3-48DD44080D55}"/>
              </a:ext>
            </a:extLst>
          </p:cNvPr>
          <p:cNvSpPr>
            <a:spLocks xmlns:a="http://schemas.openxmlformats.org/drawingml/2006/main" noGrp="1"/>
          </p:cNvSpPr>
          <p:nvPr/>
        </p:nvSpPr>
        <p:spPr>
          <a:xfrm xmlns:a="http://schemas.openxmlformats.org/drawingml/2006/main">
            <a:off x="1073150" y="2292350"/>
            <a:ext cx="2637968"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2A64A0"/>
                </a:solidFill>
                <a:latin typeface="Space Grotesk"/>
                <a:ea typeface="Space Grotesk"/>
                <a:cs typeface="Space Grotesk"/>
              </a:rPr>
              <a:t>1</a:t>
            </a:r>
          </a:p>
        </p:txBody>
      </p:sp>
      <p:sp>
        <p:nvSpPr>
          <p:cNvPr id="6" name="Text 4">
            <a:extLst xmlns:a="http://schemas.openxmlformats.org/drawingml/2006/main">
              <a:ext uri="{FF2B5EF4-FFF2-40B4-BE49-F238E27FC236}">
                <a16:creationId xmlns:a16="http://schemas.microsoft.com/office/drawing/2014/main" id="{219F7AD6-8E76-4B35-BCD4-B4B5E529120D}"/>
              </a:ext>
            </a:extLst>
          </p:cNvPr>
          <p:cNvSpPr>
            <a:spLocks xmlns:a="http://schemas.openxmlformats.org/drawingml/2006/main" noGrp="1"/>
          </p:cNvSpPr>
          <p:nvPr/>
        </p:nvSpPr>
        <p:spPr>
          <a:xfrm xmlns:a="http://schemas.openxmlformats.org/drawingml/2006/main">
            <a:off x="1073150" y="2806700"/>
            <a:ext cx="2637968"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121B24"/>
                </a:solidFill>
                <a:latin typeface="IBM Plex Sans"/>
                <a:ea typeface="IBM Plex Sans"/>
                <a:cs typeface="IBM Plex Sans"/>
              </a:rPr>
              <a:t>Lage untersuchen</a:t>
            </a:r>
          </a:p>
        </p:txBody>
      </p:sp>
      <p:sp>
        <p:nvSpPr>
          <p:cNvPr id="7" name="Text 5">
            <a:extLst xmlns:a="http://schemas.openxmlformats.org/drawingml/2006/main">
              <a:ext uri="{FF2B5EF4-FFF2-40B4-BE49-F238E27FC236}">
                <a16:creationId xmlns:a16="http://schemas.microsoft.com/office/drawing/2014/main" id="{9D99EB86-2A7C-4B2D-A3B2-C1FE668A20D0}"/>
              </a:ext>
            </a:extLst>
          </p:cNvPr>
          <p:cNvSpPr>
            <a:spLocks xmlns:a="http://schemas.openxmlformats.org/drawingml/2006/main" noGrp="1"/>
          </p:cNvSpPr>
          <p:nvPr/>
        </p:nvSpPr>
        <p:spPr>
          <a:xfrm xmlns:a="http://schemas.openxmlformats.org/drawingml/2006/main">
            <a:off x="1073150" y="3187700"/>
            <a:ext cx="2637968" cy="654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Werkzeuge abfragen: Hindernis, Gegenverkehr, Sicht, Karte, Mission, Fahrstack</a:t>
            </a:r>
          </a:p>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ad914f5cb79e4621"/>
          <a:srcRect xmlns:a="http://schemas.openxmlformats.org/drawingml/2006/main" l="0" t="0" r="0" b="0"/>
          <a:stretch xmlns:a="http://schemas.openxmlformats.org/drawingml/2006/main"/>
        </p:blipFill>
        <p:spPr>
          <a:xfrm xmlns:a="http://schemas.openxmlformats.org/drawingml/2006/main">
            <a:off x="4047034" y="2952750"/>
            <a:ext cx="355600" cy="203200"/>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8E0078C9-ABF1-41AF-BB73-E48825EF55B0}"/>
              </a:ext>
            </a:extLst>
          </p:cNvPr>
          <p:cNvSpPr>
            <a:spLocks xmlns:a="http://schemas.openxmlformats.org/drawingml/2006/main" noGrp="1"/>
          </p:cNvSpPr>
          <p:nvPr/>
        </p:nvSpPr>
        <p:spPr>
          <a:xfrm xmlns:a="http://schemas.openxmlformats.org/drawingml/2006/main">
            <a:off x="4558209" y="2139950"/>
            <a:ext cx="3075484" cy="1828800"/>
          </a:xfrm>
          <a:prstGeom xmlns:a="http://schemas.openxmlformats.org/drawingml/2006/main" prst="roundRect">
            <a:avLst>
              <a:gd name="adj" fmla="val 6771"/>
            </a:avLst>
          </a:prstGeom>
          <a:solidFill xmlns:a="http://schemas.openxmlformats.org/drawingml/2006/main">
            <a:srgbClr val="FBFBF8"/>
          </a:solidFill>
          <a:ln xmlns:a="http://schemas.openxmlformats.org/drawingml/2006/main" w="6350">
            <a:solidFill>
              <a:srgbClr val="D5DAD3"/>
            </a:solidFill>
            <a:prstDash val="solid"/>
          </a:ln>
        </p:spPr>
      </p:sp>
      <p:sp>
        <p:nvSpPr>
          <p:cNvPr id="10" name="Text 7">
            <a:extLst xmlns:a="http://schemas.openxmlformats.org/drawingml/2006/main">
              <a:ext uri="{FF2B5EF4-FFF2-40B4-BE49-F238E27FC236}">
                <a16:creationId xmlns:a16="http://schemas.microsoft.com/office/drawing/2014/main" id="{47C0BE00-0A76-4F53-81B7-562726CC4556}"/>
              </a:ext>
            </a:extLst>
          </p:cNvPr>
          <p:cNvSpPr>
            <a:spLocks xmlns:a="http://schemas.openxmlformats.org/drawingml/2006/main" noGrp="1"/>
          </p:cNvSpPr>
          <p:nvPr/>
        </p:nvSpPr>
        <p:spPr>
          <a:xfrm xmlns:a="http://schemas.openxmlformats.org/drawingml/2006/main">
            <a:off x="4815384" y="2397125"/>
            <a:ext cx="2637968"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2A64A0"/>
                </a:solidFill>
                <a:latin typeface="Space Grotesk"/>
                <a:ea typeface="Space Grotesk"/>
                <a:cs typeface="Space Grotesk"/>
              </a:rPr>
              <a:t>2</a:t>
            </a:r>
          </a:p>
        </p:txBody>
      </p:sp>
      <p:sp>
        <p:nvSpPr>
          <p:cNvPr id="11" name="Text 8">
            <a:extLst xmlns:a="http://schemas.openxmlformats.org/drawingml/2006/main">
              <a:ext uri="{FF2B5EF4-FFF2-40B4-BE49-F238E27FC236}">
                <a16:creationId xmlns:a16="http://schemas.microsoft.com/office/drawing/2014/main" id="{14A4E5B5-A059-4312-BCCD-F3AC835B0347}"/>
              </a:ext>
            </a:extLst>
          </p:cNvPr>
          <p:cNvSpPr>
            <a:spLocks xmlns:a="http://schemas.openxmlformats.org/drawingml/2006/main" noGrp="1"/>
          </p:cNvSpPr>
          <p:nvPr/>
        </p:nvSpPr>
        <p:spPr>
          <a:xfrm xmlns:a="http://schemas.openxmlformats.org/drawingml/2006/main">
            <a:off x="4815384" y="2911475"/>
            <a:ext cx="2637968"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121B24"/>
                </a:solidFill>
                <a:latin typeface="IBM Plex Sans"/>
                <a:ea typeface="IBM Plex Sans"/>
                <a:cs typeface="IBM Plex Sans"/>
              </a:rPr>
              <a:t>Befehl wählen</a:t>
            </a:r>
          </a:p>
        </p:txBody>
      </p:sp>
      <p:sp>
        <p:nvSpPr>
          <p:cNvPr id="12" name="Text 9">
            <a:extLst xmlns:a="http://schemas.openxmlformats.org/drawingml/2006/main">
              <a:ext uri="{FF2B5EF4-FFF2-40B4-BE49-F238E27FC236}">
                <a16:creationId xmlns:a16="http://schemas.microsoft.com/office/drawing/2014/main" id="{ADAED2FF-2A70-408E-B183-9CDDDE7B504C}"/>
              </a:ext>
            </a:extLst>
          </p:cNvPr>
          <p:cNvSpPr>
            <a:spLocks xmlns:a="http://schemas.openxmlformats.org/drawingml/2006/main" noGrp="1"/>
          </p:cNvSpPr>
          <p:nvPr/>
        </p:nvSpPr>
        <p:spPr>
          <a:xfrm xmlns:a="http://schemas.openxmlformats.org/drawingml/2006/main">
            <a:off x="4815384" y="3292475"/>
            <a:ext cx="263796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Genau ein High-Level-Befehl mit Parametern und Begründung</a:t>
            </a:r>
          </a:p>
        </p:txBody>
      </p:sp>
      <p:pic>
        <p:nvPicPr>
          <p:cNvPr id="13" name="Image 1"/>
          <p:cNvPicPr>
            <a:picLocks xmlns:a="http://schemas.openxmlformats.org/drawingml/2006/main" noChangeAspect="1"/>
          </p:cNvPicPr>
          <p:nvPr/>
        </p:nvPicPr>
        <p:blipFill>
          <a:blip xmlns:r="http://schemas.openxmlformats.org/officeDocument/2006/relationships" xmlns:a="http://schemas.openxmlformats.org/drawingml/2006/main" r:embed="R9fcfb5a6e658418f"/>
          <a:srcRect xmlns:a="http://schemas.openxmlformats.org/drawingml/2006/main" l="0" t="0" r="0" b="0"/>
          <a:stretch xmlns:a="http://schemas.openxmlformats.org/drawingml/2006/main"/>
        </p:blipFill>
        <p:spPr>
          <a:xfrm xmlns:a="http://schemas.openxmlformats.org/drawingml/2006/main">
            <a:off x="7789267" y="2952750"/>
            <a:ext cx="355600" cy="20320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4CF068F-4612-426C-8363-1ADA7CB0C630}"/>
              </a:ext>
            </a:extLst>
          </p:cNvPr>
          <p:cNvSpPr>
            <a:spLocks xmlns:a="http://schemas.openxmlformats.org/drawingml/2006/main" noGrp="1"/>
          </p:cNvSpPr>
          <p:nvPr/>
        </p:nvSpPr>
        <p:spPr>
          <a:xfrm xmlns:a="http://schemas.openxmlformats.org/drawingml/2006/main">
            <a:off x="8300442" y="2035175"/>
            <a:ext cx="3075484" cy="2038350"/>
          </a:xfrm>
          <a:prstGeom xmlns:a="http://schemas.openxmlformats.org/drawingml/2006/main" prst="roundRect">
            <a:avLst>
              <a:gd name="adj" fmla="val 6075"/>
            </a:avLst>
          </a:prstGeom>
          <a:solidFill xmlns:a="http://schemas.openxmlformats.org/drawingml/2006/main">
            <a:srgbClr val="FBFBF8"/>
          </a:solidFill>
          <a:ln xmlns:a="http://schemas.openxmlformats.org/drawingml/2006/main" w="6350">
            <a:solidFill>
              <a:srgbClr val="D5DAD3"/>
            </a:solidFill>
            <a:prstDash val="solid"/>
          </a:ln>
        </p:spPr>
      </p:sp>
      <p:sp>
        <p:nvSpPr>
          <p:cNvPr id="15" name="Text 11">
            <a:extLst xmlns:a="http://schemas.openxmlformats.org/drawingml/2006/main">
              <a:ext uri="{FF2B5EF4-FFF2-40B4-BE49-F238E27FC236}">
                <a16:creationId xmlns:a16="http://schemas.microsoft.com/office/drawing/2014/main" id="{868D1AAA-FE0B-4D16-BB8F-43404A2F15A4}"/>
              </a:ext>
            </a:extLst>
          </p:cNvPr>
          <p:cNvSpPr>
            <a:spLocks xmlns:a="http://schemas.openxmlformats.org/drawingml/2006/main" noGrp="1"/>
          </p:cNvSpPr>
          <p:nvPr/>
        </p:nvSpPr>
        <p:spPr>
          <a:xfrm xmlns:a="http://schemas.openxmlformats.org/drawingml/2006/main">
            <a:off x="8557617" y="2292350"/>
            <a:ext cx="2637968"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2A64A0"/>
                </a:solidFill>
                <a:latin typeface="Space Grotesk"/>
                <a:ea typeface="Space Grotesk"/>
                <a:cs typeface="Space Grotesk"/>
              </a:rPr>
              <a:t>3</a:t>
            </a:r>
          </a:p>
        </p:txBody>
      </p:sp>
      <p:sp>
        <p:nvSpPr>
          <p:cNvPr id="16" name="Text 12">
            <a:extLst xmlns:a="http://schemas.openxmlformats.org/drawingml/2006/main">
              <a:ext uri="{FF2B5EF4-FFF2-40B4-BE49-F238E27FC236}">
                <a16:creationId xmlns:a16="http://schemas.microsoft.com/office/drawing/2014/main" id="{C6E8F408-F4B5-4C33-A57F-AB4BE3F0DDE4}"/>
              </a:ext>
            </a:extLst>
          </p:cNvPr>
          <p:cNvSpPr>
            <a:spLocks xmlns:a="http://schemas.openxmlformats.org/drawingml/2006/main" noGrp="1"/>
          </p:cNvSpPr>
          <p:nvPr/>
        </p:nvSpPr>
        <p:spPr>
          <a:xfrm xmlns:a="http://schemas.openxmlformats.org/drawingml/2006/main">
            <a:off x="8557617" y="2806700"/>
            <a:ext cx="2637968"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121B24"/>
                </a:solidFill>
                <a:latin typeface="IBM Plex Sans"/>
                <a:ea typeface="IBM Plex Sans"/>
                <a:cs typeface="IBM Plex Sans"/>
              </a:rPr>
              <a:t>Simulator prüft und fährt</a:t>
            </a:r>
          </a:p>
        </p:txBody>
      </p:sp>
      <p:sp>
        <p:nvSpPr>
          <p:cNvPr id="17" name="Text 13">
            <a:extLst xmlns:a="http://schemas.openxmlformats.org/drawingml/2006/main">
              <a:ext uri="{FF2B5EF4-FFF2-40B4-BE49-F238E27FC236}">
                <a16:creationId xmlns:a16="http://schemas.microsoft.com/office/drawing/2014/main" id="{369FA24B-61F2-4AAF-B3E9-1B6AE0326118}"/>
              </a:ext>
            </a:extLst>
          </p:cNvPr>
          <p:cNvSpPr>
            <a:spLocks xmlns:a="http://schemas.openxmlformats.org/drawingml/2006/main" noGrp="1"/>
          </p:cNvSpPr>
          <p:nvPr/>
        </p:nvSpPr>
        <p:spPr>
          <a:xfrm xmlns:a="http://schemas.openxmlformats.org/drawingml/2006/main">
            <a:off x="8557617" y="3187700"/>
            <a:ext cx="2637968" cy="654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Regeln, Sicherheit, Ausführung; gemessen werden Sicherheit, Erfolg, Standzeit, Kosten</a:t>
            </a:r>
          </a:p>
        </p:txBody>
      </p:sp>
      <p:sp>
        <p:nvSpPr>
          <p:cNvPr id="18" name="Text 14">
            <a:extLst xmlns:a="http://schemas.openxmlformats.org/drawingml/2006/main">
              <a:ext uri="{FF2B5EF4-FFF2-40B4-BE49-F238E27FC236}">
                <a16:creationId xmlns:a16="http://schemas.microsoft.com/office/drawing/2014/main" id="{CD05A50D-2192-4066-86F7-34C65B22D937}"/>
              </a:ext>
            </a:extLst>
          </p:cNvPr>
          <p:cNvSpPr>
            <a:spLocks xmlns:a="http://schemas.openxmlformats.org/drawingml/2006/main" noGrp="1"/>
          </p:cNvSpPr>
          <p:nvPr/>
        </p:nvSpPr>
        <p:spPr>
          <a:xfrm xmlns:a="http://schemas.openxmlformats.org/drawingml/2006/main">
            <a:off x="812800" y="4483100"/>
            <a:ext cx="10883392" cy="584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b="1">
                <a:solidFill>
                  <a:srgbClr val="121B24"/>
                </a:solidFill>
                <a:latin typeface="IBM Plex Sans"/>
                <a:ea typeface="IBM Plex Sans"/>
                <a:cs typeface="IBM Plex Sans"/>
              </a:rPr>
              <a:t>Kein Lenkrad, keine Trajektorie.</a:t>
            </a:r>
            <a:r>
              <a:rPr sz="1600">
                <a:solidFill>
                  <a:srgbClr val="46525C"/>
                </a:solidFill>
                <a:latin typeface="IBM Plex Sans"/>
                <a:ea typeface="IBM Plex Sans"/>
                <a:cs typeface="IBM Plex Sans"/>
              </a:rPr>
              <a:t> Der Agent entscheidet, </a:t>
            </a:r>
            <a:r>
              <a:rPr sz="1600" i="1">
                <a:solidFill>
                  <a:srgbClr val="46525C"/>
                </a:solidFill>
                <a:latin typeface="IBM Plex Sans"/>
                <a:ea typeface="IBM Plex Sans"/>
                <a:cs typeface="IBM Plex Sans"/>
              </a:rPr>
              <a:t>was</a:t>
            </a:r>
            <a:r>
              <a:rPr sz="1600">
                <a:solidFill>
                  <a:srgbClr val="46525C"/>
                </a:solidFill>
                <a:latin typeface="IBM Plex Sans"/>
                <a:ea typeface="IBM Plex Sans"/>
                <a:cs typeface="IBM Plex Sans"/>
              </a:rPr>
              <a:t> geschieht. </a:t>
            </a:r>
            <a:r>
              <a:rPr sz="1600" i="1">
                <a:solidFill>
                  <a:srgbClr val="46525C"/>
                </a:solidFill>
                <a:latin typeface="IBM Plex Sans"/>
                <a:ea typeface="IBM Plex Sans"/>
                <a:cs typeface="IBM Plex Sans"/>
              </a:rPr>
              <a:t>Wie</a:t>
            </a:r>
            <a:r>
              <a:rPr sz="1600">
                <a:solidFill>
                  <a:srgbClr val="46525C"/>
                </a:solidFill>
                <a:latin typeface="IBM Plex Sans"/>
                <a:ea typeface="IBM Plex Sans"/>
                <a:cs typeface="IBM Plex Sans"/>
              </a:rPr>
              <a:t> gelenkt und gebremst wird, erledigt der zertifizierte Ausführer.</a:t>
            </a:r>
          </a:p>
        </p:txBody>
      </p:sp>
      <p:sp>
        <p:nvSpPr>
          <p:cNvPr id="19" name="Text 15">
            <a:extLst xmlns:a="http://schemas.openxmlformats.org/drawingml/2006/main">
              <a:ext uri="{FF2B5EF4-FFF2-40B4-BE49-F238E27FC236}">
                <a16:creationId xmlns:a16="http://schemas.microsoft.com/office/drawing/2014/main" id="{B319C180-89A5-47D4-917B-2D1007CE7975}"/>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Autonomy Recovery Lab · Einstieg</a:t>
            </a:r>
          </a:p>
        </p:txBody>
      </p:sp>
      <p:sp>
        <p:nvSpPr>
          <p:cNvPr id="20" name="Text 16">
            <a:extLst xmlns:a="http://schemas.openxmlformats.org/drawingml/2006/main">
              <a:ext uri="{FF2B5EF4-FFF2-40B4-BE49-F238E27FC236}">
                <a16:creationId xmlns:a16="http://schemas.microsoft.com/office/drawing/2014/main" id="{C94B9304-CD3C-403C-BA94-F4FE67B868A5}"/>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6B7680"/>
                </a:solidFill>
                <a:latin typeface="IBM Plex Sans"/>
                <a:ea typeface="IBM Plex Sans"/>
                <a:cs typeface="IBM Plex Sans"/>
              </a:rPr>
              <a:t>3</a:t>
            </a:r>
          </a:p>
        </p:txBody>
      </p:sp>
    </p:spTree>
    <p:extLst>
      <p:ext uri="{BB962C8B-B14F-4D97-AF65-F5344CB8AC3E}">
        <p14:creationId xmlns:p14="http://schemas.microsoft.com/office/powerpoint/2010/main" val="1485225469"/>
      </p:ext>
    </p:extLst>
  </p:cSld>
</p:sld>
</file>

<file path=ppt/slides/slide4.xml><?xml version="1.0" encoding="utf-8"?>
<p:sld xmlns:p="http://schemas.openxmlformats.org/presentationml/2006/main">
  <p:cSld>
    <p:bg>
      <p:bgPr>
        <a:solidFill xmlns:a="http://schemas.openxmlformats.org/drawingml/2006/main">
          <a:srgbClr val="E7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B1ACD00-E45D-4DCB-8FC0-F031786D74BE}"/>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DIE ERSTE FRAGE</a:t>
            </a:r>
          </a:p>
        </p:txBody>
      </p:sp>
      <p:sp>
        <p:nvSpPr>
          <p:cNvPr id="3" name="Text 1">
            <a:extLst xmlns:a="http://schemas.openxmlformats.org/drawingml/2006/main">
              <a:ext uri="{FF2B5EF4-FFF2-40B4-BE49-F238E27FC236}">
                <a16:creationId xmlns:a16="http://schemas.microsoft.com/office/drawing/2014/main" id="{E932FB8E-3CDF-4781-BED8-65A78973164F}"/>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Steckt das Fahrzeug wirklich fest?</a:t>
            </a:r>
          </a:p>
        </p:txBody>
      </p:sp>
      <p:sp>
        <p:nvSpPr>
          <p:cNvPr id="4" name="Shape 2">
            <a:extLst xmlns:a="http://schemas.openxmlformats.org/drawingml/2006/main">
              <a:ext uri="{FF2B5EF4-FFF2-40B4-BE49-F238E27FC236}">
                <a16:creationId xmlns:a16="http://schemas.microsoft.com/office/drawing/2014/main" id="{1AD36FCD-28AC-4456-87B9-C07A94D24EFE}"/>
              </a:ext>
            </a:extLst>
          </p:cNvPr>
          <p:cNvSpPr>
            <a:spLocks xmlns:a="http://schemas.openxmlformats.org/drawingml/2006/main" noGrp="1"/>
          </p:cNvSpPr>
          <p:nvPr/>
        </p:nvSpPr>
        <p:spPr>
          <a:xfrm xmlns:a="http://schemas.openxmlformats.org/drawingml/2006/main">
            <a:off x="815975" y="1984375"/>
            <a:ext cx="5175250" cy="2063750"/>
          </a:xfrm>
          <a:prstGeom xmlns:a="http://schemas.openxmlformats.org/drawingml/2006/main" prst="roundRect">
            <a:avLst>
              <a:gd name="adj" fmla="val 6000"/>
            </a:avLst>
          </a:prstGeom>
          <a:solidFill xmlns:a="http://schemas.openxmlformats.org/drawingml/2006/main">
            <a:srgbClr val="FBFBF8"/>
          </a:solidFill>
          <a:ln xmlns:a="http://schemas.openxmlformats.org/drawingml/2006/main" w="6350">
            <a:solidFill>
              <a:srgbClr val="D5DAD3"/>
            </a:solidFill>
            <a:prstDash val="solid"/>
          </a:ln>
        </p:spPr>
      </p:sp>
      <p:pic>
        <p:nvPicPr>
          <p:cNvPr id="5" name="Image 0"/>
          <p:cNvPicPr>
            <a:picLocks xmlns:a="http://schemas.openxmlformats.org/drawingml/2006/main" noChangeAspect="1"/>
          </p:cNvPicPr>
          <p:nvPr/>
        </p:nvPicPr>
        <p:blipFill>
          <a:blip xmlns:r="http://schemas.openxmlformats.org/officeDocument/2006/relationships" xmlns:a="http://schemas.openxmlformats.org/drawingml/2006/main" r:embed="R779717957e494e73"/>
          <a:srcRect xmlns:a="http://schemas.openxmlformats.org/drawingml/2006/main" l="0" t="0" r="0" b="0"/>
          <a:stretch xmlns:a="http://schemas.openxmlformats.org/drawingml/2006/main"/>
        </p:blipFill>
        <p:spPr>
          <a:xfrm xmlns:a="http://schemas.openxmlformats.org/drawingml/2006/main">
            <a:off x="1123950" y="2292350"/>
            <a:ext cx="304800" cy="30480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E267516D-2B7E-4F4D-82E5-80D57B28535E}"/>
              </a:ext>
            </a:extLst>
          </p:cNvPr>
          <p:cNvSpPr>
            <a:spLocks xmlns:a="http://schemas.openxmlformats.org/drawingml/2006/main" noGrp="1"/>
          </p:cNvSpPr>
          <p:nvPr/>
        </p:nvSpPr>
        <p:spPr>
          <a:xfrm xmlns:a="http://schemas.openxmlformats.org/drawingml/2006/main">
            <a:off x="1555750" y="2324100"/>
            <a:ext cx="1943695"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Warten ist richtig</a:t>
            </a:r>
          </a:p>
        </p:txBody>
      </p:sp>
      <p:sp>
        <p:nvSpPr>
          <p:cNvPr id="7" name="Text 4">
            <a:extLst xmlns:a="http://schemas.openxmlformats.org/drawingml/2006/main">
              <a:ext uri="{FF2B5EF4-FFF2-40B4-BE49-F238E27FC236}">
                <a16:creationId xmlns:a16="http://schemas.microsoft.com/office/drawing/2014/main" id="{33F63B90-787A-43CE-9866-7A8112C0CAFE}"/>
              </a:ext>
            </a:extLst>
          </p:cNvPr>
          <p:cNvSpPr>
            <a:spLocks xmlns:a="http://schemas.openxmlformats.org/drawingml/2006/main" noGrp="1"/>
          </p:cNvSpPr>
          <p:nvPr/>
        </p:nvSpPr>
        <p:spPr>
          <a:xfrm xmlns:a="http://schemas.openxmlformats.org/drawingml/2006/main">
            <a:off x="1123950" y="2749550"/>
            <a:ext cx="4696079" cy="584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a:solidFill>
                  <a:srgbClr val="46525C"/>
                </a:solidFill>
                <a:latin typeface="IBM Plex Sans"/>
                <a:ea typeface="IBM Plex Sans"/>
                <a:cs typeface="IBM Plex Sans"/>
              </a:rPr>
              <a:t>Rote Ampel, Güterzug am Bahnübergang, Stau, geplanter Halt</a:t>
            </a:r>
          </a:p>
        </p:txBody>
      </p:sp>
      <p:sp>
        <p:nvSpPr>
          <p:cNvPr id="8" name="Text 5">
            <a:extLst xmlns:a="http://schemas.openxmlformats.org/drawingml/2006/main">
              <a:ext uri="{FF2B5EF4-FFF2-40B4-BE49-F238E27FC236}">
                <a16:creationId xmlns:a16="http://schemas.microsoft.com/office/drawing/2014/main" id="{06E542AE-7BB8-4B7D-990E-340F1AB86DB2}"/>
              </a:ext>
            </a:extLst>
          </p:cNvPr>
          <p:cNvSpPr>
            <a:spLocks xmlns:a="http://schemas.openxmlformats.org/drawingml/2006/main" noGrp="1"/>
          </p:cNvSpPr>
          <p:nvPr/>
        </p:nvSpPr>
        <p:spPr>
          <a:xfrm xmlns:a="http://schemas.openxmlformats.org/drawingml/2006/main">
            <a:off x="1123950" y="3460750"/>
            <a:ext cx="4696079"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b="1">
                <a:solidFill>
                  <a:srgbClr val="2A64A0"/>
                </a:solidFill>
                <a:latin typeface="IBM Plex Sans"/>
                <a:ea typeface="IBM Plex Sans"/>
                <a:cs typeface="IBM Plex Sans"/>
              </a:rPr>
              <a:t>Wer hier eingreift, löst einen Fehlalarm aus.</a:t>
            </a:r>
          </a:p>
        </p:txBody>
      </p:sp>
      <p:sp>
        <p:nvSpPr>
          <p:cNvPr id="9" name="Shape 6">
            <a:extLst xmlns:a="http://schemas.openxmlformats.org/drawingml/2006/main">
              <a:ext uri="{FF2B5EF4-FFF2-40B4-BE49-F238E27FC236}">
                <a16:creationId xmlns:a16="http://schemas.microsoft.com/office/drawing/2014/main" id="{B1D636D1-BE20-4E7A-BF7A-279FB1DEECE8}"/>
              </a:ext>
            </a:extLst>
          </p:cNvPr>
          <p:cNvSpPr>
            <a:spLocks xmlns:a="http://schemas.openxmlformats.org/drawingml/2006/main" noGrp="1"/>
          </p:cNvSpPr>
          <p:nvPr/>
        </p:nvSpPr>
        <p:spPr>
          <a:xfrm xmlns:a="http://schemas.openxmlformats.org/drawingml/2006/main">
            <a:off x="6200775" y="1984375"/>
            <a:ext cx="5175250" cy="2063750"/>
          </a:xfrm>
          <a:prstGeom xmlns:a="http://schemas.openxmlformats.org/drawingml/2006/main" prst="roundRect">
            <a:avLst>
              <a:gd name="adj" fmla="val 6000"/>
            </a:avLst>
          </a:prstGeom>
          <a:solidFill xmlns:a="http://schemas.openxmlformats.org/drawingml/2006/main">
            <a:srgbClr val="FBFBF8"/>
          </a:solidFill>
          <a:ln xmlns:a="http://schemas.openxmlformats.org/drawingml/2006/main" w="6350">
            <a:solidFill>
              <a:srgbClr val="D5DAD3"/>
            </a:solidFill>
            <a:prstDash val="solid"/>
          </a:ln>
        </p:spPr>
      </p:sp>
      <p:pic>
        <p:nvPicPr>
          <p:cNvPr id="10" name="Image 1"/>
          <p:cNvPicPr>
            <a:picLocks xmlns:a="http://schemas.openxmlformats.org/drawingml/2006/main" noChangeAspect="1"/>
          </p:cNvPicPr>
          <p:nvPr/>
        </p:nvPicPr>
        <p:blipFill>
          <a:blip xmlns:r="http://schemas.openxmlformats.org/officeDocument/2006/relationships" xmlns:a="http://schemas.openxmlformats.org/drawingml/2006/main" r:embed="R50f64d53f7ca46c7"/>
          <a:srcRect xmlns:a="http://schemas.openxmlformats.org/drawingml/2006/main" l="0" t="0" r="0" b="0"/>
          <a:stretch xmlns:a="http://schemas.openxmlformats.org/drawingml/2006/main"/>
        </p:blipFill>
        <p:spPr>
          <a:xfrm xmlns:a="http://schemas.openxmlformats.org/drawingml/2006/main">
            <a:off x="6508750" y="2292350"/>
            <a:ext cx="304800" cy="3048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019794E-674B-4A10-88B5-7CD7D14BAC6D}"/>
              </a:ext>
            </a:extLst>
          </p:cNvPr>
          <p:cNvSpPr>
            <a:spLocks xmlns:a="http://schemas.openxmlformats.org/drawingml/2006/main" noGrp="1"/>
          </p:cNvSpPr>
          <p:nvPr/>
        </p:nvSpPr>
        <p:spPr>
          <a:xfrm xmlns:a="http://schemas.openxmlformats.org/drawingml/2006/main">
            <a:off x="6940550" y="2324100"/>
            <a:ext cx="1787843"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Eingriff ist nötig</a:t>
            </a:r>
          </a:p>
        </p:txBody>
      </p:sp>
      <p:sp>
        <p:nvSpPr>
          <p:cNvPr id="12" name="Text 8">
            <a:extLst xmlns:a="http://schemas.openxmlformats.org/drawingml/2006/main">
              <a:ext uri="{FF2B5EF4-FFF2-40B4-BE49-F238E27FC236}">
                <a16:creationId xmlns:a16="http://schemas.microsoft.com/office/drawing/2014/main" id="{8FA28C4D-96F6-46E3-9386-4B9D8FAC2316}"/>
              </a:ext>
            </a:extLst>
          </p:cNvPr>
          <p:cNvSpPr>
            <a:spLocks xmlns:a="http://schemas.openxmlformats.org/drawingml/2006/main" noGrp="1"/>
          </p:cNvSpPr>
          <p:nvPr/>
        </p:nvSpPr>
        <p:spPr>
          <a:xfrm xmlns:a="http://schemas.openxmlformats.org/drawingml/2006/main">
            <a:off x="6508750" y="2749550"/>
            <a:ext cx="4696079" cy="584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a:solidFill>
                  <a:srgbClr val="46525C"/>
                </a:solidFill>
                <a:latin typeface="IBM Plex Sans"/>
                <a:ea typeface="IBM Plex Sans"/>
                <a:cs typeface="IBM Plex Sans"/>
              </a:rPr>
              <a:t>Ampel dunkel, grüne Ampel mit Blockade, Lieferwagen ohne Fahrer</a:t>
            </a:r>
          </a:p>
        </p:txBody>
      </p:sp>
      <p:sp>
        <p:nvSpPr>
          <p:cNvPr id="13" name="Text 9">
            <a:extLst xmlns:a="http://schemas.openxmlformats.org/drawingml/2006/main">
              <a:ext uri="{FF2B5EF4-FFF2-40B4-BE49-F238E27FC236}">
                <a16:creationId xmlns:a16="http://schemas.microsoft.com/office/drawing/2014/main" id="{F02BE793-1473-4930-9970-699F11012F6A}"/>
              </a:ext>
            </a:extLst>
          </p:cNvPr>
          <p:cNvSpPr>
            <a:spLocks xmlns:a="http://schemas.openxmlformats.org/drawingml/2006/main" noGrp="1"/>
          </p:cNvSpPr>
          <p:nvPr/>
        </p:nvSpPr>
        <p:spPr>
          <a:xfrm xmlns:a="http://schemas.openxmlformats.org/drawingml/2006/main">
            <a:off x="6508750" y="3460750"/>
            <a:ext cx="4696079"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b="1">
                <a:solidFill>
                  <a:srgbClr val="B4541A"/>
                </a:solidFill>
                <a:latin typeface="IBM Plex Sans"/>
                <a:ea typeface="IBM Plex Sans"/>
                <a:cs typeface="IBM Plex Sans"/>
              </a:rPr>
              <a:t>Wer hier wartet, verpasst den Eingriff.</a:t>
            </a:r>
          </a:p>
        </p:txBody>
      </p:sp>
      <p:sp>
        <p:nvSpPr>
          <p:cNvPr id="14" name="Text 10">
            <a:extLst xmlns:a="http://schemas.openxmlformats.org/drawingml/2006/main">
              <a:ext uri="{FF2B5EF4-FFF2-40B4-BE49-F238E27FC236}">
                <a16:creationId xmlns:a16="http://schemas.microsoft.com/office/drawing/2014/main" id="{9477E5E8-5AD6-4F38-9F3B-DE14EE9BFE34}"/>
              </a:ext>
            </a:extLst>
          </p:cNvPr>
          <p:cNvSpPr>
            <a:spLocks xmlns:a="http://schemas.openxmlformats.org/drawingml/2006/main" noGrp="1"/>
          </p:cNvSpPr>
          <p:nvPr/>
        </p:nvSpPr>
        <p:spPr>
          <a:xfrm xmlns:a="http://schemas.openxmlformats.org/drawingml/2006/main">
            <a:off x="812800" y="4406900"/>
            <a:ext cx="10883392"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a:solidFill>
                  <a:srgbClr val="46525C"/>
                </a:solidFill>
                <a:latin typeface="IBM Plex Sans"/>
                <a:ea typeface="IBM Plex Sans"/>
                <a:cs typeface="IBM Plex Sans"/>
              </a:rPr>
              <a:t>Der Stillstandsmonitor ruft euren Agenten bei </a:t>
            </a:r>
            <a:r>
              <a:rPr sz="1600" b="1">
                <a:solidFill>
                  <a:srgbClr val="121B24"/>
                </a:solidFill>
                <a:latin typeface="IBM Plex Sans"/>
                <a:ea typeface="IBM Plex Sans"/>
                <a:cs typeface="IBM Plex Sans"/>
              </a:rPr>
              <a:t>jedem</a:t>
            </a:r>
            <a:r>
              <a:rPr sz="1600">
                <a:solidFill>
                  <a:srgbClr val="46525C"/>
                </a:solidFill>
                <a:latin typeface="IBM Plex Sans"/>
                <a:ea typeface="IBM Plex Sans"/>
                <a:cs typeface="IBM Plex Sans"/>
              </a:rPr>
              <a:t> Halt. Unterscheiden muss der Agent selbst.</a:t>
            </a:r>
          </a:p>
        </p:txBody>
      </p:sp>
      <p:sp>
        <p:nvSpPr>
          <p:cNvPr id="15" name="Text 11">
            <a:extLst xmlns:a="http://schemas.openxmlformats.org/drawingml/2006/main">
              <a:ext uri="{FF2B5EF4-FFF2-40B4-BE49-F238E27FC236}">
                <a16:creationId xmlns:a16="http://schemas.microsoft.com/office/drawing/2014/main" id="{FB6337F1-AB9E-4A7D-B832-A8A52473EBB5}"/>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Autonomy Recovery Lab · Einstieg</a:t>
            </a:r>
          </a:p>
        </p:txBody>
      </p:sp>
      <p:sp>
        <p:nvSpPr>
          <p:cNvPr id="16" name="Text 12">
            <a:extLst xmlns:a="http://schemas.openxmlformats.org/drawingml/2006/main">
              <a:ext uri="{FF2B5EF4-FFF2-40B4-BE49-F238E27FC236}">
                <a16:creationId xmlns:a16="http://schemas.microsoft.com/office/drawing/2014/main" id="{C7130E00-EB34-4C8A-8CE2-A37C2C29E4F0}"/>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6B7680"/>
                </a:solidFill>
                <a:latin typeface="IBM Plex Sans"/>
                <a:ea typeface="IBM Plex Sans"/>
                <a:cs typeface="IBM Plex Sans"/>
              </a:rPr>
              <a:t>4</a:t>
            </a:r>
          </a:p>
        </p:txBody>
      </p:sp>
    </p:spTree>
    <p:extLst>
      <p:ext uri="{BB962C8B-B14F-4D97-AF65-F5344CB8AC3E}">
        <p14:creationId xmlns:p14="http://schemas.microsoft.com/office/powerpoint/2010/main" val="265556139"/>
      </p:ext>
    </p:extLst>
  </p:cSld>
</p:sld>
</file>

<file path=ppt/slides/slide5.xml><?xml version="1.0" encoding="utf-8"?>
<p:sld xmlns:p="http://schemas.openxmlformats.org/presentationml/2006/main">
  <p:cSld>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3C633D7-CCCB-48D1-BF65-341F6B1296F7}"/>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F2994A"/>
                </a:solidFill>
                <a:latin typeface="IBM Plex Sans"/>
                <a:ea typeface="IBM Plex Sans"/>
                <a:cs typeface="IBM Plex Sans"/>
              </a:rPr>
              <a:t>WAHRNEHMUNG</a:t>
            </a:r>
          </a:p>
        </p:txBody>
      </p:sp>
      <p:sp>
        <p:nvSpPr>
          <p:cNvPr id="3" name="Text 1">
            <a:extLst xmlns:a="http://schemas.openxmlformats.org/drawingml/2006/main">
              <a:ext uri="{FF2B5EF4-FFF2-40B4-BE49-F238E27FC236}">
                <a16:creationId xmlns:a16="http://schemas.microsoft.com/office/drawing/2014/main" id="{BF9E699C-361B-4516-9A13-62998E3EFA63}"/>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F4F5F1"/>
                </a:solidFill>
                <a:latin typeface="Space Grotesk"/>
                <a:ea typeface="Space Grotesk"/>
                <a:cs typeface="Space Grotesk"/>
              </a:rPr>
              <a:t>Was euer Agent zu sehen bekommt</a:t>
            </a:r>
          </a:p>
        </p:txBody>
      </p:sp>
      <p:sp>
        <p:nvSpPr>
          <p:cNvPr id="4" name="Shape 2">
            <a:extLst xmlns:a="http://schemas.openxmlformats.org/drawingml/2006/main">
              <a:ext uri="{FF2B5EF4-FFF2-40B4-BE49-F238E27FC236}">
                <a16:creationId xmlns:a16="http://schemas.microsoft.com/office/drawing/2014/main" id="{7F187AA5-405C-4B89-B30E-BE510B6ACBFB}"/>
              </a:ext>
            </a:extLst>
          </p:cNvPr>
          <p:cNvSpPr>
            <a:spLocks xmlns:a="http://schemas.openxmlformats.org/drawingml/2006/main" noGrp="1"/>
          </p:cNvSpPr>
          <p:nvPr/>
        </p:nvSpPr>
        <p:spPr>
          <a:xfrm xmlns:a="http://schemas.openxmlformats.org/drawingml/2006/main">
            <a:off x="815975" y="1984375"/>
            <a:ext cx="5175250" cy="3003550"/>
          </a:xfrm>
          <a:prstGeom xmlns:a="http://schemas.openxmlformats.org/drawingml/2006/main" prst="roundRect">
            <a:avLst>
              <a:gd name="adj" fmla="val 4123"/>
            </a:avLst>
          </a:prstGeom>
          <a:solidFill xmlns:a="http://schemas.openxmlformats.org/drawingml/2006/main">
            <a:srgbClr val="1C2833"/>
          </a:solidFill>
          <a:ln xmlns:a="http://schemas.openxmlformats.org/drawingml/2006/main" w="6350">
            <a:solidFill>
              <a:srgbClr val="2C3A47"/>
            </a:solidFill>
            <a:prstDash val="solid"/>
          </a:ln>
        </p:spPr>
      </p:sp>
      <p:sp>
        <p:nvSpPr>
          <p:cNvPr id="5" name="Text 3">
            <a:extLst xmlns:a="http://schemas.openxmlformats.org/drawingml/2006/main">
              <a:ext uri="{FF2B5EF4-FFF2-40B4-BE49-F238E27FC236}">
                <a16:creationId xmlns:a16="http://schemas.microsoft.com/office/drawing/2014/main" id="{1E95C339-6FC4-420E-9DE5-F4862A301920}"/>
              </a:ext>
            </a:extLst>
          </p:cNvPr>
          <p:cNvSpPr>
            <a:spLocks xmlns:a="http://schemas.openxmlformats.org/drawingml/2006/main" noGrp="1"/>
          </p:cNvSpPr>
          <p:nvPr/>
        </p:nvSpPr>
        <p:spPr>
          <a:xfrm xmlns:a="http://schemas.openxmlformats.org/drawingml/2006/main">
            <a:off x="1073150" y="2241550"/>
            <a:ext cx="4800727"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7FB2E5"/>
                </a:solidFill>
                <a:latin typeface="IBM Plex Sans"/>
                <a:ea typeface="IBM Plex Sans"/>
                <a:cs typeface="IBM Plex Sans"/>
              </a:rPr>
              <a:t>Ab L4: Objektliste mit Unsicherheit</a:t>
            </a:r>
          </a:p>
        </p:txBody>
      </p:sp>
      <p:sp>
        <p:nvSpPr>
          <p:cNvPr id="6" name="Text 4">
            <a:extLst xmlns:a="http://schemas.openxmlformats.org/drawingml/2006/main">
              <a:ext uri="{FF2B5EF4-FFF2-40B4-BE49-F238E27FC236}">
                <a16:creationId xmlns:a16="http://schemas.microsoft.com/office/drawing/2014/main" id="{107392CA-3000-4B61-BD0E-1A84A2E1DDBD}"/>
              </a:ext>
            </a:extLst>
          </p:cNvPr>
          <p:cNvSpPr>
            <a:spLocks xmlns:a="http://schemas.openxmlformats.org/drawingml/2006/main" noGrp="1"/>
          </p:cNvSpPr>
          <p:nvPr/>
        </p:nvSpPr>
        <p:spPr>
          <a:xfrm xmlns:a="http://schemas.openxmlformats.org/drawingml/2006/main">
            <a:off x="1073150" y="2635250"/>
            <a:ext cx="4800727" cy="2120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JetBrains Mono"/>
                <a:ea typeface="JetBrains Mono"/>
                <a:cs typeface="JetBrains Mono"/>
              </a:rPr>
              <a:t>{</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"existence_probability": 0.97,</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"classification": [</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{"label": "VAN", "probability": 0.81},</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{"label": "TRUCK", "probability": 0.19}],</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"kinematics": {</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"position_m": [18.4, 0.1],</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"position_std_m": [0.3, 0.2],</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"motion_state": "STATIONARY"},</a:t>
            </a:r>
          </a:p>
          <a:p xmlns:a="http://schemas.openxmlformats.org/drawingml/2006/main">
            <a:pPr marL="0" indent="0" algn="l">
              <a:lnSpc>
                <a:spcPts val="1680"/>
              </a:lnSpc>
              <a:buNone/>
            </a:pPr>
            <a:r>
              <a:rPr sz="1200">
                <a:solidFill>
                  <a:srgbClr val="DCE3E8"/>
                </a:solidFill>
                <a:latin typeface="JetBrains Mono"/>
                <a:ea typeface="JetBrains Mono"/>
                <a:cs typeface="JetBrains Mono"/>
              </a:rPr>
              <a:t>  "lane_association": {"lane": "EGO_LANE"} }</a:t>
            </a:r>
          </a:p>
        </p:txBody>
      </p:sp>
      <p:sp>
        <p:nvSpPr>
          <p:cNvPr id="7" name="Shape 5">
            <a:extLst xmlns:a="http://schemas.openxmlformats.org/drawingml/2006/main">
              <a:ext uri="{FF2B5EF4-FFF2-40B4-BE49-F238E27FC236}">
                <a16:creationId xmlns:a16="http://schemas.microsoft.com/office/drawing/2014/main" id="{D1BA613A-51CB-463D-97DA-F91DBC6BD0B5}"/>
              </a:ext>
            </a:extLst>
          </p:cNvPr>
          <p:cNvSpPr>
            <a:spLocks xmlns:a="http://schemas.openxmlformats.org/drawingml/2006/main" noGrp="1"/>
          </p:cNvSpPr>
          <p:nvPr/>
        </p:nvSpPr>
        <p:spPr>
          <a:xfrm xmlns:a="http://schemas.openxmlformats.org/drawingml/2006/main">
            <a:off x="6200775" y="1984375"/>
            <a:ext cx="5175250" cy="3003550"/>
          </a:xfrm>
          <a:prstGeom xmlns:a="http://schemas.openxmlformats.org/drawingml/2006/main" prst="roundRect">
            <a:avLst>
              <a:gd name="adj" fmla="val 4123"/>
            </a:avLst>
          </a:prstGeom>
          <a:solidFill xmlns:a="http://schemas.openxmlformats.org/drawingml/2006/main">
            <a:srgbClr val="1C2833"/>
          </a:solidFill>
          <a:ln xmlns:a="http://schemas.openxmlformats.org/drawingml/2006/main" w="6350">
            <a:solidFill>
              <a:srgbClr val="2C3A47"/>
            </a:solidFill>
            <a:prstDash val="solid"/>
          </a:ln>
        </p:spPr>
      </p:sp>
      <p:sp>
        <p:nvSpPr>
          <p:cNvPr id="8" name="Text 6">
            <a:extLst xmlns:a="http://schemas.openxmlformats.org/drawingml/2006/main">
              <a:ext uri="{FF2B5EF4-FFF2-40B4-BE49-F238E27FC236}">
                <a16:creationId xmlns:a16="http://schemas.microsoft.com/office/drawing/2014/main" id="{06D454B6-5191-47D6-A909-45784C560231}"/>
              </a:ext>
            </a:extLst>
          </p:cNvPr>
          <p:cNvSpPr>
            <a:spLocks xmlns:a="http://schemas.openxmlformats.org/drawingml/2006/main" noGrp="1"/>
          </p:cNvSpPr>
          <p:nvPr/>
        </p:nvSpPr>
        <p:spPr>
          <a:xfrm xmlns:a="http://schemas.openxmlformats.org/drawingml/2006/main">
            <a:off x="6457950" y="2241550"/>
            <a:ext cx="4800727"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7FB2E5"/>
                </a:solidFill>
                <a:latin typeface="IBM Plex Sans"/>
                <a:ea typeface="IBM Plex Sans"/>
                <a:cs typeface="IBM Plex Sans"/>
              </a:rPr>
              <a:t>In L6: Selbstauskunft des Fahrstacks</a:t>
            </a:r>
          </a:p>
        </p:txBody>
      </p:sp>
      <p:sp>
        <p:nvSpPr>
          <p:cNvPr id="9" name="Text 7">
            <a:extLst xmlns:a="http://schemas.openxmlformats.org/drawingml/2006/main">
              <a:ext uri="{FF2B5EF4-FFF2-40B4-BE49-F238E27FC236}">
                <a16:creationId xmlns:a16="http://schemas.microsoft.com/office/drawing/2014/main" id="{F6E0CF20-4347-4475-9D75-69F258E62474}"/>
              </a:ext>
            </a:extLst>
          </p:cNvPr>
          <p:cNvSpPr>
            <a:spLocks xmlns:a="http://schemas.openxmlformats.org/drawingml/2006/main" noGrp="1"/>
          </p:cNvSpPr>
          <p:nvPr/>
        </p:nvSpPr>
        <p:spPr>
          <a:xfrm xmlns:a="http://schemas.openxmlformats.org/drawingml/2006/main">
            <a:off x="6457950" y="2686050"/>
            <a:ext cx="4800727"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50"/>
              </a:lnSpc>
              <a:buNone/>
            </a:pPr>
            <a:r>
              <a:rPr sz="2200" i="1">
                <a:solidFill>
                  <a:srgbClr val="F4F5F1"/>
                </a:solidFill>
                <a:latin typeface="IBM Plex Sans"/>
                <a:ea typeface="IBM Plex Sans"/>
                <a:cs typeface="IBM Plex Sans"/>
              </a:rPr>
              <a:t>„Ein Lieferwagen blockiert die Spur, also halte ich an.“</a:t>
            </a:r>
          </a:p>
        </p:txBody>
      </p:sp>
      <p:sp>
        <p:nvSpPr>
          <p:cNvPr id="10" name="Text 8">
            <a:extLst xmlns:a="http://schemas.openxmlformats.org/drawingml/2006/main">
              <a:ext uri="{FF2B5EF4-FFF2-40B4-BE49-F238E27FC236}">
                <a16:creationId xmlns:a16="http://schemas.microsoft.com/office/drawing/2014/main" id="{B81340EC-D386-4303-A66B-6878AB8B8CBB}"/>
              </a:ext>
            </a:extLst>
          </p:cNvPr>
          <p:cNvSpPr>
            <a:spLocks xmlns:a="http://schemas.openxmlformats.org/drawingml/2006/main" noGrp="1"/>
          </p:cNvSpPr>
          <p:nvPr/>
        </p:nvSpPr>
        <p:spPr>
          <a:xfrm xmlns:a="http://schemas.openxmlformats.org/drawingml/2006/main">
            <a:off x="6457950" y="3587750"/>
            <a:ext cx="4800727"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JetBrains Mono"/>
                <a:ea typeface="JetBrains Mono"/>
                <a:cs typeface="JetBrains Mono"/>
              </a:rPr>
              <a:t>meta_action: STOP · confidence: 0.92</a:t>
            </a:r>
          </a:p>
        </p:txBody>
      </p:sp>
      <p:sp>
        <p:nvSpPr>
          <p:cNvPr id="11" name="Text 9">
            <a:extLst xmlns:a="http://schemas.openxmlformats.org/drawingml/2006/main">
              <a:ext uri="{FF2B5EF4-FFF2-40B4-BE49-F238E27FC236}">
                <a16:creationId xmlns:a16="http://schemas.microsoft.com/office/drawing/2014/main" id="{16ED7623-F38C-4175-86A3-3EB9EA40B3C8}"/>
              </a:ext>
            </a:extLst>
          </p:cNvPr>
          <p:cNvSpPr>
            <a:spLocks xmlns:a="http://schemas.openxmlformats.org/drawingml/2006/main" noGrp="1"/>
          </p:cNvSpPr>
          <p:nvPr/>
        </p:nvSpPr>
        <p:spPr>
          <a:xfrm xmlns:a="http://schemas.openxmlformats.org/drawingml/2006/main">
            <a:off x="6457950" y="4000500"/>
            <a:ext cx="4800727"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Begründung im Stil von NVIDIA Alpamayo. Sie klingt plausibel und kann trotzdem falsch sein: </a:t>
            </a:r>
            <a:r>
              <a:rPr sz="1200">
                <a:solidFill>
                  <a:srgbClr val="F2994A"/>
                </a:solidFill>
                <a:latin typeface="IBM Plex Sans"/>
                <a:ea typeface="IBM Plex Sans"/>
                <a:cs typeface="IBM Plex Sans"/>
              </a:rPr>
              <a:t>gegen die Messungen prüfen.</a:t>
            </a:r>
          </a:p>
        </p:txBody>
      </p:sp>
      <p:sp>
        <p:nvSpPr>
          <p:cNvPr id="12" name="Text 10">
            <a:extLst xmlns:a="http://schemas.openxmlformats.org/drawingml/2006/main">
              <a:ext uri="{FF2B5EF4-FFF2-40B4-BE49-F238E27FC236}">
                <a16:creationId xmlns:a16="http://schemas.microsoft.com/office/drawing/2014/main" id="{E84F64D2-1534-43E9-A0BA-30B9AD8AC9B2}"/>
              </a:ext>
            </a:extLst>
          </p:cNvPr>
          <p:cNvSpPr>
            <a:spLocks xmlns:a="http://schemas.openxmlformats.org/drawingml/2006/main" noGrp="1"/>
          </p:cNvSpPr>
          <p:nvPr/>
        </p:nvSpPr>
        <p:spPr>
          <a:xfrm xmlns:a="http://schemas.openxmlformats.org/drawingml/2006/main">
            <a:off x="812800" y="5346700"/>
            <a:ext cx="10883392"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a:solidFill>
                  <a:srgbClr val="B9C4CC"/>
                </a:solidFill>
                <a:latin typeface="IBM Plex Sans"/>
                <a:ea typeface="IBM Plex Sans"/>
                <a:cs typeface="IBM Plex Sans"/>
              </a:rPr>
              <a:t>In L1 bis L3 liefern die Werkzeuge fertige Urteile wie „Gegenverkehr: ja“. </a:t>
            </a:r>
            <a:r>
              <a:rPr sz="1600">
                <a:solidFill>
                  <a:srgbClr val="F4F5F1"/>
                </a:solidFill>
                <a:latin typeface="IBM Plex Sans"/>
                <a:ea typeface="IBM Plex Sans"/>
                <a:cs typeface="IBM Plex Sans"/>
              </a:rPr>
              <a:t>Ab L4 rechnet euer Agent selbst.</a:t>
            </a:r>
          </a:p>
        </p:txBody>
      </p:sp>
      <p:sp>
        <p:nvSpPr>
          <p:cNvPr id="13" name="Text 11">
            <a:extLst xmlns:a="http://schemas.openxmlformats.org/drawingml/2006/main">
              <a:ext uri="{FF2B5EF4-FFF2-40B4-BE49-F238E27FC236}">
                <a16:creationId xmlns:a16="http://schemas.microsoft.com/office/drawing/2014/main" id="{A0B265B9-633F-4214-A247-CC3D9506E9C3}"/>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C99A4"/>
                </a:solidFill>
                <a:latin typeface="IBM Plex Sans"/>
                <a:ea typeface="IBM Plex Sans"/>
                <a:cs typeface="IBM Plex Sans"/>
              </a:rPr>
              <a:t>Autonomy Recovery Lab · Einstieg · Beispielwerte, gekürzt</a:t>
            </a:r>
          </a:p>
        </p:txBody>
      </p:sp>
      <p:sp>
        <p:nvSpPr>
          <p:cNvPr id="14" name="Text 12">
            <a:extLst xmlns:a="http://schemas.openxmlformats.org/drawingml/2006/main">
              <a:ext uri="{FF2B5EF4-FFF2-40B4-BE49-F238E27FC236}">
                <a16:creationId xmlns:a16="http://schemas.microsoft.com/office/drawing/2014/main" id="{181BB9D6-D49E-4163-98A7-FAD118AB46A6}"/>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C99A4"/>
                </a:solidFill>
                <a:latin typeface="IBM Plex Sans"/>
                <a:ea typeface="IBM Plex Sans"/>
                <a:cs typeface="IBM Plex Sans"/>
              </a:rPr>
              <a:t>5</a:t>
            </a:r>
          </a:p>
        </p:txBody>
      </p:sp>
    </p:spTree>
    <p:extLst>
      <p:ext uri="{BB962C8B-B14F-4D97-AF65-F5344CB8AC3E}">
        <p14:creationId xmlns:p14="http://schemas.microsoft.com/office/powerpoint/2010/main" val="1184174"/>
      </p:ext>
    </p:extLst>
  </p:cSld>
</p:sld>
</file>

<file path=ppt/slides/slide6.xml><?xml version="1.0" encoding="utf-8"?>
<p:sld xmlns:p="http://schemas.openxmlformats.org/presentationml/2006/main">
  <p:cSld>
    <p:bg>
      <p:bgPr>
        <a:solidFill xmlns:a="http://schemas.openxmlformats.org/drawingml/2006/main">
          <a:srgbClr val="F4F5F1"/>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27DDA7B-127A-4469-AB63-CEB6CDF111F0}"/>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HANDLUNGSRAUM</a:t>
            </a:r>
          </a:p>
        </p:txBody>
      </p:sp>
      <p:sp>
        <p:nvSpPr>
          <p:cNvPr id="3" name="Text 1">
            <a:extLst xmlns:a="http://schemas.openxmlformats.org/drawingml/2006/main">
              <a:ext uri="{FF2B5EF4-FFF2-40B4-BE49-F238E27FC236}">
                <a16:creationId xmlns:a16="http://schemas.microsoft.com/office/drawing/2014/main" id="{DF4C7984-909A-4606-B5A2-E0FFD1A7E6E9}"/>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24 Befehle, aber kein Lenkrad</a:t>
            </a:r>
          </a:p>
        </p:txBody>
      </p:sp>
      <p:sp>
        <p:nvSpPr>
          <p:cNvPr id="4" name="Shape 2">
            <a:extLst xmlns:a="http://schemas.openxmlformats.org/drawingml/2006/main">
              <a:ext uri="{FF2B5EF4-FFF2-40B4-BE49-F238E27FC236}">
                <a16:creationId xmlns:a16="http://schemas.microsoft.com/office/drawing/2014/main" id="{3073ECCF-D94A-4E10-8DF7-3A8F57177AAB}"/>
              </a:ext>
            </a:extLst>
          </p:cNvPr>
          <p:cNvSpPr>
            <a:spLocks xmlns:a="http://schemas.openxmlformats.org/drawingml/2006/main" noGrp="1"/>
          </p:cNvSpPr>
          <p:nvPr/>
        </p:nvSpPr>
        <p:spPr>
          <a:xfrm xmlns:a="http://schemas.openxmlformats.org/drawingml/2006/main">
            <a:off x="815975" y="1933575"/>
            <a:ext cx="3414117" cy="1663700"/>
          </a:xfrm>
          <a:prstGeom xmlns:a="http://schemas.openxmlformats.org/drawingml/2006/main" prst="roundRect">
            <a:avLst>
              <a:gd name="adj" fmla="val 5916"/>
            </a:avLst>
          </a:prstGeom>
          <a:solidFill xmlns:a="http://schemas.openxmlformats.org/drawingml/2006/main">
            <a:srgbClr val="FBFBF8"/>
          </a:solidFill>
          <a:ln xmlns:a="http://schemas.openxmlformats.org/drawingml/2006/main" w="6350">
            <a:solidFill>
              <a:srgbClr val="D5DAD3"/>
            </a:solidFill>
            <a:prstDash val="solid"/>
          </a:ln>
        </p:spPr>
      </p:sp>
      <p:sp>
        <p:nvSpPr>
          <p:cNvPr id="5" name="Text 3">
            <a:extLst xmlns:a="http://schemas.openxmlformats.org/drawingml/2006/main">
              <a:ext uri="{FF2B5EF4-FFF2-40B4-BE49-F238E27FC236}">
                <a16:creationId xmlns:a16="http://schemas.microsoft.com/office/drawing/2014/main" id="{76DD3496-DC78-49B5-B32E-33BD01DEF1FB}"/>
              </a:ext>
            </a:extLst>
          </p:cNvPr>
          <p:cNvSpPr>
            <a:spLocks xmlns:a="http://schemas.openxmlformats.org/drawingml/2006/main" noGrp="1"/>
          </p:cNvSpPr>
          <p:nvPr/>
        </p:nvSpPr>
        <p:spPr>
          <a:xfrm xmlns:a="http://schemas.openxmlformats.org/drawingml/2006/main">
            <a:off x="1022350" y="2114550"/>
            <a:ext cx="309140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2A64A0"/>
                </a:solidFill>
                <a:latin typeface="IBM Plex Sans"/>
                <a:ea typeface="IBM Plex Sans"/>
                <a:cs typeface="IBM Plex Sans"/>
              </a:rPr>
              <a:t>Abwarten</a:t>
            </a:r>
          </a:p>
        </p:txBody>
      </p:sp>
      <p:sp>
        <p:nvSpPr>
          <p:cNvPr id="6" name="Text 4">
            <a:extLst xmlns:a="http://schemas.openxmlformats.org/drawingml/2006/main">
              <a:ext uri="{FF2B5EF4-FFF2-40B4-BE49-F238E27FC236}">
                <a16:creationId xmlns:a16="http://schemas.microsoft.com/office/drawing/2014/main" id="{D3EED5A1-B5D0-4092-A1B6-8A57B194BE11}"/>
              </a:ext>
            </a:extLst>
          </p:cNvPr>
          <p:cNvSpPr>
            <a:spLocks xmlns:a="http://schemas.openxmlformats.org/drawingml/2006/main" noGrp="1"/>
          </p:cNvSpPr>
          <p:nvPr/>
        </p:nvSpPr>
        <p:spPr>
          <a:xfrm xmlns:a="http://schemas.openxmlformats.org/drawingml/2006/main">
            <a:off x="1022350" y="2432050"/>
            <a:ext cx="3091408" cy="615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46525C"/>
                </a:solidFill>
                <a:latin typeface="JetBrains Mono"/>
                <a:ea typeface="JetBrains Mono"/>
                <a:cs typeface="JetBrains Mono"/>
              </a:rPr>
              <a:t>WAIT</a:t>
            </a:r>
          </a:p>
          <a:p xmlns:a="http://schemas.openxmlformats.org/drawingml/2006/main">
            <a:pPr marL="0" indent="0" algn="l">
              <a:lnSpc>
                <a:spcPts val="1560"/>
              </a:lnSpc>
              <a:buNone/>
            </a:pPr>
            <a:r>
              <a:rPr sz="1200">
                <a:solidFill>
                  <a:srgbClr val="46525C"/>
                </a:solidFill>
                <a:latin typeface="JetBrains Mono"/>
                <a:ea typeface="JetBrains Mono"/>
                <a:cs typeface="JetBrains Mono"/>
              </a:rPr>
              <a:t>WAIT_FOR_GAP</a:t>
            </a:r>
          </a:p>
          <a:p xmlns:a="http://schemas.openxmlformats.org/drawingml/2006/main">
            <a:pPr marL="0" indent="0" algn="l">
              <a:lnSpc>
                <a:spcPts val="1560"/>
              </a:lnSpc>
              <a:buNone/>
            </a:pPr>
            <a:r>
              <a:rPr sz="1200">
                <a:solidFill>
                  <a:srgbClr val="46525C"/>
                </a:solidFill>
                <a:latin typeface="JetBrains Mono"/>
                <a:ea typeface="JetBrains Mono"/>
                <a:cs typeface="JetBrains Mono"/>
              </a:rPr>
              <a:t>REQUEST_ADDITIONAL_INFORMATION</a:t>
            </a:r>
          </a:p>
        </p:txBody>
      </p:sp>
      <p:sp>
        <p:nvSpPr>
          <p:cNvPr id="7" name="Shape 5">
            <a:extLst xmlns:a="http://schemas.openxmlformats.org/drawingml/2006/main">
              <a:ext uri="{FF2B5EF4-FFF2-40B4-BE49-F238E27FC236}">
                <a16:creationId xmlns:a16="http://schemas.microsoft.com/office/drawing/2014/main" id="{8DA5E995-EFDF-492D-B30B-7D9623CA90DD}"/>
              </a:ext>
            </a:extLst>
          </p:cNvPr>
          <p:cNvSpPr>
            <a:spLocks xmlns:a="http://schemas.openxmlformats.org/drawingml/2006/main" noGrp="1"/>
          </p:cNvSpPr>
          <p:nvPr/>
        </p:nvSpPr>
        <p:spPr>
          <a:xfrm xmlns:a="http://schemas.openxmlformats.org/drawingml/2006/main">
            <a:off x="4388842" y="1933575"/>
            <a:ext cx="3414216" cy="1663700"/>
          </a:xfrm>
          <a:prstGeom xmlns:a="http://schemas.openxmlformats.org/drawingml/2006/main" prst="roundRect">
            <a:avLst>
              <a:gd name="adj" fmla="val 5916"/>
            </a:avLst>
          </a:prstGeom>
          <a:solidFill xmlns:a="http://schemas.openxmlformats.org/drawingml/2006/main">
            <a:srgbClr val="FBFBF8"/>
          </a:solidFill>
          <a:ln xmlns:a="http://schemas.openxmlformats.org/drawingml/2006/main" w="6350">
            <a:solidFill>
              <a:srgbClr val="D5DAD3"/>
            </a:solidFill>
            <a:prstDash val="solid"/>
          </a:ln>
        </p:spPr>
      </p:sp>
      <p:sp>
        <p:nvSpPr>
          <p:cNvPr id="8" name="Text 6">
            <a:extLst xmlns:a="http://schemas.openxmlformats.org/drawingml/2006/main">
              <a:ext uri="{FF2B5EF4-FFF2-40B4-BE49-F238E27FC236}">
                <a16:creationId xmlns:a16="http://schemas.microsoft.com/office/drawing/2014/main" id="{51D09A45-0C92-4796-8CE1-C6440F5C2BC2}"/>
              </a:ext>
            </a:extLst>
          </p:cNvPr>
          <p:cNvSpPr>
            <a:spLocks xmlns:a="http://schemas.openxmlformats.org/drawingml/2006/main" noGrp="1"/>
          </p:cNvSpPr>
          <p:nvPr/>
        </p:nvSpPr>
        <p:spPr>
          <a:xfrm xmlns:a="http://schemas.openxmlformats.org/drawingml/2006/main">
            <a:off x="4595217" y="2114550"/>
            <a:ext cx="3091510"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2A64A0"/>
                </a:solidFill>
                <a:latin typeface="IBM Plex Sans"/>
                <a:ea typeface="IBM Plex Sans"/>
                <a:cs typeface="IBM Plex Sans"/>
              </a:rPr>
              <a:t>Kleine Manöver</a:t>
            </a:r>
          </a:p>
        </p:txBody>
      </p:sp>
      <p:sp>
        <p:nvSpPr>
          <p:cNvPr id="9" name="Text 7">
            <a:extLst xmlns:a="http://schemas.openxmlformats.org/drawingml/2006/main">
              <a:ext uri="{FF2B5EF4-FFF2-40B4-BE49-F238E27FC236}">
                <a16:creationId xmlns:a16="http://schemas.microsoft.com/office/drawing/2014/main" id="{DA162BD2-1E82-45E7-BC51-2EC8BFBB064A}"/>
              </a:ext>
            </a:extLst>
          </p:cNvPr>
          <p:cNvSpPr>
            <a:spLocks xmlns:a="http://schemas.openxmlformats.org/drawingml/2006/main" noGrp="1"/>
          </p:cNvSpPr>
          <p:nvPr/>
        </p:nvSpPr>
        <p:spPr>
          <a:xfrm xmlns:a="http://schemas.openxmlformats.org/drawingml/2006/main">
            <a:off x="4595217" y="2432050"/>
            <a:ext cx="3091510" cy="10096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46525C"/>
                </a:solidFill>
                <a:latin typeface="JetBrains Mono"/>
                <a:ea typeface="JetBrains Mono"/>
                <a:cs typeface="JetBrains Mono"/>
              </a:rPr>
              <a:t>NUDGE_AROUND_OBSTACLE</a:t>
            </a:r>
          </a:p>
          <a:p xmlns:a="http://schemas.openxmlformats.org/drawingml/2006/main">
            <a:pPr marL="0" indent="0" algn="l">
              <a:lnSpc>
                <a:spcPts val="1560"/>
              </a:lnSpc>
              <a:buNone/>
            </a:pPr>
            <a:r>
              <a:rPr sz="1200">
                <a:solidFill>
                  <a:srgbClr val="46525C"/>
                </a:solidFill>
                <a:latin typeface="JetBrains Mono"/>
                <a:ea typeface="JetBrains Mono"/>
                <a:cs typeface="JetBrains Mono"/>
              </a:rPr>
              <a:t>AVOID_TEMPORARY_OBSTRUCTION</a:t>
            </a:r>
          </a:p>
          <a:p xmlns:a="http://schemas.openxmlformats.org/drawingml/2006/main">
            <a:pPr marL="0" indent="0" algn="l">
              <a:lnSpc>
                <a:spcPts val="1560"/>
              </a:lnSpc>
              <a:buNone/>
            </a:pPr>
            <a:r>
              <a:rPr sz="1200">
                <a:solidFill>
                  <a:srgbClr val="46525C"/>
                </a:solidFill>
                <a:latin typeface="JetBrains Mono"/>
                <a:ea typeface="JetBrains Mono"/>
                <a:cs typeface="JetBrains Mono"/>
              </a:rPr>
              <a:t>CHANGE_LANE · CREEP_FORWARD</a:t>
            </a:r>
          </a:p>
          <a:p xmlns:a="http://schemas.openxmlformats.org/drawingml/2006/main">
            <a:pPr marL="0" indent="0" algn="l">
              <a:lnSpc>
                <a:spcPts val="1560"/>
              </a:lnSpc>
              <a:buNone/>
            </a:pPr>
            <a:r>
              <a:rPr sz="1200">
                <a:solidFill>
                  <a:srgbClr val="46525C"/>
                </a:solidFill>
                <a:latin typeface="JetBrains Mono"/>
                <a:ea typeface="JetBrains Mono"/>
                <a:cs typeface="JetBrains Mono"/>
              </a:rPr>
              <a:t>CROSS_LOW_RISK_OBJECT</a:t>
            </a:r>
          </a:p>
          <a:p xmlns:a="http://schemas.openxmlformats.org/drawingml/2006/main">
            <a:pPr marL="0" indent="0" algn="l">
              <a:lnSpc>
                <a:spcPts val="1560"/>
              </a:lnSpc>
              <a:buNone/>
            </a:pPr>
            <a:r>
              <a:rPr sz="1200">
                <a:solidFill>
                  <a:srgbClr val="46525C"/>
                </a:solidFill>
                <a:latin typeface="JetBrains Mono"/>
                <a:ea typeface="JetBrains Mono"/>
                <a:cs typeface="JetBrains Mono"/>
              </a:rPr>
              <a:t>REVERSE_SHORT</a:t>
            </a:r>
          </a:p>
        </p:txBody>
      </p:sp>
      <p:sp>
        <p:nvSpPr>
          <p:cNvPr id="10" name="Shape 8">
            <a:extLst xmlns:a="http://schemas.openxmlformats.org/drawingml/2006/main">
              <a:ext uri="{FF2B5EF4-FFF2-40B4-BE49-F238E27FC236}">
                <a16:creationId xmlns:a16="http://schemas.microsoft.com/office/drawing/2014/main" id="{721E11EB-CA7C-4332-BECA-DFF252D8DDE0}"/>
              </a:ext>
            </a:extLst>
          </p:cNvPr>
          <p:cNvSpPr>
            <a:spLocks xmlns:a="http://schemas.openxmlformats.org/drawingml/2006/main" noGrp="1"/>
          </p:cNvSpPr>
          <p:nvPr/>
        </p:nvSpPr>
        <p:spPr>
          <a:xfrm xmlns:a="http://schemas.openxmlformats.org/drawingml/2006/main">
            <a:off x="7961809" y="1933575"/>
            <a:ext cx="3414117" cy="1663700"/>
          </a:xfrm>
          <a:prstGeom xmlns:a="http://schemas.openxmlformats.org/drawingml/2006/main" prst="roundRect">
            <a:avLst>
              <a:gd name="adj" fmla="val 5916"/>
            </a:avLst>
          </a:prstGeom>
          <a:solidFill xmlns:a="http://schemas.openxmlformats.org/drawingml/2006/main">
            <a:srgbClr val="FBFBF8"/>
          </a:solidFill>
          <a:ln xmlns:a="http://schemas.openxmlformats.org/drawingml/2006/main" w="6350">
            <a:solidFill>
              <a:srgbClr val="D5DAD3"/>
            </a:solidFill>
            <a:prstDash val="solid"/>
          </a:ln>
        </p:spPr>
      </p:sp>
      <p:sp>
        <p:nvSpPr>
          <p:cNvPr id="11" name="Text 9">
            <a:extLst xmlns:a="http://schemas.openxmlformats.org/drawingml/2006/main">
              <a:ext uri="{FF2B5EF4-FFF2-40B4-BE49-F238E27FC236}">
                <a16:creationId xmlns:a16="http://schemas.microsoft.com/office/drawing/2014/main" id="{0CA7EE7F-F866-4102-ABAF-96EF1C87A2FD}"/>
              </a:ext>
            </a:extLst>
          </p:cNvPr>
          <p:cNvSpPr>
            <a:spLocks xmlns:a="http://schemas.openxmlformats.org/drawingml/2006/main" noGrp="1"/>
          </p:cNvSpPr>
          <p:nvPr/>
        </p:nvSpPr>
        <p:spPr>
          <a:xfrm xmlns:a="http://schemas.openxmlformats.org/drawingml/2006/main">
            <a:off x="8168184" y="2114550"/>
            <a:ext cx="309140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2A64A0"/>
                </a:solidFill>
                <a:latin typeface="IBM Plex Sans"/>
                <a:ea typeface="IBM Plex Sans"/>
                <a:cs typeface="IBM Plex Sans"/>
              </a:rPr>
              <a:t>Phasenmanöver</a:t>
            </a:r>
          </a:p>
        </p:txBody>
      </p:sp>
      <p:sp>
        <p:nvSpPr>
          <p:cNvPr id="12" name="Text 10">
            <a:extLst xmlns:a="http://schemas.openxmlformats.org/drawingml/2006/main">
              <a:ext uri="{FF2B5EF4-FFF2-40B4-BE49-F238E27FC236}">
                <a16:creationId xmlns:a16="http://schemas.microsoft.com/office/drawing/2014/main" id="{71699A91-28CD-4384-AA86-186728EB7F81}"/>
              </a:ext>
            </a:extLst>
          </p:cNvPr>
          <p:cNvSpPr>
            <a:spLocks xmlns:a="http://schemas.openxmlformats.org/drawingml/2006/main" noGrp="1"/>
          </p:cNvSpPr>
          <p:nvPr/>
        </p:nvSpPr>
        <p:spPr>
          <a:xfrm xmlns:a="http://schemas.openxmlformats.org/drawingml/2006/main">
            <a:off x="8168184" y="2432050"/>
            <a:ext cx="3091408"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46525C"/>
                </a:solidFill>
                <a:latin typeface="JetBrains Mono"/>
                <a:ea typeface="JetBrains Mono"/>
                <a:cs typeface="JetBrains Mono"/>
              </a:rPr>
              <a:t>PEEK_OUT · OVERTAKE</a:t>
            </a:r>
          </a:p>
          <a:p xmlns:a="http://schemas.openxmlformats.org/drawingml/2006/main">
            <a:pPr marL="0" indent="0" algn="l">
              <a:lnSpc>
                <a:spcPts val="1560"/>
              </a:lnSpc>
              <a:buNone/>
            </a:pPr>
            <a:r>
              <a:rPr sz="1200">
                <a:solidFill>
                  <a:srgbClr val="46525C"/>
                </a:solidFill>
                <a:latin typeface="JetBrains Mono"/>
                <a:ea typeface="JetBrains Mono"/>
                <a:cs typeface="JetBrains Mono"/>
              </a:rPr>
              <a:t>RESUME · ABORT_TO_LANE</a:t>
            </a:r>
          </a:p>
        </p:txBody>
      </p:sp>
      <p:sp>
        <p:nvSpPr>
          <p:cNvPr id="13" name="Text 11">
            <a:extLst xmlns:a="http://schemas.openxmlformats.org/drawingml/2006/main">
              <a:ext uri="{FF2B5EF4-FFF2-40B4-BE49-F238E27FC236}">
                <a16:creationId xmlns:a16="http://schemas.microsoft.com/office/drawing/2014/main" id="{BD8E5190-93B5-4C09-9DF6-2612FA0626FF}"/>
              </a:ext>
            </a:extLst>
          </p:cNvPr>
          <p:cNvSpPr>
            <a:spLocks xmlns:a="http://schemas.openxmlformats.org/drawingml/2006/main" noGrp="1"/>
          </p:cNvSpPr>
          <p:nvPr/>
        </p:nvSpPr>
        <p:spPr>
          <a:xfrm xmlns:a="http://schemas.openxmlformats.org/drawingml/2006/main">
            <a:off x="8168184" y="2901950"/>
            <a:ext cx="3091408"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halten an Checkpoints, die Uhr läuft weiter</a:t>
            </a:r>
          </a:p>
        </p:txBody>
      </p:sp>
      <p:sp>
        <p:nvSpPr>
          <p:cNvPr id="14" name="Shape 12">
            <a:extLst xmlns:a="http://schemas.openxmlformats.org/drawingml/2006/main">
              <a:ext uri="{FF2B5EF4-FFF2-40B4-BE49-F238E27FC236}">
                <a16:creationId xmlns:a16="http://schemas.microsoft.com/office/drawing/2014/main" id="{9BD882F8-9856-44FD-96AC-54CA425B51F1}"/>
              </a:ext>
            </a:extLst>
          </p:cNvPr>
          <p:cNvSpPr>
            <a:spLocks xmlns:a="http://schemas.openxmlformats.org/drawingml/2006/main" noGrp="1"/>
          </p:cNvSpPr>
          <p:nvPr/>
        </p:nvSpPr>
        <p:spPr>
          <a:xfrm xmlns:a="http://schemas.openxmlformats.org/drawingml/2006/main">
            <a:off x="815975" y="3756025"/>
            <a:ext cx="3414117" cy="1568450"/>
          </a:xfrm>
          <a:prstGeom xmlns:a="http://schemas.openxmlformats.org/drawingml/2006/main" prst="roundRect">
            <a:avLst>
              <a:gd name="adj" fmla="val 6275"/>
            </a:avLst>
          </a:prstGeom>
          <a:solidFill xmlns:a="http://schemas.openxmlformats.org/drawingml/2006/main">
            <a:srgbClr val="FBFBF8"/>
          </a:solidFill>
          <a:ln xmlns:a="http://schemas.openxmlformats.org/drawingml/2006/main" w="6350">
            <a:solidFill>
              <a:srgbClr val="D5DAD3"/>
            </a:solidFill>
            <a:prstDash val="solid"/>
          </a:ln>
        </p:spPr>
      </p:sp>
      <p:sp>
        <p:nvSpPr>
          <p:cNvPr id="15" name="Text 13">
            <a:extLst xmlns:a="http://schemas.openxmlformats.org/drawingml/2006/main">
              <a:ext uri="{FF2B5EF4-FFF2-40B4-BE49-F238E27FC236}">
                <a16:creationId xmlns:a16="http://schemas.microsoft.com/office/drawing/2014/main" id="{9D199DCD-A49B-4669-8734-8CB27B8CF7BB}"/>
              </a:ext>
            </a:extLst>
          </p:cNvPr>
          <p:cNvSpPr>
            <a:spLocks xmlns:a="http://schemas.openxmlformats.org/drawingml/2006/main" noGrp="1"/>
          </p:cNvSpPr>
          <p:nvPr/>
        </p:nvSpPr>
        <p:spPr>
          <a:xfrm xmlns:a="http://schemas.openxmlformats.org/drawingml/2006/main">
            <a:off x="1022350" y="3937000"/>
            <a:ext cx="309140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2A64A0"/>
                </a:solidFill>
                <a:latin typeface="IBM Plex Sans"/>
                <a:ea typeface="IBM Plex Sans"/>
                <a:cs typeface="IBM Plex Sans"/>
              </a:rPr>
              <a:t>Route und Mission</a:t>
            </a:r>
          </a:p>
        </p:txBody>
      </p:sp>
      <p:sp>
        <p:nvSpPr>
          <p:cNvPr id="16" name="Text 14">
            <a:extLst xmlns:a="http://schemas.openxmlformats.org/drawingml/2006/main">
              <a:ext uri="{FF2B5EF4-FFF2-40B4-BE49-F238E27FC236}">
                <a16:creationId xmlns:a16="http://schemas.microsoft.com/office/drawing/2014/main" id="{3DB33FDF-1683-4823-8C99-CDCF436FF8F6}"/>
              </a:ext>
            </a:extLst>
          </p:cNvPr>
          <p:cNvSpPr>
            <a:spLocks xmlns:a="http://schemas.openxmlformats.org/drawingml/2006/main" noGrp="1"/>
          </p:cNvSpPr>
          <p:nvPr/>
        </p:nvSpPr>
        <p:spPr>
          <a:xfrm xmlns:a="http://schemas.openxmlformats.org/drawingml/2006/main">
            <a:off x="1022350" y="4254500"/>
            <a:ext cx="3091408" cy="615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46525C"/>
                </a:solidFill>
                <a:latin typeface="JetBrains Mono"/>
                <a:ea typeface="JetBrains Mono"/>
                <a:cs typeface="JetBrains Mono"/>
              </a:rPr>
              <a:t>REPLAN_ROUTE · TURN_AROUND</a:t>
            </a:r>
          </a:p>
          <a:p xmlns:a="http://schemas.openxmlformats.org/drawingml/2006/main">
            <a:pPr marL="0" indent="0" algn="l">
              <a:lnSpc>
                <a:spcPts val="1560"/>
              </a:lnSpc>
              <a:buNone/>
            </a:pPr>
            <a:r>
              <a:rPr sz="1200">
                <a:solidFill>
                  <a:srgbClr val="46525C"/>
                </a:solidFill>
                <a:latin typeface="JetBrains Mono"/>
                <a:ea typeface="JetBrains Mono"/>
                <a:cs typeface="JetBrains Mono"/>
              </a:rPr>
              <a:t>PULL_OVER · DROP_PASSENGER</a:t>
            </a:r>
          </a:p>
          <a:p xmlns:a="http://schemas.openxmlformats.org/drawingml/2006/main">
            <a:pPr marL="0" indent="0" algn="l">
              <a:lnSpc>
                <a:spcPts val="1560"/>
              </a:lnSpc>
              <a:buNone/>
            </a:pPr>
            <a:r>
              <a:rPr sz="1200">
                <a:solidFill>
                  <a:srgbClr val="46525C"/>
                </a:solidFill>
                <a:latin typeface="JetBrains Mono"/>
                <a:ea typeface="JetBrains Mono"/>
                <a:cs typeface="JetBrains Mono"/>
              </a:rPr>
              <a:t>RETURN_HOME</a:t>
            </a:r>
          </a:p>
        </p:txBody>
      </p:sp>
      <p:sp>
        <p:nvSpPr>
          <p:cNvPr id="17" name="Shape 15">
            <a:extLst xmlns:a="http://schemas.openxmlformats.org/drawingml/2006/main">
              <a:ext uri="{FF2B5EF4-FFF2-40B4-BE49-F238E27FC236}">
                <a16:creationId xmlns:a16="http://schemas.microsoft.com/office/drawing/2014/main" id="{7E1AB24D-5581-44E9-8208-FA5CCCED042F}"/>
              </a:ext>
            </a:extLst>
          </p:cNvPr>
          <p:cNvSpPr>
            <a:spLocks xmlns:a="http://schemas.openxmlformats.org/drawingml/2006/main" noGrp="1"/>
          </p:cNvSpPr>
          <p:nvPr/>
        </p:nvSpPr>
        <p:spPr>
          <a:xfrm xmlns:a="http://schemas.openxmlformats.org/drawingml/2006/main">
            <a:off x="4388842" y="3756025"/>
            <a:ext cx="3414216" cy="1568450"/>
          </a:xfrm>
          <a:prstGeom xmlns:a="http://schemas.openxmlformats.org/drawingml/2006/main" prst="roundRect">
            <a:avLst>
              <a:gd name="adj" fmla="val 6275"/>
            </a:avLst>
          </a:prstGeom>
          <a:solidFill xmlns:a="http://schemas.openxmlformats.org/drawingml/2006/main">
            <a:srgbClr val="FBFBF8"/>
          </a:solidFill>
          <a:ln xmlns:a="http://schemas.openxmlformats.org/drawingml/2006/main" w="6350">
            <a:solidFill>
              <a:srgbClr val="D5DAD3"/>
            </a:solidFill>
            <a:prstDash val="solid"/>
          </a:ln>
        </p:spPr>
      </p:sp>
      <p:sp>
        <p:nvSpPr>
          <p:cNvPr id="18" name="Text 16">
            <a:extLst xmlns:a="http://schemas.openxmlformats.org/drawingml/2006/main">
              <a:ext uri="{FF2B5EF4-FFF2-40B4-BE49-F238E27FC236}">
                <a16:creationId xmlns:a16="http://schemas.microsoft.com/office/drawing/2014/main" id="{FB03873E-BC6A-4BB9-B309-9140A1066945}"/>
              </a:ext>
            </a:extLst>
          </p:cNvPr>
          <p:cNvSpPr>
            <a:spLocks xmlns:a="http://schemas.openxmlformats.org/drawingml/2006/main" noGrp="1"/>
          </p:cNvSpPr>
          <p:nvPr/>
        </p:nvSpPr>
        <p:spPr>
          <a:xfrm xmlns:a="http://schemas.openxmlformats.org/drawingml/2006/main">
            <a:off x="4595217" y="3937000"/>
            <a:ext cx="3091510"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2A64A0"/>
                </a:solidFill>
                <a:latin typeface="IBM Plex Sans"/>
                <a:ea typeface="IBM Plex Sans"/>
                <a:cs typeface="IBM Plex Sans"/>
              </a:rPr>
              <a:t>Eskalieren und anhalten</a:t>
            </a:r>
          </a:p>
        </p:txBody>
      </p:sp>
      <p:sp>
        <p:nvSpPr>
          <p:cNvPr id="19" name="Text 17">
            <a:extLst xmlns:a="http://schemas.openxmlformats.org/drawingml/2006/main">
              <a:ext uri="{FF2B5EF4-FFF2-40B4-BE49-F238E27FC236}">
                <a16:creationId xmlns:a16="http://schemas.microsoft.com/office/drawing/2014/main" id="{42D941C6-F0F5-402E-AF6B-A0E5702181CE}"/>
              </a:ext>
            </a:extLst>
          </p:cNvPr>
          <p:cNvSpPr>
            <a:spLocks xmlns:a="http://schemas.openxmlformats.org/drawingml/2006/main" noGrp="1"/>
          </p:cNvSpPr>
          <p:nvPr/>
        </p:nvSpPr>
        <p:spPr>
          <a:xfrm xmlns:a="http://schemas.openxmlformats.org/drawingml/2006/main">
            <a:off x="4595217" y="4254500"/>
            <a:ext cx="3091510" cy="615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46525C"/>
                </a:solidFill>
                <a:latin typeface="JetBrains Mono"/>
                <a:ea typeface="JetBrains Mono"/>
                <a:cs typeface="JetBrains Mono"/>
              </a:rPr>
              <a:t>REQUEST_REMOTE_ASSISTANCE</a:t>
            </a:r>
          </a:p>
          <a:p xmlns:a="http://schemas.openxmlformats.org/drawingml/2006/main">
            <a:pPr marL="0" indent="0" algn="l">
              <a:lnSpc>
                <a:spcPts val="1560"/>
              </a:lnSpc>
              <a:buNone/>
            </a:pPr>
            <a:r>
              <a:rPr sz="1200">
                <a:solidFill>
                  <a:srgbClr val="46525C"/>
                </a:solidFill>
                <a:latin typeface="JetBrains Mono"/>
                <a:ea typeface="JetBrains Mono"/>
                <a:cs typeface="JetBrains Mono"/>
              </a:rPr>
              <a:t>ESCALATE_TO_RULE_ENGINE</a:t>
            </a:r>
          </a:p>
          <a:p xmlns:a="http://schemas.openxmlformats.org/drawingml/2006/main">
            <a:pPr marL="0" indent="0" algn="l">
              <a:lnSpc>
                <a:spcPts val="1560"/>
              </a:lnSpc>
              <a:buNone/>
            </a:pPr>
            <a:r>
              <a:rPr sz="1200">
                <a:solidFill>
                  <a:srgbClr val="46525C"/>
                </a:solidFill>
                <a:latin typeface="JetBrains Mono"/>
                <a:ea typeface="JetBrains Mono"/>
                <a:cs typeface="JetBrains Mono"/>
              </a:rPr>
              <a:t>SAFE_STOP · ABORT_MISSION</a:t>
            </a:r>
          </a:p>
        </p:txBody>
      </p:sp>
      <p:sp>
        <p:nvSpPr>
          <p:cNvPr id="20" name="Shape 18">
            <a:extLst xmlns:a="http://schemas.openxmlformats.org/drawingml/2006/main">
              <a:ext uri="{FF2B5EF4-FFF2-40B4-BE49-F238E27FC236}">
                <a16:creationId xmlns:a16="http://schemas.microsoft.com/office/drawing/2014/main" id="{1F487021-C4CA-4256-917D-8722D00A2D10}"/>
              </a:ext>
            </a:extLst>
          </p:cNvPr>
          <p:cNvSpPr>
            <a:spLocks xmlns:a="http://schemas.openxmlformats.org/drawingml/2006/main" noGrp="1"/>
          </p:cNvSpPr>
          <p:nvPr/>
        </p:nvSpPr>
        <p:spPr>
          <a:xfrm xmlns:a="http://schemas.openxmlformats.org/drawingml/2006/main">
            <a:off x="7961809" y="3756025"/>
            <a:ext cx="3414117" cy="1568450"/>
          </a:xfrm>
          <a:prstGeom xmlns:a="http://schemas.openxmlformats.org/drawingml/2006/main" prst="roundRect">
            <a:avLst>
              <a:gd name="adj" fmla="val 6275"/>
            </a:avLst>
          </a:prstGeom>
          <a:solidFill xmlns:a="http://schemas.openxmlformats.org/drawingml/2006/main">
            <a:srgbClr val="FBFBF8"/>
          </a:solidFill>
          <a:ln xmlns:a="http://schemas.openxmlformats.org/drawingml/2006/main" w="6350">
            <a:solidFill>
              <a:srgbClr val="D5DAD3"/>
            </a:solidFill>
            <a:prstDash val="solid"/>
          </a:ln>
        </p:spPr>
      </p:sp>
      <p:sp>
        <p:nvSpPr>
          <p:cNvPr id="21" name="Text 19">
            <a:extLst xmlns:a="http://schemas.openxmlformats.org/drawingml/2006/main">
              <a:ext uri="{FF2B5EF4-FFF2-40B4-BE49-F238E27FC236}">
                <a16:creationId xmlns:a16="http://schemas.microsoft.com/office/drawing/2014/main" id="{5D6A1A8B-8A80-4A61-8FFF-346DB1CBF157}"/>
              </a:ext>
            </a:extLst>
          </p:cNvPr>
          <p:cNvSpPr>
            <a:spLocks xmlns:a="http://schemas.openxmlformats.org/drawingml/2006/main" noGrp="1"/>
          </p:cNvSpPr>
          <p:nvPr/>
        </p:nvSpPr>
        <p:spPr>
          <a:xfrm xmlns:a="http://schemas.openxmlformats.org/drawingml/2006/main">
            <a:off x="8168184" y="3937000"/>
            <a:ext cx="309140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B4541A"/>
                </a:solidFill>
                <a:latin typeface="IBM Plex Sans"/>
                <a:ea typeface="IBM Plex Sans"/>
                <a:cs typeface="IBM Plex Sans"/>
              </a:rPr>
              <a:t>Nach einem Unfall</a:t>
            </a:r>
          </a:p>
        </p:txBody>
      </p:sp>
      <p:sp>
        <p:nvSpPr>
          <p:cNvPr id="22" name="Text 20">
            <a:extLst xmlns:a="http://schemas.openxmlformats.org/drawingml/2006/main">
              <a:ext uri="{FF2B5EF4-FFF2-40B4-BE49-F238E27FC236}">
                <a16:creationId xmlns:a16="http://schemas.microsoft.com/office/drawing/2014/main" id="{7EA394F1-0DD8-4D14-B95A-711A5B5DEE36}"/>
              </a:ext>
            </a:extLst>
          </p:cNvPr>
          <p:cNvSpPr>
            <a:spLocks xmlns:a="http://schemas.openxmlformats.org/drawingml/2006/main" noGrp="1"/>
          </p:cNvSpPr>
          <p:nvPr/>
        </p:nvSpPr>
        <p:spPr>
          <a:xfrm xmlns:a="http://schemas.openxmlformats.org/drawingml/2006/main">
            <a:off x="8168184" y="4254500"/>
            <a:ext cx="3091408"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46525C"/>
                </a:solidFill>
                <a:latin typeface="JetBrains Mono"/>
                <a:ea typeface="JetBrains Mono"/>
                <a:cs typeface="JetBrains Mono"/>
              </a:rPr>
              <a:t>SECURE_SCENE</a:t>
            </a:r>
          </a:p>
          <a:p xmlns:a="http://schemas.openxmlformats.org/drawingml/2006/main">
            <a:pPr marL="0" indent="0" algn="l">
              <a:lnSpc>
                <a:spcPts val="1560"/>
              </a:lnSpc>
              <a:buNone/>
            </a:pPr>
            <a:r>
              <a:rPr sz="1200">
                <a:solidFill>
                  <a:srgbClr val="46525C"/>
                </a:solidFill>
                <a:latin typeface="JetBrains Mono"/>
                <a:ea typeface="JetBrains Mono"/>
                <a:cs typeface="JetBrains Mono"/>
              </a:rPr>
              <a:t>REPORT_INCIDENT</a:t>
            </a:r>
          </a:p>
        </p:txBody>
      </p:sp>
      <p:sp>
        <p:nvSpPr>
          <p:cNvPr id="23" name="Text 21">
            <a:extLst xmlns:a="http://schemas.openxmlformats.org/drawingml/2006/main">
              <a:ext uri="{FF2B5EF4-FFF2-40B4-BE49-F238E27FC236}">
                <a16:creationId xmlns:a16="http://schemas.microsoft.com/office/drawing/2014/main" id="{B58BC30E-5D22-4BFF-AC6F-CAD13DF0D9F6}"/>
              </a:ext>
            </a:extLst>
          </p:cNvPr>
          <p:cNvSpPr>
            <a:spLocks xmlns:a="http://schemas.openxmlformats.org/drawingml/2006/main" noGrp="1"/>
          </p:cNvSpPr>
          <p:nvPr/>
        </p:nvSpPr>
        <p:spPr>
          <a:xfrm xmlns:a="http://schemas.openxmlformats.org/drawingml/2006/main">
            <a:off x="8168184" y="4724400"/>
            <a:ext cx="309140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Weiterfahren ohne Meldung zählt wie ein Personenschaden</a:t>
            </a:r>
          </a:p>
        </p:txBody>
      </p:sp>
      <p:sp>
        <p:nvSpPr>
          <p:cNvPr id="24" name="Text 22">
            <a:extLst xmlns:a="http://schemas.openxmlformats.org/drawingml/2006/main">
              <a:ext uri="{FF2B5EF4-FFF2-40B4-BE49-F238E27FC236}">
                <a16:creationId xmlns:a16="http://schemas.microsoft.com/office/drawing/2014/main" id="{047E9869-21B2-4675-93A0-5B1059630DC0}"/>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Autonomy Recovery Lab · Einstieg · Details in COMMANDS.md</a:t>
            </a:r>
          </a:p>
        </p:txBody>
      </p:sp>
      <p:sp>
        <p:nvSpPr>
          <p:cNvPr id="25" name="Text 23">
            <a:extLst xmlns:a="http://schemas.openxmlformats.org/drawingml/2006/main">
              <a:ext uri="{FF2B5EF4-FFF2-40B4-BE49-F238E27FC236}">
                <a16:creationId xmlns:a16="http://schemas.microsoft.com/office/drawing/2014/main" id="{018F8C71-0B5D-4152-9F11-1089AFE7581F}"/>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6B7680"/>
                </a:solidFill>
                <a:latin typeface="IBM Plex Sans"/>
                <a:ea typeface="IBM Plex Sans"/>
                <a:cs typeface="IBM Plex Sans"/>
              </a:rPr>
              <a:t>6</a:t>
            </a:r>
          </a:p>
        </p:txBody>
      </p:sp>
    </p:spTree>
    <p:extLst>
      <p:ext uri="{BB962C8B-B14F-4D97-AF65-F5344CB8AC3E}">
        <p14:creationId xmlns:p14="http://schemas.microsoft.com/office/powerpoint/2010/main" val="1712179666"/>
      </p:ext>
    </p:extLst>
  </p:cSld>
</p:sld>
</file>

<file path=ppt/slides/slide7.xml><?xml version="1.0" encoding="utf-8"?>
<p:sld xmlns:p="http://schemas.openxmlformats.org/presentationml/2006/main">
  <p:cSld>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3CFD163-110E-405A-B9C5-5FB3DE2F1397}"/>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F2994A"/>
                </a:solidFill>
                <a:latin typeface="IBM Plex Sans"/>
                <a:ea typeface="IBM Plex Sans"/>
                <a:cs typeface="IBM Plex Sans"/>
              </a:rPr>
              <a:t>SICHERHEITSVERTRAG</a:t>
            </a:r>
          </a:p>
        </p:txBody>
      </p:sp>
      <p:sp>
        <p:nvSpPr>
          <p:cNvPr id="3" name="Text 1">
            <a:extLst xmlns:a="http://schemas.openxmlformats.org/drawingml/2006/main">
              <a:ext uri="{FF2B5EF4-FFF2-40B4-BE49-F238E27FC236}">
                <a16:creationId xmlns:a16="http://schemas.microsoft.com/office/drawing/2014/main" id="{27D55659-440B-447A-A70D-949F15C55BAA}"/>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F4F5F1"/>
                </a:solidFill>
                <a:latin typeface="Space Grotesk"/>
                <a:ea typeface="Space Grotesk"/>
                <a:cs typeface="Space Grotesk"/>
              </a:rPr>
              <a:t>Der Simulator traut eurem Agenten nicht</a:t>
            </a:r>
          </a:p>
        </p:txBody>
      </p:sp>
      <p:pic>
        <p:nvPicPr>
          <p:cNvPr id="4" name="Image 0"/>
          <p:cNvPicPr>
            <a:picLocks xmlns:a="http://schemas.openxmlformats.org/drawingml/2006/main" noChangeAspect="1"/>
          </p:cNvPicPr>
          <p:nvPr/>
        </p:nvPicPr>
        <p:blipFill>
          <a:blip xmlns:r="http://schemas.openxmlformats.org/officeDocument/2006/relationships" xmlns:a="http://schemas.openxmlformats.org/drawingml/2006/main" r:embed="R4684a172ba734d21"/>
          <a:srcRect xmlns:a="http://schemas.openxmlformats.org/drawingml/2006/main" l="0" t="0" r="0" b="0"/>
          <a:stretch xmlns:a="http://schemas.openxmlformats.org/drawingml/2006/main"/>
        </p:blipFill>
        <p:spPr>
          <a:xfrm xmlns:a="http://schemas.openxmlformats.org/drawingml/2006/main">
            <a:off x="812800" y="1981200"/>
            <a:ext cx="304800" cy="30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1AA5C2C5-E4B9-4F61-BEA9-B1AC253D46F2}"/>
              </a:ext>
            </a:extLst>
          </p:cNvPr>
          <p:cNvSpPr>
            <a:spLocks xmlns:a="http://schemas.openxmlformats.org/drawingml/2006/main" noGrp="1"/>
          </p:cNvSpPr>
          <p:nvPr/>
        </p:nvSpPr>
        <p:spPr>
          <a:xfrm xmlns:a="http://schemas.openxmlformats.org/drawingml/2006/main">
            <a:off x="1270000" y="1981200"/>
            <a:ext cx="481380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F4F5F1"/>
                </a:solidFill>
                <a:latin typeface="IBM Plex Sans"/>
                <a:ea typeface="IBM Plex Sans"/>
                <a:cs typeface="IBM Plex Sans"/>
              </a:rPr>
              <a:t>Harte Regeln</a:t>
            </a:r>
          </a:p>
        </p:txBody>
      </p:sp>
      <p:sp>
        <p:nvSpPr>
          <p:cNvPr id="6" name="Text 3">
            <a:extLst xmlns:a="http://schemas.openxmlformats.org/drawingml/2006/main">
              <a:ext uri="{FF2B5EF4-FFF2-40B4-BE49-F238E27FC236}">
                <a16:creationId xmlns:a16="http://schemas.microsoft.com/office/drawing/2014/main" id="{DFCB95B3-A7E4-4E97-B32D-65E826224C65}"/>
              </a:ext>
            </a:extLst>
          </p:cNvPr>
          <p:cNvSpPr>
            <a:spLocks xmlns:a="http://schemas.openxmlformats.org/drawingml/2006/main" noGrp="1"/>
          </p:cNvSpPr>
          <p:nvPr/>
        </p:nvSpPr>
        <p:spPr>
          <a:xfrm xmlns:a="http://schemas.openxmlformats.org/drawingml/2006/main">
            <a:off x="1270000" y="2273300"/>
            <a:ext cx="481380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Durchgezogene Linie, Absperrung, Wegfahren nach einem Unfall: nie übersteuerbar</a:t>
            </a:r>
          </a:p>
        </p:txBody>
      </p:sp>
      <p:pic>
        <p:nvPicPr>
          <p:cNvPr id="7" name="Image 1"/>
          <p:cNvPicPr>
            <a:picLocks xmlns:a="http://schemas.openxmlformats.org/drawingml/2006/main" noChangeAspect="1"/>
          </p:cNvPicPr>
          <p:nvPr/>
        </p:nvPicPr>
        <p:blipFill>
          <a:blip xmlns:r="http://schemas.openxmlformats.org/officeDocument/2006/relationships" xmlns:a="http://schemas.openxmlformats.org/drawingml/2006/main" r:embed="R1e28244ae0f943af"/>
          <a:srcRect xmlns:a="http://schemas.openxmlformats.org/drawingml/2006/main" l="0" t="0" r="0" b="0"/>
          <a:stretch xmlns:a="http://schemas.openxmlformats.org/drawingml/2006/main"/>
        </p:blipFill>
        <p:spPr>
          <a:xfrm xmlns:a="http://schemas.openxmlformats.org/drawingml/2006/main">
            <a:off x="812800" y="2895600"/>
            <a:ext cx="304800" cy="304800"/>
          </a:xfrm>
          <a:prstGeom xmlns:a="http://schemas.openxmlformats.org/drawingml/2006/main" prst="rect">
            <a:avLst/>
          </a:prstGeom>
        </p:spPr>
      </p:pic>
      <p:sp>
        <p:nvSpPr>
          <p:cNvPr id="8" name="Text 4">
            <a:extLst xmlns:a="http://schemas.openxmlformats.org/drawingml/2006/main">
              <a:ext uri="{FF2B5EF4-FFF2-40B4-BE49-F238E27FC236}">
                <a16:creationId xmlns:a16="http://schemas.microsoft.com/office/drawing/2014/main" id="{56608DD8-7726-4008-91E8-FD78DA53B9DE}"/>
              </a:ext>
            </a:extLst>
          </p:cNvPr>
          <p:cNvSpPr>
            <a:spLocks xmlns:a="http://schemas.openxmlformats.org/drawingml/2006/main" noGrp="1"/>
          </p:cNvSpPr>
          <p:nvPr/>
        </p:nvSpPr>
        <p:spPr>
          <a:xfrm xmlns:a="http://schemas.openxmlformats.org/drawingml/2006/main">
            <a:off x="1270000" y="2895600"/>
            <a:ext cx="481380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F4F5F1"/>
                </a:solidFill>
                <a:latin typeface="IBM Plex Sans"/>
                <a:ea typeface="IBM Plex Sans"/>
                <a:cs typeface="IBM Plex Sans"/>
              </a:rPr>
              <a:t>Budgets</a:t>
            </a:r>
          </a:p>
        </p:txBody>
      </p:sp>
      <p:sp>
        <p:nvSpPr>
          <p:cNvPr id="9" name="Text 5">
            <a:extLst xmlns:a="http://schemas.openxmlformats.org/drawingml/2006/main">
              <a:ext uri="{FF2B5EF4-FFF2-40B4-BE49-F238E27FC236}">
                <a16:creationId xmlns:a16="http://schemas.microsoft.com/office/drawing/2014/main" id="{9CA091E1-49E7-4A60-A061-36E753F6717B}"/>
              </a:ext>
            </a:extLst>
          </p:cNvPr>
          <p:cNvSpPr>
            <a:spLocks xmlns:a="http://schemas.openxmlformats.org/drawingml/2006/main" noGrp="1"/>
          </p:cNvSpPr>
          <p:nvPr/>
        </p:nvSpPr>
        <p:spPr>
          <a:xfrm xmlns:a="http://schemas.openxmlformats.org/drawingml/2006/main">
            <a:off x="1270000" y="3187700"/>
            <a:ext cx="481380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14 Werkzeugaufrufe und 3 Entscheidungsversuche je Sitzung, begrenzte Befehle je Episode</a:t>
            </a:r>
          </a:p>
        </p:txBody>
      </p:sp>
      <p:pic>
        <p:nvPicPr>
          <p:cNvPr id="10" name="Image 2"/>
          <p:cNvPicPr>
            <a:picLocks xmlns:a="http://schemas.openxmlformats.org/drawingml/2006/main" noChangeAspect="1"/>
          </p:cNvPicPr>
          <p:nvPr/>
        </p:nvPicPr>
        <p:blipFill>
          <a:blip xmlns:r="http://schemas.openxmlformats.org/officeDocument/2006/relationships" xmlns:a="http://schemas.openxmlformats.org/drawingml/2006/main" r:embed="R7e9f093e6da34771"/>
          <a:srcRect xmlns:a="http://schemas.openxmlformats.org/drawingml/2006/main" l="0" t="0" r="0" b="0"/>
          <a:stretch xmlns:a="http://schemas.openxmlformats.org/drawingml/2006/main"/>
        </p:blipFill>
        <p:spPr>
          <a:xfrm xmlns:a="http://schemas.openxmlformats.org/drawingml/2006/main">
            <a:off x="812800" y="3810000"/>
            <a:ext cx="304800" cy="30480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9E3ED563-A30C-4F10-A257-5AC54B077002}"/>
              </a:ext>
            </a:extLst>
          </p:cNvPr>
          <p:cNvSpPr>
            <a:spLocks xmlns:a="http://schemas.openxmlformats.org/drawingml/2006/main" noGrp="1"/>
          </p:cNvSpPr>
          <p:nvPr/>
        </p:nvSpPr>
        <p:spPr>
          <a:xfrm xmlns:a="http://schemas.openxmlformats.org/drawingml/2006/main">
            <a:off x="1270000" y="3810000"/>
            <a:ext cx="481380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F4F5F1"/>
                </a:solidFill>
                <a:latin typeface="IBM Plex Sans"/>
                <a:ea typeface="IBM Plex Sans"/>
                <a:cs typeface="IBM Plex Sans"/>
              </a:rPr>
              <a:t>Fail-safe</a:t>
            </a:r>
          </a:p>
        </p:txBody>
      </p:sp>
      <p:sp>
        <p:nvSpPr>
          <p:cNvPr id="12" name="Text 7">
            <a:extLst xmlns:a="http://schemas.openxmlformats.org/drawingml/2006/main">
              <a:ext uri="{FF2B5EF4-FFF2-40B4-BE49-F238E27FC236}">
                <a16:creationId xmlns:a16="http://schemas.microsoft.com/office/drawing/2014/main" id="{C04ADCBC-0F78-490B-B577-FC8D1B8C3556}"/>
              </a:ext>
            </a:extLst>
          </p:cNvPr>
          <p:cNvSpPr>
            <a:spLocks xmlns:a="http://schemas.openxmlformats.org/drawingml/2006/main" noGrp="1"/>
          </p:cNvSpPr>
          <p:nvPr/>
        </p:nvSpPr>
        <p:spPr>
          <a:xfrm xmlns:a="http://schemas.openxmlformats.org/drawingml/2006/main">
            <a:off x="1270000" y="4102100"/>
            <a:ext cx="49784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Bei Fehler, Zeitüberschreitung oder ungültiger Ausgabe immer WAIT</a:t>
            </a:r>
          </a:p>
        </p:txBody>
      </p:sp>
      <p:sp>
        <p:nvSpPr>
          <p:cNvPr id="13" name="Text 8">
            <a:extLst xmlns:a="http://schemas.openxmlformats.org/drawingml/2006/main">
              <a:ext uri="{FF2B5EF4-FFF2-40B4-BE49-F238E27FC236}">
                <a16:creationId xmlns:a16="http://schemas.microsoft.com/office/drawing/2014/main" id="{ABDE63A4-A620-4F1A-A402-41EA21C5D622}"/>
              </a:ext>
            </a:extLst>
          </p:cNvPr>
          <p:cNvSpPr>
            <a:spLocks xmlns:a="http://schemas.openxmlformats.org/drawingml/2006/main" noGrp="1"/>
          </p:cNvSpPr>
          <p:nvPr/>
        </p:nvSpPr>
        <p:spPr>
          <a:xfrm xmlns:a="http://schemas.openxmlformats.org/drawingml/2006/main">
            <a:off x="6248400" y="1981200"/>
            <a:ext cx="5284724"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F4F5F1"/>
                </a:solidFill>
                <a:latin typeface="IBM Plex Sans"/>
                <a:ea typeface="IBM Plex Sans"/>
                <a:cs typeface="IBM Plex Sans"/>
              </a:rPr>
              <a:t>Prüfmodi: wie viel Schutz bleibt</a:t>
            </a:r>
          </a:p>
        </p:txBody>
      </p:sp>
      <p:sp>
        <p:nvSpPr>
          <p:cNvPr id="14" name="Shape 9">
            <a:extLst xmlns:a="http://schemas.openxmlformats.org/drawingml/2006/main">
              <a:ext uri="{FF2B5EF4-FFF2-40B4-BE49-F238E27FC236}">
                <a16:creationId xmlns:a16="http://schemas.microsoft.com/office/drawing/2014/main" id="{DFDEC353-4742-49D3-A86F-64A62CA6351F}"/>
              </a:ext>
            </a:extLst>
          </p:cNvPr>
          <p:cNvSpPr>
            <a:spLocks xmlns:a="http://schemas.openxmlformats.org/drawingml/2006/main" noGrp="1"/>
          </p:cNvSpPr>
          <p:nvPr/>
        </p:nvSpPr>
        <p:spPr>
          <a:xfrm xmlns:a="http://schemas.openxmlformats.org/drawingml/2006/main">
            <a:off x="6251575" y="2327275"/>
            <a:ext cx="5124450" cy="520700"/>
          </a:xfrm>
          <a:prstGeom xmlns:a="http://schemas.openxmlformats.org/drawingml/2006/main" prst="roundRect">
            <a:avLst>
              <a:gd name="adj" fmla="val 18902"/>
            </a:avLst>
          </a:prstGeom>
          <a:solidFill xmlns:a="http://schemas.openxmlformats.org/drawingml/2006/main">
            <a:srgbClr val="1C2833"/>
          </a:solidFill>
          <a:ln xmlns:a="http://schemas.openxmlformats.org/drawingml/2006/main" w="6350">
            <a:solidFill>
              <a:srgbClr val="2C3A47"/>
            </a:solidFill>
            <a:prstDash val="solid"/>
          </a:ln>
        </p:spPr>
      </p:sp>
      <p:sp>
        <p:nvSpPr>
          <p:cNvPr id="15" name="Text 10">
            <a:extLst xmlns:a="http://schemas.openxmlformats.org/drawingml/2006/main">
              <a:ext uri="{FF2B5EF4-FFF2-40B4-BE49-F238E27FC236}">
                <a16:creationId xmlns:a16="http://schemas.microsoft.com/office/drawing/2014/main" id="{D198AD3F-64EB-472F-B9D3-05EF3A6F0FC0}"/>
              </a:ext>
            </a:extLst>
          </p:cNvPr>
          <p:cNvSpPr>
            <a:spLocks xmlns:a="http://schemas.openxmlformats.org/drawingml/2006/main" noGrp="1"/>
          </p:cNvSpPr>
          <p:nvPr/>
        </p:nvSpPr>
        <p:spPr>
          <a:xfrm xmlns:a="http://schemas.openxmlformats.org/drawingml/2006/main">
            <a:off x="6457950" y="2482850"/>
            <a:ext cx="11303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7FB2E5"/>
                </a:solidFill>
                <a:latin typeface="JetBrains Mono"/>
                <a:ea typeface="JetBrains Mono"/>
                <a:cs typeface="JetBrains Mono"/>
              </a:rPr>
              <a:t>strict</a:t>
            </a:r>
          </a:p>
        </p:txBody>
      </p:sp>
      <p:sp>
        <p:nvSpPr>
          <p:cNvPr id="16" name="Text 11">
            <a:extLst xmlns:a="http://schemas.openxmlformats.org/drawingml/2006/main">
              <a:ext uri="{FF2B5EF4-FFF2-40B4-BE49-F238E27FC236}">
                <a16:creationId xmlns:a16="http://schemas.microsoft.com/office/drawing/2014/main" id="{42A48088-4A49-46B9-ACA5-D8D16907ED68}"/>
              </a:ext>
            </a:extLst>
          </p:cNvPr>
          <p:cNvSpPr>
            <a:spLocks xmlns:a="http://schemas.openxmlformats.org/drawingml/2006/main" noGrp="1"/>
          </p:cNvSpPr>
          <p:nvPr/>
        </p:nvSpPr>
        <p:spPr>
          <a:xfrm xmlns:a="http://schemas.openxmlformats.org/drawingml/2006/main">
            <a:off x="7689850" y="2482850"/>
            <a:ext cx="3584194"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IBM Plex Sans"/>
                <a:ea typeface="IBM Plex Sans"/>
                <a:cs typeface="IBM Plex Sans"/>
              </a:rPr>
              <a:t>lehnt Manöver ohne Belege ab</a:t>
            </a:r>
          </a:p>
        </p:txBody>
      </p:sp>
      <p:sp>
        <p:nvSpPr>
          <p:cNvPr id="17" name="Shape 12">
            <a:extLst xmlns:a="http://schemas.openxmlformats.org/drawingml/2006/main">
              <a:ext uri="{FF2B5EF4-FFF2-40B4-BE49-F238E27FC236}">
                <a16:creationId xmlns:a16="http://schemas.microsoft.com/office/drawing/2014/main" id="{03950032-3063-4190-A4D2-4685D61394B0}"/>
              </a:ext>
            </a:extLst>
          </p:cNvPr>
          <p:cNvSpPr>
            <a:spLocks xmlns:a="http://schemas.openxmlformats.org/drawingml/2006/main" noGrp="1"/>
          </p:cNvSpPr>
          <p:nvPr/>
        </p:nvSpPr>
        <p:spPr>
          <a:xfrm xmlns:a="http://schemas.openxmlformats.org/drawingml/2006/main">
            <a:off x="6251575" y="2955925"/>
            <a:ext cx="5124450" cy="520700"/>
          </a:xfrm>
          <a:prstGeom xmlns:a="http://schemas.openxmlformats.org/drawingml/2006/main" prst="roundRect">
            <a:avLst>
              <a:gd name="adj" fmla="val 18902"/>
            </a:avLst>
          </a:prstGeom>
          <a:solidFill xmlns:a="http://schemas.openxmlformats.org/drawingml/2006/main">
            <a:srgbClr val="1C2833"/>
          </a:solidFill>
          <a:ln xmlns:a="http://schemas.openxmlformats.org/drawingml/2006/main" w="6350">
            <a:solidFill>
              <a:srgbClr val="2C3A47"/>
            </a:solidFill>
            <a:prstDash val="solid"/>
          </a:ln>
        </p:spPr>
      </p:sp>
      <p:sp>
        <p:nvSpPr>
          <p:cNvPr id="18" name="Text 13">
            <a:extLst xmlns:a="http://schemas.openxmlformats.org/drawingml/2006/main">
              <a:ext uri="{FF2B5EF4-FFF2-40B4-BE49-F238E27FC236}">
                <a16:creationId xmlns:a16="http://schemas.microsoft.com/office/drawing/2014/main" id="{EE963CDF-0A0D-49DD-BF76-30E2C715FBD4}"/>
              </a:ext>
            </a:extLst>
          </p:cNvPr>
          <p:cNvSpPr>
            <a:spLocks xmlns:a="http://schemas.openxmlformats.org/drawingml/2006/main" noGrp="1"/>
          </p:cNvSpPr>
          <p:nvPr/>
        </p:nvSpPr>
        <p:spPr>
          <a:xfrm xmlns:a="http://schemas.openxmlformats.org/drawingml/2006/main">
            <a:off x="6457950" y="3111500"/>
            <a:ext cx="11303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F2C14E"/>
                </a:solidFill>
                <a:latin typeface="JetBrains Mono"/>
                <a:ea typeface="JetBrains Mono"/>
                <a:cs typeface="JetBrains Mono"/>
              </a:rPr>
              <a:t>advisory</a:t>
            </a:r>
          </a:p>
        </p:txBody>
      </p:sp>
      <p:sp>
        <p:nvSpPr>
          <p:cNvPr id="19" name="Text 14">
            <a:extLst xmlns:a="http://schemas.openxmlformats.org/drawingml/2006/main">
              <a:ext uri="{FF2B5EF4-FFF2-40B4-BE49-F238E27FC236}">
                <a16:creationId xmlns:a16="http://schemas.microsoft.com/office/drawing/2014/main" id="{4A69ECF4-D775-49EC-A97D-530F29F19EA4}"/>
              </a:ext>
            </a:extLst>
          </p:cNvPr>
          <p:cNvSpPr>
            <a:spLocks xmlns:a="http://schemas.openxmlformats.org/drawingml/2006/main" noGrp="1"/>
          </p:cNvSpPr>
          <p:nvPr/>
        </p:nvSpPr>
        <p:spPr>
          <a:xfrm xmlns:a="http://schemas.openxmlformats.org/drawingml/2006/main">
            <a:off x="7689850" y="3111500"/>
            <a:ext cx="3584194"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IBM Plex Sans"/>
                <a:ea typeface="IBM Plex Sans"/>
                <a:cs typeface="IBM Plex Sans"/>
              </a:rPr>
              <a:t>warnt nur, der Agent entscheidet</a:t>
            </a:r>
          </a:p>
        </p:txBody>
      </p:sp>
      <p:sp>
        <p:nvSpPr>
          <p:cNvPr id="20" name="Shape 15">
            <a:extLst xmlns:a="http://schemas.openxmlformats.org/drawingml/2006/main">
              <a:ext uri="{FF2B5EF4-FFF2-40B4-BE49-F238E27FC236}">
                <a16:creationId xmlns:a16="http://schemas.microsoft.com/office/drawing/2014/main" id="{B8157A68-5683-45EC-9B66-B397E2BDEF77}"/>
              </a:ext>
            </a:extLst>
          </p:cNvPr>
          <p:cNvSpPr>
            <a:spLocks xmlns:a="http://schemas.openxmlformats.org/drawingml/2006/main" noGrp="1"/>
          </p:cNvSpPr>
          <p:nvPr/>
        </p:nvSpPr>
        <p:spPr>
          <a:xfrm xmlns:a="http://schemas.openxmlformats.org/drawingml/2006/main">
            <a:off x="6251575" y="3584575"/>
            <a:ext cx="5124450" cy="730250"/>
          </a:xfrm>
          <a:prstGeom xmlns:a="http://schemas.openxmlformats.org/drawingml/2006/main" prst="roundRect">
            <a:avLst>
              <a:gd name="adj" fmla="val 13478"/>
            </a:avLst>
          </a:prstGeom>
          <a:solidFill xmlns:a="http://schemas.openxmlformats.org/drawingml/2006/main">
            <a:srgbClr val="1C2833"/>
          </a:solidFill>
          <a:ln xmlns:a="http://schemas.openxmlformats.org/drawingml/2006/main" w="6350">
            <a:solidFill>
              <a:srgbClr val="2C3A47"/>
            </a:solidFill>
            <a:prstDash val="solid"/>
          </a:ln>
        </p:spPr>
      </p:sp>
      <p:sp>
        <p:nvSpPr>
          <p:cNvPr id="21" name="Text 16">
            <a:extLst xmlns:a="http://schemas.openxmlformats.org/drawingml/2006/main">
              <a:ext uri="{FF2B5EF4-FFF2-40B4-BE49-F238E27FC236}">
                <a16:creationId xmlns:a16="http://schemas.microsoft.com/office/drawing/2014/main" id="{636A9D33-7476-4DE1-BAD9-454185B5B237}"/>
              </a:ext>
            </a:extLst>
          </p:cNvPr>
          <p:cNvSpPr>
            <a:spLocks xmlns:a="http://schemas.openxmlformats.org/drawingml/2006/main" noGrp="1"/>
          </p:cNvSpPr>
          <p:nvPr/>
        </p:nvSpPr>
        <p:spPr>
          <a:xfrm xmlns:a="http://schemas.openxmlformats.org/drawingml/2006/main">
            <a:off x="6457950" y="3844925"/>
            <a:ext cx="11303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F2994A"/>
                </a:solidFill>
                <a:latin typeface="JetBrains Mono"/>
                <a:ea typeface="JetBrains Mono"/>
                <a:cs typeface="JetBrains Mono"/>
              </a:rPr>
              <a:t>off</a:t>
            </a:r>
          </a:p>
        </p:txBody>
      </p:sp>
      <p:sp>
        <p:nvSpPr>
          <p:cNvPr id="22" name="Text 17">
            <a:extLst xmlns:a="http://schemas.openxmlformats.org/drawingml/2006/main">
              <a:ext uri="{FF2B5EF4-FFF2-40B4-BE49-F238E27FC236}">
                <a16:creationId xmlns:a16="http://schemas.microsoft.com/office/drawing/2014/main" id="{D679CBC9-7118-4530-B663-91D359B9E9D1}"/>
              </a:ext>
            </a:extLst>
          </p:cNvPr>
          <p:cNvSpPr>
            <a:spLocks xmlns:a="http://schemas.openxmlformats.org/drawingml/2006/main" noGrp="1"/>
          </p:cNvSpPr>
          <p:nvPr/>
        </p:nvSpPr>
        <p:spPr>
          <a:xfrm xmlns:a="http://schemas.openxmlformats.org/drawingml/2006/main">
            <a:off x="7689850" y="3740150"/>
            <a:ext cx="3584194"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IBM Plex Sans"/>
                <a:ea typeface="IBM Plex Sans"/>
                <a:cs typeface="IBM Plex Sans"/>
              </a:rPr>
              <a:t>nur noch harte Regeln: Wer blind losfährt, verursacht einen Unfall</a:t>
            </a:r>
          </a:p>
        </p:txBody>
      </p:sp>
      <p:sp>
        <p:nvSpPr>
          <p:cNvPr id="23" name="Text 18">
            <a:extLst xmlns:a="http://schemas.openxmlformats.org/drawingml/2006/main">
              <a:ext uri="{FF2B5EF4-FFF2-40B4-BE49-F238E27FC236}">
                <a16:creationId xmlns:a16="http://schemas.microsoft.com/office/drawing/2014/main" id="{13EA069C-3D7D-4BC6-B6E3-0AF50FC95B25}"/>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C99A4"/>
                </a:solidFill>
                <a:latin typeface="IBM Plex Sans"/>
                <a:ea typeface="IBM Plex Sans"/>
                <a:cs typeface="IBM Plex Sans"/>
              </a:rPr>
              <a:t>Autonomy Recovery Lab · Einstieg</a:t>
            </a:r>
          </a:p>
        </p:txBody>
      </p:sp>
      <p:sp>
        <p:nvSpPr>
          <p:cNvPr id="24" name="Text 19">
            <a:extLst xmlns:a="http://schemas.openxmlformats.org/drawingml/2006/main">
              <a:ext uri="{FF2B5EF4-FFF2-40B4-BE49-F238E27FC236}">
                <a16:creationId xmlns:a16="http://schemas.microsoft.com/office/drawing/2014/main" id="{0AFB4F07-BC3F-4FCE-BED5-E1FC2E7E59DE}"/>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C99A4"/>
                </a:solidFill>
                <a:latin typeface="IBM Plex Sans"/>
                <a:ea typeface="IBM Plex Sans"/>
                <a:cs typeface="IBM Plex Sans"/>
              </a:rPr>
              <a:t>7</a:t>
            </a:r>
          </a:p>
        </p:txBody>
      </p:sp>
    </p:spTree>
    <p:extLst>
      <p:ext uri="{BB962C8B-B14F-4D97-AF65-F5344CB8AC3E}">
        <p14:creationId xmlns:p14="http://schemas.microsoft.com/office/powerpoint/2010/main" val="291786990"/>
      </p:ext>
    </p:extLst>
  </p:cSld>
</p:sld>
</file>

<file path=ppt/slides/slide8.xml><?xml version="1.0" encoding="utf-8"?>
<p:sld xmlns:p="http://schemas.openxmlformats.org/presentationml/2006/main">
  <p:cSld>
    <p:bg>
      <p:bgPr>
        <a:solidFill xmlns:a="http://schemas.openxmlformats.org/drawingml/2006/main">
          <a:srgbClr val="E8782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6F860F2-232C-4BAD-B1D8-6EE82DCA863E}"/>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121B24"/>
                </a:solidFill>
                <a:latin typeface="IBM Plex Sans"/>
                <a:ea typeface="IBM Plex Sans"/>
                <a:cs typeface="IBM Plex Sans"/>
              </a:rPr>
              <a:t>LAGEN ÄNDERN SICH</a:t>
            </a:r>
          </a:p>
        </p:txBody>
      </p:sp>
      <p:sp>
        <p:nvSpPr>
          <p:cNvPr id="3" name="Text 1">
            <a:extLst xmlns:a="http://schemas.openxmlformats.org/drawingml/2006/main">
              <a:ext uri="{FF2B5EF4-FFF2-40B4-BE49-F238E27FC236}">
                <a16:creationId xmlns:a16="http://schemas.microsoft.com/office/drawing/2014/main" id="{748284CE-099E-4F20-8BCC-874BB5925057}"/>
              </a:ext>
            </a:extLst>
          </p:cNvPr>
          <p:cNvSpPr>
            <a:spLocks xmlns:a="http://schemas.openxmlformats.org/drawingml/2006/main" noGrp="1"/>
          </p:cNvSpPr>
          <p:nvPr>
            <p:ph type="title" idx="0"/>
          </p:nvPr>
        </p:nvSpPr>
        <p:spPr>
          <a:xfrm xmlns:a="http://schemas.openxmlformats.org/drawingml/2006/main">
            <a:off x="812800" y="1123950"/>
            <a:ext cx="10883392" cy="1028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Manche Ursachen zeigen sich erst beim Ausscheren</a:t>
            </a:r>
          </a:p>
        </p:txBody>
      </p:sp>
      <p:pic>
        <p:nvPicPr>
          <p:cNvPr id="4" name="Image 0"/>
          <p:cNvPicPr>
            <a:picLocks xmlns:a="http://schemas.openxmlformats.org/drawingml/2006/main" noChangeAspect="1"/>
          </p:cNvPicPr>
          <p:nvPr/>
        </p:nvPicPr>
        <p:blipFill>
          <a:blip xmlns:r="http://schemas.openxmlformats.org/officeDocument/2006/relationships" xmlns:a="http://schemas.openxmlformats.org/drawingml/2006/main" r:embed="R5822b75be1054a55"/>
          <a:srcRect xmlns:a="http://schemas.openxmlformats.org/drawingml/2006/main" l="0" t="-31" r="0" b="-31"/>
          <a:stretch xmlns:a="http://schemas.openxmlformats.org/drawingml/2006/main"/>
        </p:blipFill>
        <p:spPr>
          <a:xfrm xmlns:a="http://schemas.openxmlformats.org/drawingml/2006/main">
            <a:off x="812800" y="2381250"/>
            <a:ext cx="10566400" cy="19050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AD057C8-EF61-4010-8EA9-F8CA085146F5}"/>
              </a:ext>
            </a:extLst>
          </p:cNvPr>
          <p:cNvSpPr>
            <a:spLocks xmlns:a="http://schemas.openxmlformats.org/drawingml/2006/main" noGrp="1"/>
          </p:cNvSpPr>
          <p:nvPr/>
        </p:nvSpPr>
        <p:spPr>
          <a:xfrm xmlns:a="http://schemas.openxmlformats.org/drawingml/2006/main">
            <a:off x="812800" y="4540250"/>
            <a:ext cx="3401060"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121B24"/>
                </a:solidFill>
                <a:latin typeface="IBM Plex Sans"/>
                <a:ea typeface="IBM Plex Sans"/>
                <a:cs typeface="IBM Plex Sans"/>
              </a:rPr>
              <a:t>1 · Lieferwagen steht ohne Grund</a:t>
            </a:r>
          </a:p>
        </p:txBody>
      </p:sp>
      <p:sp>
        <p:nvSpPr>
          <p:cNvPr id="6" name="Text 3">
            <a:extLst xmlns:a="http://schemas.openxmlformats.org/drawingml/2006/main">
              <a:ext uri="{FF2B5EF4-FFF2-40B4-BE49-F238E27FC236}">
                <a16:creationId xmlns:a16="http://schemas.microsoft.com/office/drawing/2014/main" id="{B1038AE4-63B4-4262-8960-407F91413CCB}"/>
              </a:ext>
            </a:extLst>
          </p:cNvPr>
          <p:cNvSpPr>
            <a:spLocks xmlns:a="http://schemas.openxmlformats.org/drawingml/2006/main" noGrp="1"/>
          </p:cNvSpPr>
          <p:nvPr/>
        </p:nvSpPr>
        <p:spPr>
          <a:xfrm xmlns:a="http://schemas.openxmlformats.org/drawingml/2006/main">
            <a:off x="812800" y="4845050"/>
            <a:ext cx="340106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121B24"/>
                </a:solidFill>
                <a:latin typeface="IBM Plex Sans"/>
                <a:ea typeface="IBM Plex Sans"/>
                <a:cs typeface="IBM Plex Sans"/>
              </a:rPr>
              <a:t>Von hier aus ist nicht zu erkennen, was davor liegt.</a:t>
            </a:r>
          </a:p>
        </p:txBody>
      </p:sp>
      <p:sp>
        <p:nvSpPr>
          <p:cNvPr id="7" name="Text 4">
            <a:extLst xmlns:a="http://schemas.openxmlformats.org/drawingml/2006/main">
              <a:ext uri="{FF2B5EF4-FFF2-40B4-BE49-F238E27FC236}">
                <a16:creationId xmlns:a16="http://schemas.microsoft.com/office/drawing/2014/main" id="{6393DFFF-4EEC-48AF-AF64-811DDC096A35}"/>
              </a:ext>
            </a:extLst>
          </p:cNvPr>
          <p:cNvSpPr>
            <a:spLocks xmlns:a="http://schemas.openxmlformats.org/drawingml/2006/main" noGrp="1"/>
          </p:cNvSpPr>
          <p:nvPr/>
        </p:nvSpPr>
        <p:spPr>
          <a:xfrm xmlns:a="http://schemas.openxmlformats.org/drawingml/2006/main">
            <a:off x="4445000" y="4540250"/>
            <a:ext cx="3401060"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121B24"/>
                </a:solidFill>
                <a:latin typeface="IBM Plex Sans"/>
                <a:ea typeface="IBM Plex Sans"/>
                <a:cs typeface="IBM Plex Sans"/>
              </a:rPr>
              <a:t>2 · Ausscheren, Checkpoint</a:t>
            </a:r>
          </a:p>
        </p:txBody>
      </p:sp>
      <p:sp>
        <p:nvSpPr>
          <p:cNvPr id="8" name="Text 5">
            <a:extLst xmlns:a="http://schemas.openxmlformats.org/drawingml/2006/main">
              <a:ext uri="{FF2B5EF4-FFF2-40B4-BE49-F238E27FC236}">
                <a16:creationId xmlns:a16="http://schemas.microsoft.com/office/drawing/2014/main" id="{C7D495F2-5D52-40D5-B70F-5E640F65DA9E}"/>
              </a:ext>
            </a:extLst>
          </p:cNvPr>
          <p:cNvSpPr>
            <a:spLocks xmlns:a="http://schemas.openxmlformats.org/drawingml/2006/main" noGrp="1"/>
          </p:cNvSpPr>
          <p:nvPr/>
        </p:nvSpPr>
        <p:spPr>
          <a:xfrm xmlns:a="http://schemas.openxmlformats.org/drawingml/2006/main">
            <a:off x="4445000" y="4845050"/>
            <a:ext cx="340106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121B24"/>
                </a:solidFill>
                <a:latin typeface="IBM Plex Sans"/>
                <a:ea typeface="IBM Plex Sans"/>
                <a:cs typeface="IBM Plex Sans"/>
              </a:rPr>
              <a:t>OVERTAKE hält ausgeschert an. Jetzt ist die Unfallstelle sichtbar.</a:t>
            </a:r>
          </a:p>
        </p:txBody>
      </p:sp>
      <p:sp>
        <p:nvSpPr>
          <p:cNvPr id="9" name="Text 6">
            <a:extLst xmlns:a="http://schemas.openxmlformats.org/drawingml/2006/main">
              <a:ext uri="{FF2B5EF4-FFF2-40B4-BE49-F238E27FC236}">
                <a16:creationId xmlns:a16="http://schemas.microsoft.com/office/drawing/2014/main" id="{3F18DF6A-63E1-4EAF-823A-40AD0D79AB0F}"/>
              </a:ext>
            </a:extLst>
          </p:cNvPr>
          <p:cNvSpPr>
            <a:spLocks xmlns:a="http://schemas.openxmlformats.org/drawingml/2006/main" noGrp="1"/>
          </p:cNvSpPr>
          <p:nvPr/>
        </p:nvSpPr>
        <p:spPr>
          <a:xfrm xmlns:a="http://schemas.openxmlformats.org/drawingml/2006/main">
            <a:off x="8077200" y="4540250"/>
            <a:ext cx="3401060"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121B24"/>
                </a:solidFill>
                <a:latin typeface="IBM Plex Sans"/>
                <a:ea typeface="IBM Plex Sans"/>
                <a:cs typeface="IBM Plex Sans"/>
              </a:rPr>
              <a:t>3 · Neu entscheiden</a:t>
            </a:r>
          </a:p>
        </p:txBody>
      </p:sp>
      <p:sp>
        <p:nvSpPr>
          <p:cNvPr id="10" name="Text 7">
            <a:extLst xmlns:a="http://schemas.openxmlformats.org/drawingml/2006/main">
              <a:ext uri="{FF2B5EF4-FFF2-40B4-BE49-F238E27FC236}">
                <a16:creationId xmlns:a16="http://schemas.microsoft.com/office/drawing/2014/main" id="{0AA38467-6060-4E27-AA03-B5A3A046BAEE}"/>
              </a:ext>
            </a:extLst>
          </p:cNvPr>
          <p:cNvSpPr>
            <a:spLocks xmlns:a="http://schemas.openxmlformats.org/drawingml/2006/main" noGrp="1"/>
          </p:cNvSpPr>
          <p:nvPr/>
        </p:nvSpPr>
        <p:spPr>
          <a:xfrm xmlns:a="http://schemas.openxmlformats.org/drawingml/2006/main">
            <a:off x="8077200" y="4845050"/>
            <a:ext cx="340106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121B24"/>
                </a:solidFill>
                <a:latin typeface="IBM Plex Sans"/>
                <a:ea typeface="IBM Plex Sans"/>
                <a:cs typeface="IBM Plex Sans"/>
              </a:rPr>
              <a:t>Zurück in die Spur und wenden. Die Uhr läuft die ganze Zeit.</a:t>
            </a:r>
          </a:p>
        </p:txBody>
      </p:sp>
      <p:sp>
        <p:nvSpPr>
          <p:cNvPr id="11" name="Text 8">
            <a:extLst xmlns:a="http://schemas.openxmlformats.org/drawingml/2006/main">
              <a:ext uri="{FF2B5EF4-FFF2-40B4-BE49-F238E27FC236}">
                <a16:creationId xmlns:a16="http://schemas.microsoft.com/office/drawing/2014/main" id="{3188BB3A-9630-46E5-A7D5-8BCE6EB1677E}"/>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121B24"/>
                </a:solidFill>
                <a:latin typeface="IBM Plex Sans"/>
                <a:ea typeface="IBM Plex Sans"/>
                <a:cs typeface="IBM Plex Sans"/>
              </a:rPr>
              <a:t>Autonomy Recovery Lab · Einstieg · Szenariofamilie F1</a:t>
            </a:r>
          </a:p>
        </p:txBody>
      </p:sp>
      <p:sp>
        <p:nvSpPr>
          <p:cNvPr id="12" name="Text 9">
            <a:extLst xmlns:a="http://schemas.openxmlformats.org/drawingml/2006/main">
              <a:ext uri="{FF2B5EF4-FFF2-40B4-BE49-F238E27FC236}">
                <a16:creationId xmlns:a16="http://schemas.microsoft.com/office/drawing/2014/main" id="{0057CD2A-2AE2-4349-A22F-B6B0A705B888}"/>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121B24"/>
                </a:solidFill>
                <a:latin typeface="IBM Plex Sans"/>
                <a:ea typeface="IBM Plex Sans"/>
                <a:cs typeface="IBM Plex Sans"/>
              </a:rPr>
              <a:t>8</a:t>
            </a:r>
          </a:p>
        </p:txBody>
      </p:sp>
    </p:spTree>
    <p:extLst>
      <p:ext uri="{BB962C8B-B14F-4D97-AF65-F5344CB8AC3E}">
        <p14:creationId xmlns:p14="http://schemas.microsoft.com/office/powerpoint/2010/main" val="1517240153"/>
      </p:ext>
    </p:extLst>
  </p:cSld>
</p:sld>
</file>

<file path=ppt/slides/slide9.xml><?xml version="1.0" encoding="utf-8"?>
<p:sld xmlns:p="http://schemas.openxmlformats.org/presentationml/2006/main">
  <p:cSld>
    <p:bg>
      <p:bgPr>
        <a:solidFill xmlns:a="http://schemas.openxmlformats.org/drawingml/2006/main">
          <a:srgbClr val="E7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FEADEC-285F-49AE-8BA6-EC911FE17365}"/>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AUTONOMYRECOVERYSIM</a:t>
            </a:r>
          </a:p>
        </p:txBody>
      </p:sp>
      <p:sp>
        <p:nvSpPr>
          <p:cNvPr id="3" name="Text 1">
            <a:extLst xmlns:a="http://schemas.openxmlformats.org/drawingml/2006/main">
              <a:ext uri="{FF2B5EF4-FFF2-40B4-BE49-F238E27FC236}">
                <a16:creationId xmlns:a16="http://schemas.microsoft.com/office/drawing/2014/main" id="{2D3CDE11-4CA7-49C5-BA0A-E57BFB3F174A}"/>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Ein Simulator auf Straßen in Hannover</a:t>
            </a:r>
          </a:p>
        </p:txBody>
      </p:sp>
      <p:sp>
        <p:nvSpPr>
          <p:cNvPr id="4" name="Shape 2">
            <a:extLst xmlns:a="http://schemas.openxmlformats.org/drawingml/2006/main">
              <a:ext uri="{FF2B5EF4-FFF2-40B4-BE49-F238E27FC236}">
                <a16:creationId xmlns:a16="http://schemas.microsoft.com/office/drawing/2014/main" id="{F6CA7641-367E-4B93-B598-F5938AFBB118}"/>
              </a:ext>
            </a:extLst>
          </p:cNvPr>
          <p:cNvSpPr>
            <a:spLocks xmlns:a="http://schemas.openxmlformats.org/drawingml/2006/main" noGrp="1"/>
          </p:cNvSpPr>
          <p:nvPr/>
        </p:nvSpPr>
        <p:spPr>
          <a:xfrm xmlns:a="http://schemas.openxmlformats.org/drawingml/2006/main">
            <a:off x="815975" y="1984375"/>
            <a:ext cx="2520950" cy="1746250"/>
          </a:xfrm>
          <a:prstGeom xmlns:a="http://schemas.openxmlformats.org/drawingml/2006/main" prst="roundRect">
            <a:avLst>
              <a:gd name="adj" fmla="val 7091"/>
            </a:avLst>
          </a:prstGeom>
          <a:solidFill xmlns:a="http://schemas.openxmlformats.org/drawingml/2006/main">
            <a:srgbClr val="FBFBF8"/>
          </a:solidFill>
          <a:ln xmlns:a="http://schemas.openxmlformats.org/drawingml/2006/main" w="6350">
            <a:solidFill>
              <a:srgbClr val="D5DAD3"/>
            </a:solidFill>
            <a:prstDash val="solid"/>
          </a:ln>
        </p:spPr>
      </p:sp>
      <p:sp>
        <p:nvSpPr>
          <p:cNvPr id="5" name="Text 3">
            <a:extLst xmlns:a="http://schemas.openxmlformats.org/drawingml/2006/main">
              <a:ext uri="{FF2B5EF4-FFF2-40B4-BE49-F238E27FC236}">
                <a16:creationId xmlns:a16="http://schemas.microsoft.com/office/drawing/2014/main" id="{4B32DC01-38CC-477E-82D8-766BCBC11D4C}"/>
              </a:ext>
            </a:extLst>
          </p:cNvPr>
          <p:cNvSpPr>
            <a:spLocks xmlns:a="http://schemas.openxmlformats.org/drawingml/2006/main" noGrp="1"/>
          </p:cNvSpPr>
          <p:nvPr/>
        </p:nvSpPr>
        <p:spPr>
          <a:xfrm xmlns:a="http://schemas.openxmlformats.org/drawingml/2006/main">
            <a:off x="1073150" y="2241550"/>
            <a:ext cx="2066798" cy="736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5600"/>
              </a:lnSpc>
              <a:buNone/>
            </a:pPr>
            <a:r>
              <a:rPr sz="5600" b="1">
                <a:solidFill>
                  <a:srgbClr val="2A64A0"/>
                </a:solidFill>
                <a:latin typeface="Space Grotesk"/>
                <a:ea typeface="Space Grotesk"/>
                <a:cs typeface="Space Grotesk"/>
              </a:rPr>
              <a:t>61</a:t>
            </a:r>
          </a:p>
        </p:txBody>
      </p:sp>
      <p:sp>
        <p:nvSpPr>
          <p:cNvPr id="6" name="Text 4">
            <a:extLst xmlns:a="http://schemas.openxmlformats.org/drawingml/2006/main">
              <a:ext uri="{FF2B5EF4-FFF2-40B4-BE49-F238E27FC236}">
                <a16:creationId xmlns:a16="http://schemas.microsoft.com/office/drawing/2014/main" id="{25A74E5E-3F8C-4090-9A26-75B5E8CE13AF}"/>
              </a:ext>
            </a:extLst>
          </p:cNvPr>
          <p:cNvSpPr>
            <a:spLocks xmlns:a="http://schemas.openxmlformats.org/drawingml/2006/main" noGrp="1"/>
          </p:cNvSpPr>
          <p:nvPr/>
        </p:nvSpPr>
        <p:spPr>
          <a:xfrm xmlns:a="http://schemas.openxmlformats.org/drawingml/2006/main">
            <a:off x="1073150" y="3054350"/>
            <a:ext cx="206679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Szenarien auf echten Straßen aus OpenStreetMap</a:t>
            </a:r>
          </a:p>
        </p:txBody>
      </p:sp>
      <p:sp>
        <p:nvSpPr>
          <p:cNvPr id="7" name="Shape 5">
            <a:extLst xmlns:a="http://schemas.openxmlformats.org/drawingml/2006/main">
              <a:ext uri="{FF2B5EF4-FFF2-40B4-BE49-F238E27FC236}">
                <a16:creationId xmlns:a16="http://schemas.microsoft.com/office/drawing/2014/main" id="{3BF585D6-F832-450F-9224-8BCC826C1F71}"/>
              </a:ext>
            </a:extLst>
          </p:cNvPr>
          <p:cNvSpPr>
            <a:spLocks xmlns:a="http://schemas.openxmlformats.org/drawingml/2006/main" noGrp="1"/>
          </p:cNvSpPr>
          <p:nvPr/>
        </p:nvSpPr>
        <p:spPr>
          <a:xfrm xmlns:a="http://schemas.openxmlformats.org/drawingml/2006/main">
            <a:off x="3495675" y="1984375"/>
            <a:ext cx="2520950" cy="1746250"/>
          </a:xfrm>
          <a:prstGeom xmlns:a="http://schemas.openxmlformats.org/drawingml/2006/main" prst="roundRect">
            <a:avLst>
              <a:gd name="adj" fmla="val 7091"/>
            </a:avLst>
          </a:prstGeom>
          <a:solidFill xmlns:a="http://schemas.openxmlformats.org/drawingml/2006/main">
            <a:srgbClr val="FBFBF8"/>
          </a:solidFill>
          <a:ln xmlns:a="http://schemas.openxmlformats.org/drawingml/2006/main" w="6350">
            <a:solidFill>
              <a:srgbClr val="D5DAD3"/>
            </a:solidFill>
            <a:prstDash val="solid"/>
          </a:ln>
        </p:spPr>
      </p:sp>
      <p:sp>
        <p:nvSpPr>
          <p:cNvPr id="8" name="Text 6">
            <a:extLst xmlns:a="http://schemas.openxmlformats.org/drawingml/2006/main">
              <a:ext uri="{FF2B5EF4-FFF2-40B4-BE49-F238E27FC236}">
                <a16:creationId xmlns:a16="http://schemas.microsoft.com/office/drawing/2014/main" id="{B7F7E533-66DB-42F4-BE19-16F39BB8DCD8}"/>
              </a:ext>
            </a:extLst>
          </p:cNvPr>
          <p:cNvSpPr>
            <a:spLocks xmlns:a="http://schemas.openxmlformats.org/drawingml/2006/main" noGrp="1"/>
          </p:cNvSpPr>
          <p:nvPr/>
        </p:nvSpPr>
        <p:spPr>
          <a:xfrm xmlns:a="http://schemas.openxmlformats.org/drawingml/2006/main">
            <a:off x="3752850" y="2241550"/>
            <a:ext cx="2066798" cy="736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5600"/>
              </a:lnSpc>
              <a:buNone/>
            </a:pPr>
            <a:r>
              <a:rPr sz="5600" b="1">
                <a:solidFill>
                  <a:srgbClr val="2A64A0"/>
                </a:solidFill>
                <a:latin typeface="Space Grotesk"/>
                <a:ea typeface="Space Grotesk"/>
                <a:cs typeface="Space Grotesk"/>
              </a:rPr>
              <a:t>6 × 3</a:t>
            </a:r>
          </a:p>
        </p:txBody>
      </p:sp>
      <p:sp>
        <p:nvSpPr>
          <p:cNvPr id="9" name="Text 7">
            <a:extLst xmlns:a="http://schemas.openxmlformats.org/drawingml/2006/main">
              <a:ext uri="{FF2B5EF4-FFF2-40B4-BE49-F238E27FC236}">
                <a16:creationId xmlns:a16="http://schemas.microsoft.com/office/drawing/2014/main" id="{A89B4D43-5379-4FEA-9327-127922A29EE4}"/>
              </a:ext>
            </a:extLst>
          </p:cNvPr>
          <p:cNvSpPr>
            <a:spLocks xmlns:a="http://schemas.openxmlformats.org/drawingml/2006/main" noGrp="1"/>
          </p:cNvSpPr>
          <p:nvPr/>
        </p:nvSpPr>
        <p:spPr>
          <a:xfrm xmlns:a="http://schemas.openxmlformats.org/drawingml/2006/main">
            <a:off x="3752850" y="3054350"/>
            <a:ext cx="206679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Szenariofamilien, deren Lage sich ändert</a:t>
            </a:r>
          </a:p>
        </p:txBody>
      </p:sp>
      <p:sp>
        <p:nvSpPr>
          <p:cNvPr id="10" name="Shape 8">
            <a:extLst xmlns:a="http://schemas.openxmlformats.org/drawingml/2006/main">
              <a:ext uri="{FF2B5EF4-FFF2-40B4-BE49-F238E27FC236}">
                <a16:creationId xmlns:a16="http://schemas.microsoft.com/office/drawing/2014/main" id="{20EA2F30-351C-42D7-9F43-E978D5302B50}"/>
              </a:ext>
            </a:extLst>
          </p:cNvPr>
          <p:cNvSpPr>
            <a:spLocks xmlns:a="http://schemas.openxmlformats.org/drawingml/2006/main" noGrp="1"/>
          </p:cNvSpPr>
          <p:nvPr/>
        </p:nvSpPr>
        <p:spPr>
          <a:xfrm xmlns:a="http://schemas.openxmlformats.org/drawingml/2006/main">
            <a:off x="6175375" y="1984375"/>
            <a:ext cx="2520950" cy="1746250"/>
          </a:xfrm>
          <a:prstGeom xmlns:a="http://schemas.openxmlformats.org/drawingml/2006/main" prst="roundRect">
            <a:avLst>
              <a:gd name="adj" fmla="val 7091"/>
            </a:avLst>
          </a:prstGeom>
          <a:solidFill xmlns:a="http://schemas.openxmlformats.org/drawingml/2006/main">
            <a:srgbClr val="FBFBF8"/>
          </a:solidFill>
          <a:ln xmlns:a="http://schemas.openxmlformats.org/drawingml/2006/main" w="6350">
            <a:solidFill>
              <a:srgbClr val="D5DAD3"/>
            </a:solidFill>
            <a:prstDash val="solid"/>
          </a:ln>
        </p:spPr>
      </p:sp>
      <p:sp>
        <p:nvSpPr>
          <p:cNvPr id="11" name="Text 9">
            <a:extLst xmlns:a="http://schemas.openxmlformats.org/drawingml/2006/main">
              <a:ext uri="{FF2B5EF4-FFF2-40B4-BE49-F238E27FC236}">
                <a16:creationId xmlns:a16="http://schemas.microsoft.com/office/drawing/2014/main" id="{1123B8A4-2C15-4F77-9C0B-EFA5E2120223}"/>
              </a:ext>
            </a:extLst>
          </p:cNvPr>
          <p:cNvSpPr>
            <a:spLocks xmlns:a="http://schemas.openxmlformats.org/drawingml/2006/main" noGrp="1"/>
          </p:cNvSpPr>
          <p:nvPr/>
        </p:nvSpPr>
        <p:spPr>
          <a:xfrm xmlns:a="http://schemas.openxmlformats.org/drawingml/2006/main">
            <a:off x="6432550" y="2241550"/>
            <a:ext cx="2066798" cy="736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5600"/>
              </a:lnSpc>
              <a:buNone/>
            </a:pPr>
            <a:r>
              <a:rPr sz="5600" b="1">
                <a:solidFill>
                  <a:srgbClr val="2A64A0"/>
                </a:solidFill>
                <a:latin typeface="Space Grotesk"/>
                <a:ea typeface="Space Grotesk"/>
                <a:cs typeface="Space Grotesk"/>
              </a:rPr>
              <a:t>24</a:t>
            </a:r>
          </a:p>
        </p:txBody>
      </p:sp>
      <p:sp>
        <p:nvSpPr>
          <p:cNvPr id="12" name="Text 10">
            <a:extLst xmlns:a="http://schemas.openxmlformats.org/drawingml/2006/main">
              <a:ext uri="{FF2B5EF4-FFF2-40B4-BE49-F238E27FC236}">
                <a16:creationId xmlns:a16="http://schemas.microsoft.com/office/drawing/2014/main" id="{5C372D34-E7F3-40E1-82E4-AD868AB3DD7B}"/>
              </a:ext>
            </a:extLst>
          </p:cNvPr>
          <p:cNvSpPr>
            <a:spLocks xmlns:a="http://schemas.openxmlformats.org/drawingml/2006/main" noGrp="1"/>
          </p:cNvSpPr>
          <p:nvPr/>
        </p:nvSpPr>
        <p:spPr>
          <a:xfrm xmlns:a="http://schemas.openxmlformats.org/drawingml/2006/main">
            <a:off x="6432550" y="3054350"/>
            <a:ext cx="206679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Befehle mit Regel- und Sicherheitsprüfung</a:t>
            </a:r>
          </a:p>
        </p:txBody>
      </p:sp>
      <p:sp>
        <p:nvSpPr>
          <p:cNvPr id="13" name="Shape 11">
            <a:extLst xmlns:a="http://schemas.openxmlformats.org/drawingml/2006/main">
              <a:ext uri="{FF2B5EF4-FFF2-40B4-BE49-F238E27FC236}">
                <a16:creationId xmlns:a16="http://schemas.microsoft.com/office/drawing/2014/main" id="{CE55A1E4-A640-49D9-889F-E9AC617F93EA}"/>
              </a:ext>
            </a:extLst>
          </p:cNvPr>
          <p:cNvSpPr>
            <a:spLocks xmlns:a="http://schemas.openxmlformats.org/drawingml/2006/main" noGrp="1"/>
          </p:cNvSpPr>
          <p:nvPr/>
        </p:nvSpPr>
        <p:spPr>
          <a:xfrm xmlns:a="http://schemas.openxmlformats.org/drawingml/2006/main">
            <a:off x="8855075" y="1984375"/>
            <a:ext cx="2520950" cy="1746250"/>
          </a:xfrm>
          <a:prstGeom xmlns:a="http://schemas.openxmlformats.org/drawingml/2006/main" prst="roundRect">
            <a:avLst>
              <a:gd name="adj" fmla="val 7091"/>
            </a:avLst>
          </a:prstGeom>
          <a:solidFill xmlns:a="http://schemas.openxmlformats.org/drawingml/2006/main">
            <a:srgbClr val="FBFBF8"/>
          </a:solidFill>
          <a:ln xmlns:a="http://schemas.openxmlformats.org/drawingml/2006/main" w="6350">
            <a:solidFill>
              <a:srgbClr val="D5DAD3"/>
            </a:solidFill>
            <a:prstDash val="solid"/>
          </a:ln>
        </p:spPr>
      </p:sp>
      <p:sp>
        <p:nvSpPr>
          <p:cNvPr id="14" name="Text 12">
            <a:extLst xmlns:a="http://schemas.openxmlformats.org/drawingml/2006/main">
              <a:ext uri="{FF2B5EF4-FFF2-40B4-BE49-F238E27FC236}">
                <a16:creationId xmlns:a16="http://schemas.microsoft.com/office/drawing/2014/main" id="{96AC414B-E2AE-41A0-A09E-64E1E97044E2}"/>
              </a:ext>
            </a:extLst>
          </p:cNvPr>
          <p:cNvSpPr>
            <a:spLocks xmlns:a="http://schemas.openxmlformats.org/drawingml/2006/main" noGrp="1"/>
          </p:cNvSpPr>
          <p:nvPr/>
        </p:nvSpPr>
        <p:spPr>
          <a:xfrm xmlns:a="http://schemas.openxmlformats.org/drawingml/2006/main">
            <a:off x="9112250" y="2241550"/>
            <a:ext cx="2066798" cy="736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5600"/>
              </a:lnSpc>
              <a:buNone/>
            </a:pPr>
            <a:r>
              <a:rPr sz="5600" b="1">
                <a:solidFill>
                  <a:srgbClr val="2A64A0"/>
                </a:solidFill>
                <a:latin typeface="Space Grotesk"/>
                <a:ea typeface="Space Grotesk"/>
                <a:cs typeface="Space Grotesk"/>
              </a:rPr>
              <a:t>0</a:t>
            </a:r>
          </a:p>
        </p:txBody>
      </p:sp>
      <p:sp>
        <p:nvSpPr>
          <p:cNvPr id="15" name="Text 13">
            <a:extLst xmlns:a="http://schemas.openxmlformats.org/drawingml/2006/main">
              <a:ext uri="{FF2B5EF4-FFF2-40B4-BE49-F238E27FC236}">
                <a16:creationId xmlns:a16="http://schemas.microsoft.com/office/drawing/2014/main" id="{0D3DC595-42C0-4531-870F-70EB0068FDF4}"/>
              </a:ext>
            </a:extLst>
          </p:cNvPr>
          <p:cNvSpPr>
            <a:spLocks xmlns:a="http://schemas.openxmlformats.org/drawingml/2006/main" noGrp="1"/>
          </p:cNvSpPr>
          <p:nvPr/>
        </p:nvSpPr>
        <p:spPr>
          <a:xfrm xmlns:a="http://schemas.openxmlformats.org/drawingml/2006/main">
            <a:off x="9112250" y="3054350"/>
            <a:ext cx="206679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GPUs nötig: nur Python und die Standardbibliothek</a:t>
            </a:r>
          </a:p>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106f025224444516"/>
          <a:srcRect xmlns:a="http://schemas.openxmlformats.org/drawingml/2006/main" l="0" t="0" r="0" b="0"/>
          <a:stretch xmlns:a="http://schemas.openxmlformats.org/drawingml/2006/main"/>
        </p:blipFill>
        <p:spPr>
          <a:xfrm xmlns:a="http://schemas.openxmlformats.org/drawingml/2006/main">
            <a:off x="812800" y="4089400"/>
            <a:ext cx="304800" cy="304800"/>
          </a:xfrm>
          <a:prstGeom xmlns:a="http://schemas.openxmlformats.org/drawingml/2006/main" prst="rect">
            <a:avLst/>
          </a:prstGeom>
        </p:spPr>
      </p:pic>
      <p:sp>
        <p:nvSpPr>
          <p:cNvPr id="17" name="Text 14">
            <a:extLst xmlns:a="http://schemas.openxmlformats.org/drawingml/2006/main">
              <a:ext uri="{FF2B5EF4-FFF2-40B4-BE49-F238E27FC236}">
                <a16:creationId xmlns:a16="http://schemas.microsoft.com/office/drawing/2014/main" id="{FD87238B-BFCC-4140-A477-AE369056A968}"/>
              </a:ext>
            </a:extLst>
          </p:cNvPr>
          <p:cNvSpPr>
            <a:spLocks xmlns:a="http://schemas.openxmlformats.org/drawingml/2006/main" noGrp="1"/>
          </p:cNvSpPr>
          <p:nvPr/>
        </p:nvSpPr>
        <p:spPr>
          <a:xfrm xmlns:a="http://schemas.openxmlformats.org/drawingml/2006/main">
            <a:off x="1244600" y="4137025"/>
            <a:ext cx="2973781"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Browser mit 2D- und 3D-Ansicht</a:t>
            </a:r>
          </a:p>
        </p:txBody>
      </p:sp>
      <p:pic>
        <p:nvPicPr>
          <p:cNvPr id="18" name="Image 1"/>
          <p:cNvPicPr>
            <a:picLocks xmlns:a="http://schemas.openxmlformats.org/drawingml/2006/main" noChangeAspect="1"/>
          </p:cNvPicPr>
          <p:nvPr/>
        </p:nvPicPr>
        <p:blipFill>
          <a:blip xmlns:r="http://schemas.openxmlformats.org/officeDocument/2006/relationships" xmlns:a="http://schemas.openxmlformats.org/drawingml/2006/main" r:embed="Rdcd2c88ecf594a0b"/>
          <a:srcRect xmlns:a="http://schemas.openxmlformats.org/drawingml/2006/main" l="0" t="0" r="0" b="0"/>
          <a:stretch xmlns:a="http://schemas.openxmlformats.org/drawingml/2006/main"/>
        </p:blipFill>
        <p:spPr>
          <a:xfrm xmlns:a="http://schemas.openxmlformats.org/drawingml/2006/main">
            <a:off x="4436566" y="4089400"/>
            <a:ext cx="304800" cy="304800"/>
          </a:xfrm>
          <a:prstGeom xmlns:a="http://schemas.openxmlformats.org/drawingml/2006/main" prst="rect">
            <a:avLst/>
          </a:prstGeom>
        </p:spPr>
      </p:pic>
      <p:sp>
        <p:nvSpPr>
          <p:cNvPr id="19" name="Text 15">
            <a:extLst xmlns:a="http://schemas.openxmlformats.org/drawingml/2006/main">
              <a:ext uri="{FF2B5EF4-FFF2-40B4-BE49-F238E27FC236}">
                <a16:creationId xmlns:a16="http://schemas.microsoft.com/office/drawing/2014/main" id="{DBEF04E1-8041-43D0-B4F2-CAFF7026E9ED}"/>
              </a:ext>
            </a:extLst>
          </p:cNvPr>
          <p:cNvSpPr>
            <a:spLocks xmlns:a="http://schemas.openxmlformats.org/drawingml/2006/main" noGrp="1"/>
          </p:cNvSpPr>
          <p:nvPr/>
        </p:nvSpPr>
        <p:spPr>
          <a:xfrm xmlns:a="http://schemas.openxmlformats.org/drawingml/2006/main">
            <a:off x="4868366" y="4137025"/>
            <a:ext cx="2973781"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Recovery Console: selbst Agent spielen</a:t>
            </a:r>
          </a:p>
        </p:txBody>
      </p:sp>
      <p:pic>
        <p:nvPicPr>
          <p:cNvPr id="20" name="Image 2"/>
          <p:cNvPicPr>
            <a:picLocks xmlns:a="http://schemas.openxmlformats.org/drawingml/2006/main" noChangeAspect="1"/>
          </p:cNvPicPr>
          <p:nvPr/>
        </p:nvPicPr>
        <p:blipFill>
          <a:blip xmlns:r="http://schemas.openxmlformats.org/officeDocument/2006/relationships" xmlns:a="http://schemas.openxmlformats.org/drawingml/2006/main" r:embed="R660aecbab09148c9"/>
          <a:srcRect xmlns:a="http://schemas.openxmlformats.org/drawingml/2006/main" l="0" t="0" r="0" b="0"/>
          <a:stretch xmlns:a="http://schemas.openxmlformats.org/drawingml/2006/main"/>
        </p:blipFill>
        <p:spPr>
          <a:xfrm xmlns:a="http://schemas.openxmlformats.org/drawingml/2006/main">
            <a:off x="8060333" y="4089400"/>
            <a:ext cx="304800" cy="304800"/>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BA250098-21BA-4C9B-B90D-91ACD101F101}"/>
              </a:ext>
            </a:extLst>
          </p:cNvPr>
          <p:cNvSpPr>
            <a:spLocks xmlns:a="http://schemas.openxmlformats.org/drawingml/2006/main" noGrp="1"/>
          </p:cNvSpPr>
          <p:nvPr/>
        </p:nvSpPr>
        <p:spPr>
          <a:xfrm xmlns:a="http://schemas.openxmlformats.org/drawingml/2006/main">
            <a:off x="8492133" y="4137025"/>
            <a:ext cx="3464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Batchläufe mit Bericht und Kostenmodell</a:t>
            </a:r>
          </a:p>
        </p:txBody>
      </p:sp>
      <p:sp>
        <p:nvSpPr>
          <p:cNvPr id="22" name="Text 17">
            <a:extLst xmlns:a="http://schemas.openxmlformats.org/drawingml/2006/main">
              <a:ext uri="{FF2B5EF4-FFF2-40B4-BE49-F238E27FC236}">
                <a16:creationId xmlns:a16="http://schemas.microsoft.com/office/drawing/2014/main" id="{3F866F33-E7C6-4BBB-BFEB-1661B9483224}"/>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Autonomy Recovery Lab · Einstieg · Kartendaten © OpenStreetMap-Mitwirkende</a:t>
            </a:r>
          </a:p>
        </p:txBody>
      </p:sp>
      <p:sp>
        <p:nvSpPr>
          <p:cNvPr id="23" name="Text 18">
            <a:extLst xmlns:a="http://schemas.openxmlformats.org/drawingml/2006/main">
              <a:ext uri="{FF2B5EF4-FFF2-40B4-BE49-F238E27FC236}">
                <a16:creationId xmlns:a16="http://schemas.microsoft.com/office/drawing/2014/main" id="{650CACE1-3EC0-482B-AD66-60A3021ACFED}"/>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6B7680"/>
                </a:solidFill>
                <a:latin typeface="IBM Plex Sans"/>
                <a:ea typeface="IBM Plex Sans"/>
                <a:cs typeface="IBM Plex Sans"/>
              </a:rPr>
              <a:t>9</a:t>
            </a:r>
          </a:p>
        </p:txBody>
      </p:sp>
    </p:spTree>
    <p:extLst>
      <p:ext uri="{BB962C8B-B14F-4D97-AF65-F5344CB8AC3E}">
        <p14:creationId xmlns:p14="http://schemas.microsoft.com/office/powerpoint/2010/main" val="2095219310"/>
      </p:ext>
    </p:extLst>
  </p:cSld>
</p:sld>
</file>

<file path=ppt/slides/slide10.xml><?xml version="1.0" encoding="utf-8"?>
<p:sld xmlns:p="http://schemas.openxmlformats.org/presentationml/2006/main">
  <p:cSld>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0A05006-C552-4B6F-90E3-2A12E3B1C752}"/>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F2994A"/>
                </a:solidFill>
                <a:latin typeface="IBM Plex Sans"/>
                <a:ea typeface="IBM Plex Sans"/>
                <a:cs typeface="IBM Plex Sans"/>
              </a:rPr>
              <a:t>DER LERNWEG</a:t>
            </a:r>
          </a:p>
        </p:txBody>
      </p:sp>
      <p:sp>
        <p:nvSpPr>
          <p:cNvPr id="3" name="Text 1">
            <a:extLst xmlns:a="http://schemas.openxmlformats.org/drawingml/2006/main">
              <a:ext uri="{FF2B5EF4-FFF2-40B4-BE49-F238E27FC236}">
                <a16:creationId xmlns:a16="http://schemas.microsoft.com/office/drawing/2014/main" id="{2F2B7643-AC14-4610-8555-3C287F8F0E13}"/>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F4F5F1"/>
                </a:solidFill>
                <a:latin typeface="Space Grotesk"/>
                <a:ea typeface="Space Grotesk"/>
                <a:cs typeface="Space Grotesk"/>
              </a:rPr>
              <a:t>Ein Agent, der mit jeder Lektion wächst</a:t>
            </a:r>
          </a:p>
        </p:txBody>
      </p:sp>
      <p:sp>
        <p:nvSpPr>
          <p:cNvPr id="4" name="Shape 2">
            <a:extLst xmlns:a="http://schemas.openxmlformats.org/drawingml/2006/main">
              <a:ext uri="{FF2B5EF4-FFF2-40B4-BE49-F238E27FC236}">
                <a16:creationId xmlns:a16="http://schemas.microsoft.com/office/drawing/2014/main" id="{A86EC349-7410-494C-95F5-272C991DAAF8}"/>
              </a:ext>
            </a:extLst>
          </p:cNvPr>
          <p:cNvSpPr>
            <a:spLocks xmlns:a="http://schemas.openxmlformats.org/drawingml/2006/main" noGrp="1"/>
          </p:cNvSpPr>
          <p:nvPr/>
        </p:nvSpPr>
        <p:spPr>
          <a:xfrm xmlns:a="http://schemas.openxmlformats.org/drawingml/2006/main">
            <a:off x="815975" y="1933575"/>
            <a:ext cx="2005310" cy="1892300"/>
          </a:xfrm>
          <a:prstGeom xmlns:a="http://schemas.openxmlformats.org/drawingml/2006/main" prst="roundRect">
            <a:avLst>
              <a:gd name="adj" fmla="val 5201"/>
            </a:avLst>
          </a:prstGeom>
          <a:solidFill xmlns:a="http://schemas.openxmlformats.org/drawingml/2006/main">
            <a:srgbClr val="1C2833"/>
          </a:solidFill>
          <a:ln xmlns:a="http://schemas.openxmlformats.org/drawingml/2006/main" w="6350">
            <a:solidFill>
              <a:srgbClr val="2C3A47"/>
            </a:solidFill>
            <a:prstDash val="solid"/>
          </a:ln>
        </p:spPr>
      </p:sp>
      <p:sp>
        <p:nvSpPr>
          <p:cNvPr id="5" name="Text 3">
            <a:extLst xmlns:a="http://schemas.openxmlformats.org/drawingml/2006/main">
              <a:ext uri="{FF2B5EF4-FFF2-40B4-BE49-F238E27FC236}">
                <a16:creationId xmlns:a16="http://schemas.microsoft.com/office/drawing/2014/main" id="{D8445B01-DC2F-42C4-89E2-4AB7CB77B0C2}"/>
              </a:ext>
            </a:extLst>
          </p:cNvPr>
          <p:cNvSpPr>
            <a:spLocks xmlns:a="http://schemas.openxmlformats.org/drawingml/2006/main" noGrp="1"/>
          </p:cNvSpPr>
          <p:nvPr/>
        </p:nvSpPr>
        <p:spPr>
          <a:xfrm xmlns:a="http://schemas.openxmlformats.org/drawingml/2006/main">
            <a:off x="996950" y="2114550"/>
            <a:ext cx="169416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F2994A"/>
                </a:solidFill>
                <a:latin typeface="IBM Plex Sans"/>
                <a:ea typeface="IBM Plex Sans"/>
                <a:cs typeface="IBM Plex Sans"/>
              </a:rPr>
              <a:t>EINSTIEG</a:t>
            </a:r>
          </a:p>
        </p:txBody>
      </p:sp>
      <p:sp>
        <p:nvSpPr>
          <p:cNvPr id="6" name="Text 4">
            <a:extLst xmlns:a="http://schemas.openxmlformats.org/drawingml/2006/main">
              <a:ext uri="{FF2B5EF4-FFF2-40B4-BE49-F238E27FC236}">
                <a16:creationId xmlns:a16="http://schemas.microsoft.com/office/drawing/2014/main" id="{6BAE89C0-28E4-4953-9C82-9E75EED02097}"/>
              </a:ext>
            </a:extLst>
          </p:cNvPr>
          <p:cNvSpPr>
            <a:spLocks xmlns:a="http://schemas.openxmlformats.org/drawingml/2006/main" noGrp="1"/>
          </p:cNvSpPr>
          <p:nvPr/>
        </p:nvSpPr>
        <p:spPr>
          <a:xfrm xmlns:a="http://schemas.openxmlformats.org/drawingml/2006/main">
            <a:off x="996950" y="24257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0</a:t>
            </a:r>
            <a:r>
              <a:rPr sz="1200">
                <a:solidFill>
                  <a:srgbClr val="DCE3E8"/>
                </a:solidFill>
                <a:latin typeface="IBM Plex Sans"/>
                <a:ea typeface="IBM Plex Sans"/>
                <a:cs typeface="IBM Plex Sans"/>
              </a:rPr>
              <a:t> Grundlagen</a:t>
            </a:r>
          </a:p>
        </p:txBody>
      </p:sp>
      <p:sp>
        <p:nvSpPr>
          <p:cNvPr id="7" name="Text 5">
            <a:extLst xmlns:a="http://schemas.openxmlformats.org/drawingml/2006/main">
              <a:ext uri="{FF2B5EF4-FFF2-40B4-BE49-F238E27FC236}">
                <a16:creationId xmlns:a16="http://schemas.microsoft.com/office/drawing/2014/main" id="{99F54078-437D-41B8-8337-ADFE919CC755}"/>
              </a:ext>
            </a:extLst>
          </p:cNvPr>
          <p:cNvSpPr>
            <a:spLocks xmlns:a="http://schemas.openxmlformats.org/drawingml/2006/main" noGrp="1"/>
          </p:cNvSpPr>
          <p:nvPr/>
        </p:nvSpPr>
        <p:spPr>
          <a:xfrm xmlns:a="http://schemas.openxmlformats.org/drawingml/2006/main">
            <a:off x="996950" y="27305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1</a:t>
            </a:r>
            <a:r>
              <a:rPr sz="1200">
                <a:solidFill>
                  <a:srgbClr val="DCE3E8"/>
                </a:solidFill>
                <a:latin typeface="IBM Plex Sans"/>
                <a:ea typeface="IBM Plex Sans"/>
                <a:cs typeface="IBM Plex Sans"/>
              </a:rPr>
              <a:t> Agent spielen</a:t>
            </a:r>
          </a:p>
        </p:txBody>
      </p:sp>
      <p:sp>
        <p:nvSpPr>
          <p:cNvPr id="8" name="Shape 6">
            <a:extLst xmlns:a="http://schemas.openxmlformats.org/drawingml/2006/main">
              <a:ext uri="{FF2B5EF4-FFF2-40B4-BE49-F238E27FC236}">
                <a16:creationId xmlns:a16="http://schemas.microsoft.com/office/drawing/2014/main" id="{FB03DDF4-957D-4AEB-AB3F-3FDB46638382}"/>
              </a:ext>
            </a:extLst>
          </p:cNvPr>
          <p:cNvSpPr>
            <a:spLocks xmlns:a="http://schemas.openxmlformats.org/drawingml/2006/main" noGrp="1"/>
          </p:cNvSpPr>
          <p:nvPr/>
        </p:nvSpPr>
        <p:spPr>
          <a:xfrm xmlns:a="http://schemas.openxmlformats.org/drawingml/2006/main">
            <a:off x="2954635" y="1933575"/>
            <a:ext cx="2005310" cy="1892300"/>
          </a:xfrm>
          <a:prstGeom xmlns:a="http://schemas.openxmlformats.org/drawingml/2006/main" prst="roundRect">
            <a:avLst>
              <a:gd name="adj" fmla="val 5201"/>
            </a:avLst>
          </a:prstGeom>
          <a:solidFill xmlns:a="http://schemas.openxmlformats.org/drawingml/2006/main">
            <a:srgbClr val="1C2833"/>
          </a:solidFill>
          <a:ln xmlns:a="http://schemas.openxmlformats.org/drawingml/2006/main" w="6350">
            <a:solidFill>
              <a:srgbClr val="2C3A47"/>
            </a:solidFill>
            <a:prstDash val="solid"/>
          </a:ln>
        </p:spPr>
      </p:sp>
      <p:sp>
        <p:nvSpPr>
          <p:cNvPr id="9" name="Text 7">
            <a:extLst xmlns:a="http://schemas.openxmlformats.org/drawingml/2006/main">
              <a:ext uri="{FF2B5EF4-FFF2-40B4-BE49-F238E27FC236}">
                <a16:creationId xmlns:a16="http://schemas.microsoft.com/office/drawing/2014/main" id="{40F07AF6-2EDE-412E-B34E-5BF05D6419A1}"/>
              </a:ext>
            </a:extLst>
          </p:cNvPr>
          <p:cNvSpPr>
            <a:spLocks xmlns:a="http://schemas.openxmlformats.org/drawingml/2006/main" noGrp="1"/>
          </p:cNvSpPr>
          <p:nvPr/>
        </p:nvSpPr>
        <p:spPr>
          <a:xfrm xmlns:a="http://schemas.openxmlformats.org/drawingml/2006/main">
            <a:off x="3135610" y="2114550"/>
            <a:ext cx="169416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F2994A"/>
                </a:solidFill>
                <a:latin typeface="IBM Plex Sans"/>
                <a:ea typeface="IBM Plex Sans"/>
                <a:cs typeface="IBM Plex Sans"/>
              </a:rPr>
              <a:t>REGELN</a:t>
            </a:r>
          </a:p>
        </p:txBody>
      </p:sp>
      <p:sp>
        <p:nvSpPr>
          <p:cNvPr id="10" name="Text 8">
            <a:extLst xmlns:a="http://schemas.openxmlformats.org/drawingml/2006/main">
              <a:ext uri="{FF2B5EF4-FFF2-40B4-BE49-F238E27FC236}">
                <a16:creationId xmlns:a16="http://schemas.microsoft.com/office/drawing/2014/main" id="{FA1760BE-12D2-4C4C-84E3-AA1FE5AD2E4A}"/>
              </a:ext>
            </a:extLst>
          </p:cNvPr>
          <p:cNvSpPr>
            <a:spLocks xmlns:a="http://schemas.openxmlformats.org/drawingml/2006/main" noGrp="1"/>
          </p:cNvSpPr>
          <p:nvPr/>
        </p:nvSpPr>
        <p:spPr>
          <a:xfrm xmlns:a="http://schemas.openxmlformats.org/drawingml/2006/main">
            <a:off x="3135610" y="24257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L1</a:t>
            </a:r>
            <a:r>
              <a:rPr sz="1200">
                <a:solidFill>
                  <a:srgbClr val="DCE3E8"/>
                </a:solidFill>
                <a:latin typeface="IBM Plex Sans"/>
                <a:ea typeface="IBM Plex Sans"/>
                <a:cs typeface="IBM Plex Sans"/>
              </a:rPr>
              <a:t> Einfachster Agent</a:t>
            </a:r>
          </a:p>
        </p:txBody>
      </p:sp>
      <p:sp>
        <p:nvSpPr>
          <p:cNvPr id="11" name="Text 9">
            <a:extLst xmlns:a="http://schemas.openxmlformats.org/drawingml/2006/main">
              <a:ext uri="{FF2B5EF4-FFF2-40B4-BE49-F238E27FC236}">
                <a16:creationId xmlns:a16="http://schemas.microsoft.com/office/drawing/2014/main" id="{C822EFC8-711B-4D72-996E-79365C9C04B8}"/>
              </a:ext>
            </a:extLst>
          </p:cNvPr>
          <p:cNvSpPr>
            <a:spLocks xmlns:a="http://schemas.openxmlformats.org/drawingml/2006/main" noGrp="1"/>
          </p:cNvSpPr>
          <p:nvPr/>
        </p:nvSpPr>
        <p:spPr>
          <a:xfrm xmlns:a="http://schemas.openxmlformats.org/drawingml/2006/main">
            <a:off x="3135610" y="27305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L2</a:t>
            </a:r>
            <a:r>
              <a:rPr sz="1200">
                <a:solidFill>
                  <a:srgbClr val="DCE3E8"/>
                </a:solidFill>
                <a:latin typeface="IBM Plex Sans"/>
                <a:ea typeface="IBM Plex Sans"/>
                <a:cs typeface="IBM Plex Sans"/>
              </a:rPr>
              <a:t> Regelagent</a:t>
            </a:r>
          </a:p>
        </p:txBody>
      </p:sp>
      <p:sp>
        <p:nvSpPr>
          <p:cNvPr id="12" name="Text 10">
            <a:extLst xmlns:a="http://schemas.openxmlformats.org/drawingml/2006/main">
              <a:ext uri="{FF2B5EF4-FFF2-40B4-BE49-F238E27FC236}">
                <a16:creationId xmlns:a16="http://schemas.microsoft.com/office/drawing/2014/main" id="{B37DAB27-2A9A-45A7-BCEF-B3C9E837D8B6}"/>
              </a:ext>
            </a:extLst>
          </p:cNvPr>
          <p:cNvSpPr>
            <a:spLocks xmlns:a="http://schemas.openxmlformats.org/drawingml/2006/main" noGrp="1"/>
          </p:cNvSpPr>
          <p:nvPr/>
        </p:nvSpPr>
        <p:spPr>
          <a:xfrm xmlns:a="http://schemas.openxmlformats.org/drawingml/2006/main">
            <a:off x="3135610" y="30353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L3</a:t>
            </a:r>
            <a:r>
              <a:rPr sz="1200">
                <a:solidFill>
                  <a:srgbClr val="DCE3E8"/>
                </a:solidFill>
                <a:latin typeface="IBM Plex Sans"/>
                <a:ea typeface="IBM Plex Sans"/>
                <a:cs typeface="IBM Plex Sans"/>
              </a:rPr>
              <a:t> Gedächtnis</a:t>
            </a:r>
          </a:p>
        </p:txBody>
      </p:sp>
      <p:sp>
        <p:nvSpPr>
          <p:cNvPr id="13" name="Text 11">
            <a:extLst xmlns:a="http://schemas.openxmlformats.org/drawingml/2006/main">
              <a:ext uri="{FF2B5EF4-FFF2-40B4-BE49-F238E27FC236}">
                <a16:creationId xmlns:a16="http://schemas.microsoft.com/office/drawing/2014/main" id="{82926F45-4798-43D5-B40D-71682FC06878}"/>
              </a:ext>
            </a:extLst>
          </p:cNvPr>
          <p:cNvSpPr>
            <a:spLocks xmlns:a="http://schemas.openxmlformats.org/drawingml/2006/main" noGrp="1"/>
          </p:cNvSpPr>
          <p:nvPr/>
        </p:nvSpPr>
        <p:spPr>
          <a:xfrm xmlns:a="http://schemas.openxmlformats.org/drawingml/2006/main">
            <a:off x="3135610" y="33401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a:t>
            </a:r>
            <a:r>
              <a:rPr sz="1200">
                <a:solidFill>
                  <a:srgbClr val="DCE3E8"/>
                </a:solidFill>
                <a:latin typeface="IBM Plex Sans"/>
                <a:ea typeface="IBM Plex Sans"/>
                <a:cs typeface="IBM Plex Sans"/>
              </a:rPr>
              <a:t> Forschungsplan</a:t>
            </a:r>
          </a:p>
        </p:txBody>
      </p:sp>
      <p:sp>
        <p:nvSpPr>
          <p:cNvPr id="14" name="Shape 12">
            <a:extLst xmlns:a="http://schemas.openxmlformats.org/drawingml/2006/main">
              <a:ext uri="{FF2B5EF4-FFF2-40B4-BE49-F238E27FC236}">
                <a16:creationId xmlns:a16="http://schemas.microsoft.com/office/drawing/2014/main" id="{E0F4F9CC-2D0F-4946-AFB1-EB055AFB8B29}"/>
              </a:ext>
            </a:extLst>
          </p:cNvPr>
          <p:cNvSpPr>
            <a:spLocks xmlns:a="http://schemas.openxmlformats.org/drawingml/2006/main" noGrp="1"/>
          </p:cNvSpPr>
          <p:nvPr/>
        </p:nvSpPr>
        <p:spPr>
          <a:xfrm xmlns:a="http://schemas.openxmlformats.org/drawingml/2006/main">
            <a:off x="5093295" y="1933575"/>
            <a:ext cx="2005310" cy="1892300"/>
          </a:xfrm>
          <a:prstGeom xmlns:a="http://schemas.openxmlformats.org/drawingml/2006/main" prst="roundRect">
            <a:avLst>
              <a:gd name="adj" fmla="val 5201"/>
            </a:avLst>
          </a:prstGeom>
          <a:solidFill xmlns:a="http://schemas.openxmlformats.org/drawingml/2006/main">
            <a:srgbClr val="1C2833"/>
          </a:solidFill>
          <a:ln xmlns:a="http://schemas.openxmlformats.org/drawingml/2006/main" w="6350">
            <a:solidFill>
              <a:srgbClr val="2C3A47"/>
            </a:solidFill>
            <a:prstDash val="solid"/>
          </a:ln>
        </p:spPr>
      </p:sp>
      <p:sp>
        <p:nvSpPr>
          <p:cNvPr id="15" name="Text 13">
            <a:extLst xmlns:a="http://schemas.openxmlformats.org/drawingml/2006/main">
              <a:ext uri="{FF2B5EF4-FFF2-40B4-BE49-F238E27FC236}">
                <a16:creationId xmlns:a16="http://schemas.microsoft.com/office/drawing/2014/main" id="{9ACA9B55-9150-424A-B800-D8EF7EC0EA9C}"/>
              </a:ext>
            </a:extLst>
          </p:cNvPr>
          <p:cNvSpPr>
            <a:spLocks xmlns:a="http://schemas.openxmlformats.org/drawingml/2006/main" noGrp="1"/>
          </p:cNvSpPr>
          <p:nvPr/>
        </p:nvSpPr>
        <p:spPr>
          <a:xfrm xmlns:a="http://schemas.openxmlformats.org/drawingml/2006/main">
            <a:off x="5274270" y="2114550"/>
            <a:ext cx="169416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F2994A"/>
                </a:solidFill>
                <a:latin typeface="IBM Plex Sans"/>
                <a:ea typeface="IBM Plex Sans"/>
                <a:cs typeface="IBM Plex Sans"/>
              </a:rPr>
              <a:t>MODELL</a:t>
            </a:r>
          </a:p>
        </p:txBody>
      </p:sp>
      <p:sp>
        <p:nvSpPr>
          <p:cNvPr id="16" name="Text 14">
            <a:extLst xmlns:a="http://schemas.openxmlformats.org/drawingml/2006/main">
              <a:ext uri="{FF2B5EF4-FFF2-40B4-BE49-F238E27FC236}">
                <a16:creationId xmlns:a16="http://schemas.microsoft.com/office/drawing/2014/main" id="{565EB35F-DA6B-4E45-B358-09F890B041D9}"/>
              </a:ext>
            </a:extLst>
          </p:cNvPr>
          <p:cNvSpPr>
            <a:spLocks xmlns:a="http://schemas.openxmlformats.org/drawingml/2006/main" noGrp="1"/>
          </p:cNvSpPr>
          <p:nvPr/>
        </p:nvSpPr>
        <p:spPr>
          <a:xfrm xmlns:a="http://schemas.openxmlformats.org/drawingml/2006/main">
            <a:off x="5274270" y="24257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L4</a:t>
            </a:r>
            <a:r>
              <a:rPr sz="1200">
                <a:solidFill>
                  <a:srgbClr val="DCE3E8"/>
                </a:solidFill>
                <a:latin typeface="IBM Plex Sans"/>
                <a:ea typeface="IBM Plex Sans"/>
                <a:cs typeface="IBM Plex Sans"/>
              </a:rPr>
              <a:t> Selbst wahrnehmen</a:t>
            </a:r>
          </a:p>
        </p:txBody>
      </p:sp>
      <p:sp>
        <p:nvSpPr>
          <p:cNvPr id="17" name="Text 15">
            <a:extLst xmlns:a="http://schemas.openxmlformats.org/drawingml/2006/main">
              <a:ext uri="{FF2B5EF4-FFF2-40B4-BE49-F238E27FC236}">
                <a16:creationId xmlns:a16="http://schemas.microsoft.com/office/drawing/2014/main" id="{6468C4C1-B57B-4B97-8548-922827EB449B}"/>
              </a:ext>
            </a:extLst>
          </p:cNvPr>
          <p:cNvSpPr>
            <a:spLocks xmlns:a="http://schemas.openxmlformats.org/drawingml/2006/main" noGrp="1"/>
          </p:cNvSpPr>
          <p:nvPr/>
        </p:nvSpPr>
        <p:spPr>
          <a:xfrm xmlns:a="http://schemas.openxmlformats.org/drawingml/2006/main">
            <a:off x="5274270" y="2730500"/>
            <a:ext cx="1694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L5</a:t>
            </a:r>
            <a:r>
              <a:rPr sz="1200">
                <a:solidFill>
                  <a:srgbClr val="DCE3E8"/>
                </a:solidFill>
                <a:latin typeface="IBM Plex Sans"/>
                <a:ea typeface="IBM Plex Sans"/>
                <a:cs typeface="IBM Plex Sans"/>
              </a:rPr>
              <a:t> LLM-Agent</a:t>
            </a:r>
          </a:p>
        </p:txBody>
      </p:sp>
      <p:sp>
        <p:nvSpPr>
          <p:cNvPr id="18" name="Shape 16">
            <a:extLst xmlns:a="http://schemas.openxmlformats.org/drawingml/2006/main">
              <a:ext uri="{FF2B5EF4-FFF2-40B4-BE49-F238E27FC236}">
                <a16:creationId xmlns:a16="http://schemas.microsoft.com/office/drawing/2014/main" id="{5158342D-1038-4ED7-A5CF-1B26EBE1C890}"/>
              </a:ext>
            </a:extLst>
          </p:cNvPr>
          <p:cNvSpPr>
            <a:spLocks xmlns:a="http://schemas.openxmlformats.org/drawingml/2006/main" noGrp="1"/>
          </p:cNvSpPr>
          <p:nvPr/>
        </p:nvSpPr>
        <p:spPr>
          <a:xfrm xmlns:a="http://schemas.openxmlformats.org/drawingml/2006/main">
            <a:off x="7231955" y="1933575"/>
            <a:ext cx="2005310" cy="1892300"/>
          </a:xfrm>
          <a:prstGeom xmlns:a="http://schemas.openxmlformats.org/drawingml/2006/main" prst="roundRect">
            <a:avLst>
              <a:gd name="adj" fmla="val 5201"/>
            </a:avLst>
          </a:prstGeom>
          <a:solidFill xmlns:a="http://schemas.openxmlformats.org/drawingml/2006/main">
            <a:srgbClr val="1C2833"/>
          </a:solidFill>
          <a:ln xmlns:a="http://schemas.openxmlformats.org/drawingml/2006/main" w="6350">
            <a:solidFill>
              <a:srgbClr val="2C3A47"/>
            </a:solidFill>
            <a:prstDash val="solid"/>
          </a:ln>
        </p:spPr>
      </p:sp>
      <p:sp>
        <p:nvSpPr>
          <p:cNvPr id="19" name="Text 17">
            <a:extLst xmlns:a="http://schemas.openxmlformats.org/drawingml/2006/main">
              <a:ext uri="{FF2B5EF4-FFF2-40B4-BE49-F238E27FC236}">
                <a16:creationId xmlns:a16="http://schemas.microsoft.com/office/drawing/2014/main" id="{E3F4CE8B-F114-419B-BB54-C8403C7598C6}"/>
              </a:ext>
            </a:extLst>
          </p:cNvPr>
          <p:cNvSpPr>
            <a:spLocks xmlns:a="http://schemas.openxmlformats.org/drawingml/2006/main" noGrp="1"/>
          </p:cNvSpPr>
          <p:nvPr/>
        </p:nvSpPr>
        <p:spPr>
          <a:xfrm xmlns:a="http://schemas.openxmlformats.org/drawingml/2006/main">
            <a:off x="7412930" y="2114550"/>
            <a:ext cx="169416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F2994A"/>
                </a:solidFill>
                <a:latin typeface="IBM Plex Sans"/>
                <a:ea typeface="IBM Plex Sans"/>
                <a:cs typeface="IBM Plex Sans"/>
              </a:rPr>
              <a:t>SCHWERE FÄLLE</a:t>
            </a:r>
          </a:p>
        </p:txBody>
      </p:sp>
      <p:sp>
        <p:nvSpPr>
          <p:cNvPr id="20" name="Text 18">
            <a:extLst xmlns:a="http://schemas.openxmlformats.org/drawingml/2006/main">
              <a:ext uri="{FF2B5EF4-FFF2-40B4-BE49-F238E27FC236}">
                <a16:creationId xmlns:a16="http://schemas.microsoft.com/office/drawing/2014/main" id="{467CDB71-EE52-4043-94D6-F9E5BC910403}"/>
              </a:ext>
            </a:extLst>
          </p:cNvPr>
          <p:cNvSpPr>
            <a:spLocks xmlns:a="http://schemas.openxmlformats.org/drawingml/2006/main" noGrp="1"/>
          </p:cNvSpPr>
          <p:nvPr/>
        </p:nvSpPr>
        <p:spPr>
          <a:xfrm xmlns:a="http://schemas.openxmlformats.org/drawingml/2006/main">
            <a:off x="7412930" y="2425700"/>
            <a:ext cx="1694160" cy="431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L6</a:t>
            </a:r>
            <a:r>
              <a:rPr sz="1200">
                <a:solidFill>
                  <a:srgbClr val="DCE3E8"/>
                </a:solidFill>
                <a:latin typeface="IBM Plex Sans"/>
                <a:ea typeface="IBM Plex Sans"/>
                <a:cs typeface="IBM Plex Sans"/>
              </a:rPr>
              <a:t> Alpamayo misstrauen</a:t>
            </a:r>
          </a:p>
        </p:txBody>
      </p:sp>
      <p:sp>
        <p:nvSpPr>
          <p:cNvPr id="21" name="Text 19">
            <a:extLst xmlns:a="http://schemas.openxmlformats.org/drawingml/2006/main">
              <a:ext uri="{FF2B5EF4-FFF2-40B4-BE49-F238E27FC236}">
                <a16:creationId xmlns:a16="http://schemas.microsoft.com/office/drawing/2014/main" id="{1E79304A-FCD7-476A-9CA5-9A3410E49969}"/>
              </a:ext>
            </a:extLst>
          </p:cNvPr>
          <p:cNvSpPr>
            <a:spLocks xmlns:a="http://schemas.openxmlformats.org/drawingml/2006/main" noGrp="1"/>
          </p:cNvSpPr>
          <p:nvPr/>
        </p:nvSpPr>
        <p:spPr>
          <a:xfrm xmlns:a="http://schemas.openxmlformats.org/drawingml/2006/main">
            <a:off x="7412930" y="2933700"/>
            <a:ext cx="1821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L7</a:t>
            </a:r>
            <a:r>
              <a:rPr sz="1200">
                <a:solidFill>
                  <a:srgbClr val="DCE3E8"/>
                </a:solidFill>
                <a:latin typeface="IBM Plex Sans"/>
                <a:ea typeface="IBM Plex Sans"/>
                <a:cs typeface="IBM Plex Sans"/>
              </a:rPr>
              <a:t> Phasen und Dynamik</a:t>
            </a:r>
          </a:p>
        </p:txBody>
      </p:sp>
      <p:sp>
        <p:nvSpPr>
          <p:cNvPr id="22" name="Text 20">
            <a:extLst xmlns:a="http://schemas.openxmlformats.org/drawingml/2006/main">
              <a:ext uri="{FF2B5EF4-FFF2-40B4-BE49-F238E27FC236}">
                <a16:creationId xmlns:a16="http://schemas.microsoft.com/office/drawing/2014/main" id="{B7AEE97E-DCE8-422C-95DA-CDFD9C02AE0B}"/>
              </a:ext>
            </a:extLst>
          </p:cNvPr>
          <p:cNvSpPr>
            <a:spLocks xmlns:a="http://schemas.openxmlformats.org/drawingml/2006/main" noGrp="1"/>
          </p:cNvSpPr>
          <p:nvPr/>
        </p:nvSpPr>
        <p:spPr>
          <a:xfrm xmlns:a="http://schemas.openxmlformats.org/drawingml/2006/main">
            <a:off x="7412930" y="3238500"/>
            <a:ext cx="1694160" cy="431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L8</a:t>
            </a:r>
            <a:r>
              <a:rPr sz="1200">
                <a:solidFill>
                  <a:srgbClr val="DCE3E8"/>
                </a:solidFill>
                <a:latin typeface="IBM Plex Sans"/>
                <a:ea typeface="IBM Plex Sans"/>
                <a:cs typeface="IBM Plex Sans"/>
              </a:rPr>
              <a:t> Unfälle und Schutzregeln</a:t>
            </a:r>
          </a:p>
        </p:txBody>
      </p:sp>
      <p:sp>
        <p:nvSpPr>
          <p:cNvPr id="23" name="Shape 21">
            <a:extLst xmlns:a="http://schemas.openxmlformats.org/drawingml/2006/main">
              <a:ext uri="{FF2B5EF4-FFF2-40B4-BE49-F238E27FC236}">
                <a16:creationId xmlns:a16="http://schemas.microsoft.com/office/drawing/2014/main" id="{3A41C6BC-B219-49D5-9C53-E024DCF48DA4}"/>
              </a:ext>
            </a:extLst>
          </p:cNvPr>
          <p:cNvSpPr>
            <a:spLocks xmlns:a="http://schemas.openxmlformats.org/drawingml/2006/main" noGrp="1"/>
          </p:cNvSpPr>
          <p:nvPr/>
        </p:nvSpPr>
        <p:spPr>
          <a:xfrm xmlns:a="http://schemas.openxmlformats.org/drawingml/2006/main">
            <a:off x="9370616" y="1933575"/>
            <a:ext cx="2005310" cy="1892300"/>
          </a:xfrm>
          <a:prstGeom xmlns:a="http://schemas.openxmlformats.org/drawingml/2006/main" prst="roundRect">
            <a:avLst>
              <a:gd name="adj" fmla="val 5201"/>
            </a:avLst>
          </a:prstGeom>
          <a:solidFill xmlns:a="http://schemas.openxmlformats.org/drawingml/2006/main">
            <a:srgbClr val="1C2833"/>
          </a:solidFill>
          <a:ln xmlns:a="http://schemas.openxmlformats.org/drawingml/2006/main" w="6350">
            <a:solidFill>
              <a:srgbClr val="2C3A47"/>
            </a:solidFill>
            <a:prstDash val="solid"/>
          </a:ln>
        </p:spPr>
      </p:sp>
      <p:sp>
        <p:nvSpPr>
          <p:cNvPr id="24" name="Text 22">
            <a:extLst xmlns:a="http://schemas.openxmlformats.org/drawingml/2006/main">
              <a:ext uri="{FF2B5EF4-FFF2-40B4-BE49-F238E27FC236}">
                <a16:creationId xmlns:a16="http://schemas.microsoft.com/office/drawing/2014/main" id="{D438EB44-256E-4234-95BC-70C2D8DBE8C5}"/>
              </a:ext>
            </a:extLst>
          </p:cNvPr>
          <p:cNvSpPr>
            <a:spLocks xmlns:a="http://schemas.openxmlformats.org/drawingml/2006/main" noGrp="1"/>
          </p:cNvSpPr>
          <p:nvPr/>
        </p:nvSpPr>
        <p:spPr>
          <a:xfrm xmlns:a="http://schemas.openxmlformats.org/drawingml/2006/main">
            <a:off x="9551591" y="2114550"/>
            <a:ext cx="169416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F2994A"/>
                </a:solidFill>
                <a:latin typeface="IBM Plex Sans"/>
                <a:ea typeface="IBM Plex Sans"/>
                <a:cs typeface="IBM Plex Sans"/>
              </a:rPr>
              <a:t>ABSCHLUSS</a:t>
            </a:r>
          </a:p>
        </p:txBody>
      </p:sp>
      <p:sp>
        <p:nvSpPr>
          <p:cNvPr id="25" name="Text 23">
            <a:extLst xmlns:a="http://schemas.openxmlformats.org/drawingml/2006/main">
              <a:ext uri="{FF2B5EF4-FFF2-40B4-BE49-F238E27FC236}">
                <a16:creationId xmlns:a16="http://schemas.microsoft.com/office/drawing/2014/main" id="{6A6B6407-D95B-44F3-B664-30D71E222627}"/>
              </a:ext>
            </a:extLst>
          </p:cNvPr>
          <p:cNvSpPr>
            <a:spLocks xmlns:a="http://schemas.openxmlformats.org/drawingml/2006/main" noGrp="1"/>
          </p:cNvSpPr>
          <p:nvPr/>
        </p:nvSpPr>
        <p:spPr>
          <a:xfrm xmlns:a="http://schemas.openxmlformats.org/drawingml/2006/main">
            <a:off x="9551591" y="2425700"/>
            <a:ext cx="1821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7FB2E5"/>
                </a:solidFill>
                <a:latin typeface="IBM Plex Sans"/>
                <a:ea typeface="IBM Plex Sans"/>
                <a:cs typeface="IBM Plex Sans"/>
              </a:rPr>
              <a:t>6</a:t>
            </a:r>
            <a:r>
              <a:rPr sz="1200">
                <a:solidFill>
                  <a:srgbClr val="DCE3E8"/>
                </a:solidFill>
                <a:latin typeface="IBM Plex Sans"/>
                <a:ea typeface="IBM Plex Sans"/>
                <a:cs typeface="IBM Plex Sans"/>
              </a:rPr>
              <a:t> Messen und berichten</a:t>
            </a:r>
          </a:p>
        </p:txBody>
      </p:sp>
      <p:sp>
        <p:nvSpPr>
          <p:cNvPr id="26" name="Text 24">
            <a:extLst xmlns:a="http://schemas.openxmlformats.org/drawingml/2006/main">
              <a:ext uri="{FF2B5EF4-FFF2-40B4-BE49-F238E27FC236}">
                <a16:creationId xmlns:a16="http://schemas.microsoft.com/office/drawing/2014/main" id="{1E4B1644-2C95-4506-A2D8-00E62A5A9176}"/>
              </a:ext>
            </a:extLst>
          </p:cNvPr>
          <p:cNvSpPr>
            <a:spLocks xmlns:a="http://schemas.openxmlformats.org/drawingml/2006/main" noGrp="1"/>
          </p:cNvSpPr>
          <p:nvPr/>
        </p:nvSpPr>
        <p:spPr>
          <a:xfrm xmlns:a="http://schemas.openxmlformats.org/drawingml/2006/main">
            <a:off x="812800" y="4133850"/>
            <a:ext cx="11379200"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a:solidFill>
                  <a:srgbClr val="B9C4CC"/>
                </a:solidFill>
                <a:latin typeface="IBM Plex Sans"/>
                <a:ea typeface="IBM Plex Sans"/>
                <a:cs typeface="IBM Plex Sans"/>
              </a:rPr>
              <a:t>Jede Lektion bringt einen </a:t>
            </a:r>
            <a:r>
              <a:rPr sz="1600">
                <a:solidFill>
                  <a:srgbClr val="F4F5F1"/>
                </a:solidFill>
                <a:latin typeface="IBM Plex Sans"/>
                <a:ea typeface="IBM Plex Sans"/>
                <a:cs typeface="IBM Plex Sans"/>
              </a:rPr>
              <a:t>Startstand</a:t>
            </a:r>
            <a:r>
              <a:rPr sz="1600">
                <a:solidFill>
                  <a:srgbClr val="B9C4CC"/>
                </a:solidFill>
                <a:latin typeface="IBM Plex Sans"/>
                <a:ea typeface="IBM Plex Sans"/>
                <a:cs typeface="IBM Plex Sans"/>
              </a:rPr>
              <a:t>, einen </a:t>
            </a:r>
            <a:r>
              <a:rPr sz="1600">
                <a:solidFill>
                  <a:srgbClr val="F4F5F1"/>
                </a:solidFill>
                <a:latin typeface="IBM Plex Sans"/>
                <a:ea typeface="IBM Plex Sans"/>
                <a:cs typeface="IBM Plex Sans"/>
              </a:rPr>
              <a:t>Richtwert</a:t>
            </a:r>
            <a:r>
              <a:rPr sz="1600">
                <a:solidFill>
                  <a:srgbClr val="B9C4CC"/>
                </a:solidFill>
                <a:latin typeface="IBM Plex Sans"/>
                <a:ea typeface="IBM Plex Sans"/>
                <a:cs typeface="IBM Plex Sans"/>
              </a:rPr>
              <a:t> und </a:t>
            </a:r>
            <a:r>
              <a:rPr sz="1600">
                <a:solidFill>
                  <a:srgbClr val="F4F5F1"/>
                </a:solidFill>
                <a:latin typeface="IBM Plex Sans"/>
                <a:ea typeface="IBM Plex Sans"/>
                <a:cs typeface="IBM Plex Sans"/>
              </a:rPr>
              <a:t>Ideen zum Weiterbauen</a:t>
            </a:r>
            <a:r>
              <a:rPr sz="1600">
                <a:solidFill>
                  <a:srgbClr val="B9C4CC"/>
                </a:solidFill>
                <a:latin typeface="IBM Plex Sans"/>
                <a:ea typeface="IBM Plex Sans"/>
                <a:cs typeface="IBM Plex Sans"/>
              </a:rPr>
              <a:t>. Ihr arbeitet im eigenen Tempo.</a:t>
            </a:r>
          </a:p>
        </p:txBody>
      </p:sp>
      <p:sp>
        <p:nvSpPr>
          <p:cNvPr id="27" name="Text 25">
            <a:extLst xmlns:a="http://schemas.openxmlformats.org/drawingml/2006/main">
              <a:ext uri="{FF2B5EF4-FFF2-40B4-BE49-F238E27FC236}">
                <a16:creationId xmlns:a16="http://schemas.microsoft.com/office/drawing/2014/main" id="{976582A7-0D00-4241-9CF4-1AAFDF44963F}"/>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C99A4"/>
                </a:solidFill>
                <a:latin typeface="IBM Plex Sans"/>
                <a:ea typeface="IBM Plex Sans"/>
                <a:cs typeface="IBM Plex Sans"/>
              </a:rPr>
              <a:t>Autonomy Recovery Lab · Einstieg</a:t>
            </a:r>
          </a:p>
        </p:txBody>
      </p:sp>
      <p:sp>
        <p:nvSpPr>
          <p:cNvPr id="28" name="Text 26">
            <a:extLst xmlns:a="http://schemas.openxmlformats.org/drawingml/2006/main">
              <a:ext uri="{FF2B5EF4-FFF2-40B4-BE49-F238E27FC236}">
                <a16:creationId xmlns:a16="http://schemas.microsoft.com/office/drawing/2014/main" id="{195B6B7F-7D88-4969-8908-40E4AB55716C}"/>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C99A4"/>
                </a:solidFill>
                <a:latin typeface="IBM Plex Sans"/>
                <a:ea typeface="IBM Plex Sans"/>
                <a:cs typeface="IBM Plex Sans"/>
              </a:rPr>
              <a:t>10</a:t>
            </a:r>
          </a:p>
        </p:txBody>
      </p:sp>
    </p:spTree>
    <p:extLst>
      <p:ext uri="{BB962C8B-B14F-4D97-AF65-F5344CB8AC3E}">
        <p14:creationId xmlns:p14="http://schemas.microsoft.com/office/powerpoint/2010/main" val="2142695601"/>
      </p:ext>
    </p:extLst>
  </p:cSld>
</p:sld>
</file>

<file path=ppt/slides/slide11.xml><?xml version="1.0" encoding="utf-8"?>
<p:sld xmlns:p="http://schemas.openxmlformats.org/presentationml/2006/main">
  <p:cSld>
    <p:bg>
      <p:bgPr>
        <a:solidFill xmlns:a="http://schemas.openxmlformats.org/drawingml/2006/main">
          <a:srgbClr val="F4F5F1"/>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1754534-DA8B-483D-9939-7FF674AB6B15}"/>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LABORAUFGABE</a:t>
            </a:r>
          </a:p>
        </p:txBody>
      </p:sp>
      <p:sp>
        <p:nvSpPr>
          <p:cNvPr id="3" name="Text 1">
            <a:extLst xmlns:a="http://schemas.openxmlformats.org/drawingml/2006/main">
              <a:ext uri="{FF2B5EF4-FFF2-40B4-BE49-F238E27FC236}">
                <a16:creationId xmlns:a16="http://schemas.microsoft.com/office/drawing/2014/main" id="{ABB53912-7E28-4347-9493-F99C8EA4CC7E}"/>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Ein Agent, zwei Betriebsarten</a:t>
            </a:r>
          </a:p>
        </p:txBody>
      </p:sp>
      <p:sp>
        <p:nvSpPr>
          <p:cNvPr id="4" name="Shape 2">
            <a:extLst xmlns:a="http://schemas.openxmlformats.org/drawingml/2006/main">
              <a:ext uri="{FF2B5EF4-FFF2-40B4-BE49-F238E27FC236}">
                <a16:creationId xmlns:a16="http://schemas.microsoft.com/office/drawing/2014/main" id="{C0F8811A-965B-4FB7-AA49-07EF73D2D4E4}"/>
              </a:ext>
            </a:extLst>
          </p:cNvPr>
          <p:cNvSpPr>
            <a:spLocks xmlns:a="http://schemas.openxmlformats.org/drawingml/2006/main" noGrp="1"/>
          </p:cNvSpPr>
          <p:nvPr/>
        </p:nvSpPr>
        <p:spPr>
          <a:xfrm xmlns:a="http://schemas.openxmlformats.org/drawingml/2006/main">
            <a:off x="815975" y="1933575"/>
            <a:ext cx="4540250" cy="1200150"/>
          </a:xfrm>
          <a:prstGeom xmlns:a="http://schemas.openxmlformats.org/drawingml/2006/main" prst="roundRect">
            <a:avLst>
              <a:gd name="adj" fmla="val 10317"/>
            </a:avLst>
          </a:prstGeom>
          <a:solidFill xmlns:a="http://schemas.openxmlformats.org/drawingml/2006/main">
            <a:srgbClr val="FBFBF8"/>
          </a:solidFill>
          <a:ln xmlns:a="http://schemas.openxmlformats.org/drawingml/2006/main" w="6350">
            <a:solidFill>
              <a:srgbClr val="D5DAD3"/>
            </a:solidFill>
            <a:prstDash val="solid"/>
          </a:ln>
        </p:spPr>
      </p:sp>
      <p:sp>
        <p:nvSpPr>
          <p:cNvPr id="5" name="Text 3">
            <a:extLst xmlns:a="http://schemas.openxmlformats.org/drawingml/2006/main">
              <a:ext uri="{FF2B5EF4-FFF2-40B4-BE49-F238E27FC236}">
                <a16:creationId xmlns:a16="http://schemas.microsoft.com/office/drawing/2014/main" id="{743DBAF1-6F0A-4BD8-8C77-20677C75C962}"/>
              </a:ext>
            </a:extLst>
          </p:cNvPr>
          <p:cNvSpPr>
            <a:spLocks xmlns:a="http://schemas.openxmlformats.org/drawingml/2006/main" noGrp="1"/>
          </p:cNvSpPr>
          <p:nvPr/>
        </p:nvSpPr>
        <p:spPr>
          <a:xfrm xmlns:a="http://schemas.openxmlformats.org/drawingml/2006/main">
            <a:off x="1073150" y="2165350"/>
            <a:ext cx="4146677"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2A64A0"/>
                </a:solidFill>
                <a:latin typeface="IBM Plex Sans"/>
                <a:ea typeface="IBM Plex Sans"/>
                <a:cs typeface="IBM Plex Sans"/>
              </a:rPr>
              <a:t>Teil A · ohne Sprachmodell</a:t>
            </a:r>
          </a:p>
        </p:txBody>
      </p:sp>
      <p:sp>
        <p:nvSpPr>
          <p:cNvPr id="6" name="Text 4">
            <a:extLst xmlns:a="http://schemas.openxmlformats.org/drawingml/2006/main">
              <a:ext uri="{FF2B5EF4-FFF2-40B4-BE49-F238E27FC236}">
                <a16:creationId xmlns:a16="http://schemas.microsoft.com/office/drawing/2014/main" id="{43B9C3C4-4B92-436B-B9E0-050D0AA3E996}"/>
              </a:ext>
            </a:extLst>
          </p:cNvPr>
          <p:cNvSpPr>
            <a:spLocks xmlns:a="http://schemas.openxmlformats.org/drawingml/2006/main" noGrp="1"/>
          </p:cNvSpPr>
          <p:nvPr/>
        </p:nvSpPr>
        <p:spPr>
          <a:xfrm xmlns:a="http://schemas.openxmlformats.org/drawingml/2006/main">
            <a:off x="1073150" y="2482850"/>
            <a:ext cx="4146677"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Euer Agent entscheidet allein mit Werkzeugdaten und eigenen Regeln.</a:t>
            </a:r>
          </a:p>
        </p:txBody>
      </p:sp>
      <p:sp>
        <p:nvSpPr>
          <p:cNvPr id="7" name="Shape 5">
            <a:extLst xmlns:a="http://schemas.openxmlformats.org/drawingml/2006/main">
              <a:ext uri="{FF2B5EF4-FFF2-40B4-BE49-F238E27FC236}">
                <a16:creationId xmlns:a16="http://schemas.microsoft.com/office/drawing/2014/main" id="{9574E789-45CE-4C36-8ECF-F279FFAC53A9}"/>
              </a:ext>
            </a:extLst>
          </p:cNvPr>
          <p:cNvSpPr>
            <a:spLocks xmlns:a="http://schemas.openxmlformats.org/drawingml/2006/main" noGrp="1"/>
          </p:cNvSpPr>
          <p:nvPr/>
        </p:nvSpPr>
        <p:spPr>
          <a:xfrm xmlns:a="http://schemas.openxmlformats.org/drawingml/2006/main">
            <a:off x="815975" y="3292475"/>
            <a:ext cx="4540250" cy="1200150"/>
          </a:xfrm>
          <a:prstGeom xmlns:a="http://schemas.openxmlformats.org/drawingml/2006/main" prst="roundRect">
            <a:avLst>
              <a:gd name="adj" fmla="val 10317"/>
            </a:avLst>
          </a:prstGeom>
          <a:solidFill xmlns:a="http://schemas.openxmlformats.org/drawingml/2006/main">
            <a:srgbClr val="FBFBF8"/>
          </a:solidFill>
          <a:ln xmlns:a="http://schemas.openxmlformats.org/drawingml/2006/main" w="6350">
            <a:solidFill>
              <a:srgbClr val="D5DAD3"/>
            </a:solidFill>
            <a:prstDash val="solid"/>
          </a:ln>
        </p:spPr>
      </p:sp>
      <p:sp>
        <p:nvSpPr>
          <p:cNvPr id="8" name="Text 6">
            <a:extLst xmlns:a="http://schemas.openxmlformats.org/drawingml/2006/main">
              <a:ext uri="{FF2B5EF4-FFF2-40B4-BE49-F238E27FC236}">
                <a16:creationId xmlns:a16="http://schemas.microsoft.com/office/drawing/2014/main" id="{D5F24F6B-E8BD-477A-9483-04E6101CAB89}"/>
              </a:ext>
            </a:extLst>
          </p:cNvPr>
          <p:cNvSpPr>
            <a:spLocks xmlns:a="http://schemas.openxmlformats.org/drawingml/2006/main" noGrp="1"/>
          </p:cNvSpPr>
          <p:nvPr/>
        </p:nvSpPr>
        <p:spPr>
          <a:xfrm xmlns:a="http://schemas.openxmlformats.org/drawingml/2006/main">
            <a:off x="1073150" y="3524250"/>
            <a:ext cx="4146677"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2A64A0"/>
                </a:solidFill>
                <a:latin typeface="IBM Plex Sans"/>
                <a:ea typeface="IBM Plex Sans"/>
                <a:cs typeface="IBM Plex Sans"/>
              </a:rPr>
              <a:t>Teil B · mit Sprachmodell</a:t>
            </a:r>
          </a:p>
        </p:txBody>
      </p:sp>
      <p:sp>
        <p:nvSpPr>
          <p:cNvPr id="9" name="Text 7">
            <a:extLst xmlns:a="http://schemas.openxmlformats.org/drawingml/2006/main">
              <a:ext uri="{FF2B5EF4-FFF2-40B4-BE49-F238E27FC236}">
                <a16:creationId xmlns:a16="http://schemas.microsoft.com/office/drawing/2014/main" id="{688BDA59-D910-4B84-81C5-29C033543A18}"/>
              </a:ext>
            </a:extLst>
          </p:cNvPr>
          <p:cNvSpPr>
            <a:spLocks xmlns:a="http://schemas.openxmlformats.org/drawingml/2006/main" noGrp="1"/>
          </p:cNvSpPr>
          <p:nvPr/>
        </p:nvSpPr>
        <p:spPr>
          <a:xfrm xmlns:a="http://schemas.openxmlformats.org/drawingml/2006/main">
            <a:off x="1073150" y="3841750"/>
            <a:ext cx="4146677"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Derselbe Agent gibt die offenen Fälle an ein Modell. Eure Hebel: Lagebild, Werkzeuge, Prompt, Modell.</a:t>
            </a:r>
          </a:p>
        </p:txBody>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d08a7d523d764c3e"/>
          <a:srcRect xmlns:a="http://schemas.openxmlformats.org/drawingml/2006/main" l="0" t="0" r="0" b="0"/>
          <a:stretch xmlns:a="http://schemas.openxmlformats.org/drawingml/2006/main"/>
        </p:blipFill>
        <p:spPr>
          <a:xfrm xmlns:a="http://schemas.openxmlformats.org/drawingml/2006/main">
            <a:off x="5562600" y="3086100"/>
            <a:ext cx="457200" cy="254000"/>
          </a:xfrm>
          <a:prstGeom xmlns:a="http://schemas.openxmlformats.org/drawingml/2006/main" prst="rect">
            <a:avLst/>
          </a:prstGeom>
        </p:spPr>
      </p:pic>
      <p:sp>
        <p:nvSpPr>
          <p:cNvPr id="11" name="Shape 8">
            <a:extLst xmlns:a="http://schemas.openxmlformats.org/drawingml/2006/main">
              <a:ext uri="{FF2B5EF4-FFF2-40B4-BE49-F238E27FC236}">
                <a16:creationId xmlns:a16="http://schemas.microsoft.com/office/drawing/2014/main" id="{631C680D-2253-4778-B8BF-E0E8BC969073}"/>
              </a:ext>
            </a:extLst>
          </p:cNvPr>
          <p:cNvSpPr>
            <a:spLocks xmlns:a="http://schemas.openxmlformats.org/drawingml/2006/main" noGrp="1"/>
          </p:cNvSpPr>
          <p:nvPr/>
        </p:nvSpPr>
        <p:spPr>
          <a:xfrm xmlns:a="http://schemas.openxmlformats.org/drawingml/2006/main">
            <a:off x="6223000" y="2276475"/>
            <a:ext cx="5156200" cy="1873250"/>
          </a:xfrm>
          <a:prstGeom xmlns:a="http://schemas.openxmlformats.org/drawingml/2006/main" prst="roundRect">
            <a:avLst>
              <a:gd name="adj" fmla="val 6780"/>
            </a:avLst>
          </a:prstGeom>
          <a:solidFill xmlns:a="http://schemas.openxmlformats.org/drawingml/2006/main">
            <a:srgbClr val="121B24"/>
          </a:solidFill>
        </p:spPr>
      </p:sp>
      <p:sp>
        <p:nvSpPr>
          <p:cNvPr id="12" name="Text 9">
            <a:extLst xmlns:a="http://schemas.openxmlformats.org/drawingml/2006/main">
              <a:ext uri="{FF2B5EF4-FFF2-40B4-BE49-F238E27FC236}">
                <a16:creationId xmlns:a16="http://schemas.microsoft.com/office/drawing/2014/main" id="{78AB3EBA-C406-4447-A0F5-6DAC867FBE1F}"/>
              </a:ext>
            </a:extLst>
          </p:cNvPr>
          <p:cNvSpPr>
            <a:spLocks xmlns:a="http://schemas.openxmlformats.org/drawingml/2006/main" noGrp="1"/>
          </p:cNvSpPr>
          <p:nvPr/>
        </p:nvSpPr>
        <p:spPr>
          <a:xfrm xmlns:a="http://schemas.openxmlformats.org/drawingml/2006/main">
            <a:off x="6527800" y="2581275"/>
            <a:ext cx="468299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F2994A"/>
                </a:solidFill>
                <a:latin typeface="IBM Plex Sans"/>
                <a:ea typeface="IBM Plex Sans"/>
                <a:cs typeface="IBM Plex Sans"/>
              </a:rPr>
              <a:t>Teil C · Vergleich</a:t>
            </a:r>
          </a:p>
        </p:txBody>
      </p:sp>
      <p:sp>
        <p:nvSpPr>
          <p:cNvPr id="13" name="Text 10">
            <a:extLst xmlns:a="http://schemas.openxmlformats.org/drawingml/2006/main">
              <a:ext uri="{FF2B5EF4-FFF2-40B4-BE49-F238E27FC236}">
                <a16:creationId xmlns:a16="http://schemas.microsoft.com/office/drawing/2014/main" id="{8455F41D-D4A2-47E5-8071-172CFE15813C}"/>
              </a:ext>
            </a:extLst>
          </p:cNvPr>
          <p:cNvSpPr>
            <a:spLocks xmlns:a="http://schemas.openxmlformats.org/drawingml/2006/main" noGrp="1"/>
          </p:cNvSpPr>
          <p:nvPr/>
        </p:nvSpPr>
        <p:spPr>
          <a:xfrm xmlns:a="http://schemas.openxmlformats.org/drawingml/2006/main">
            <a:off x="6527800" y="2949575"/>
            <a:ext cx="4682998" cy="3746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50"/>
              </a:lnSpc>
              <a:buNone/>
            </a:pPr>
            <a:r>
              <a:rPr sz="2200">
                <a:solidFill>
                  <a:srgbClr val="F4F5F1"/>
                </a:solidFill>
                <a:latin typeface="IBM Plex Sans"/>
                <a:ea typeface="IBM Plex Sans"/>
                <a:cs typeface="IBM Plex Sans"/>
              </a:rPr>
              <a:t>Was trägt das Modell wirklich bei?</a:t>
            </a:r>
          </a:p>
        </p:txBody>
      </p:sp>
      <p:sp>
        <p:nvSpPr>
          <p:cNvPr id="14" name="Text 11">
            <a:extLst xmlns:a="http://schemas.openxmlformats.org/drawingml/2006/main">
              <a:ext uri="{FF2B5EF4-FFF2-40B4-BE49-F238E27FC236}">
                <a16:creationId xmlns:a16="http://schemas.microsoft.com/office/drawing/2014/main" id="{A6BA7F57-C241-4174-8DBD-A08A0F8FD3BF}"/>
              </a:ext>
            </a:extLst>
          </p:cNvPr>
          <p:cNvSpPr>
            <a:spLocks xmlns:a="http://schemas.openxmlformats.org/drawingml/2006/main" noGrp="1"/>
          </p:cNvSpPr>
          <p:nvPr/>
        </p:nvSpPr>
        <p:spPr>
          <a:xfrm xmlns:a="http://schemas.openxmlformats.org/drawingml/2006/main">
            <a:off x="6527800" y="3425825"/>
            <a:ext cx="4682998"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Gleiche Szenarien, gleiche Kennzahlen, Wiederholungen. Maßstab ist ein Agent, bei dem allein das Modell entscheidet.</a:t>
            </a:r>
          </a:p>
        </p:txBody>
      </p:sp>
      <p:sp>
        <p:nvSpPr>
          <p:cNvPr id="15" name="Text 12">
            <a:extLst xmlns:a="http://schemas.openxmlformats.org/drawingml/2006/main">
              <a:ext uri="{FF2B5EF4-FFF2-40B4-BE49-F238E27FC236}">
                <a16:creationId xmlns:a16="http://schemas.microsoft.com/office/drawing/2014/main" id="{EC170356-AED7-4C98-BEDE-0D402C57B1E3}"/>
              </a:ext>
            </a:extLst>
          </p:cNvPr>
          <p:cNvSpPr>
            <a:spLocks xmlns:a="http://schemas.openxmlformats.org/drawingml/2006/main" noGrp="1"/>
          </p:cNvSpPr>
          <p:nvPr/>
        </p:nvSpPr>
        <p:spPr>
          <a:xfrm xmlns:a="http://schemas.openxmlformats.org/drawingml/2006/main">
            <a:off x="812800" y="48006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Teil A misst ihr mit </a:t>
            </a:r>
            <a:r>
              <a:rPr sz="1200">
                <a:solidFill>
                  <a:srgbClr val="121B24"/>
                </a:solidFill>
                <a:latin typeface="IBM Plex Sans"/>
                <a:ea typeface="IBM Plex Sans"/>
                <a:cs typeface="IBM Plex Sans"/>
              </a:rPr>
              <a:t>AUTONOMY_RECOVERY_MODEL=none</a:t>
            </a:r>
            <a:r>
              <a:rPr sz="1200">
                <a:solidFill>
                  <a:srgbClr val="46525C"/>
                </a:solidFill>
                <a:latin typeface="IBM Plex Sans"/>
                <a:ea typeface="IBM Plex Sans"/>
                <a:cs typeface="IBM Plex Sans"/>
              </a:rPr>
              <a:t>. Ohne API-Schlüssel ersetzt ein lokales Spielmodell das Sprachmodell.</a:t>
            </a:r>
          </a:p>
        </p:txBody>
      </p:sp>
      <p:sp>
        <p:nvSpPr>
          <p:cNvPr id="16" name="Text 13">
            <a:extLst xmlns:a="http://schemas.openxmlformats.org/drawingml/2006/main">
              <a:ext uri="{FF2B5EF4-FFF2-40B4-BE49-F238E27FC236}">
                <a16:creationId xmlns:a16="http://schemas.microsoft.com/office/drawing/2014/main" id="{219EB316-0E5C-4042-8166-719CEF8EAD09}"/>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Autonomy Recovery Lab · Einstieg · Details in ASSIGNMENT.md</a:t>
            </a:r>
          </a:p>
        </p:txBody>
      </p:sp>
      <p:sp>
        <p:nvSpPr>
          <p:cNvPr id="17" name="Text 14">
            <a:extLst xmlns:a="http://schemas.openxmlformats.org/drawingml/2006/main">
              <a:ext uri="{FF2B5EF4-FFF2-40B4-BE49-F238E27FC236}">
                <a16:creationId xmlns:a16="http://schemas.microsoft.com/office/drawing/2014/main" id="{4ADF79B3-F3ED-4947-A90B-DF1B6D5EF692}"/>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6B7680"/>
                </a:solidFill>
                <a:latin typeface="IBM Plex Sans"/>
                <a:ea typeface="IBM Plex Sans"/>
                <a:cs typeface="IBM Plex Sans"/>
              </a:rPr>
              <a:t>11</a:t>
            </a:r>
          </a:p>
        </p:txBody>
      </p:sp>
    </p:spTree>
    <p:extLst>
      <p:ext uri="{BB962C8B-B14F-4D97-AF65-F5344CB8AC3E}">
        <p14:creationId xmlns:p14="http://schemas.microsoft.com/office/powerpoint/2010/main" val="2034721267"/>
      </p:ext>
    </p:extLst>
  </p:cSld>
</p:sld>
</file>

<file path=ppt/slides/slide12.xml><?xml version="1.0" encoding="utf-8"?>
<p:sld xmlns:p="http://schemas.openxmlformats.org/presentationml/2006/main">
  <p:cSld>
    <p:bg>
      <p:bgPr>
        <a:solidFill xmlns:a="http://schemas.openxmlformats.org/drawingml/2006/main">
          <a:srgbClr val="E7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1490B15-1C6B-49A9-8BF6-1857B7385C57}"/>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DAS LABOR IST UNBENOTET</a:t>
            </a:r>
          </a:p>
        </p:txBody>
      </p:sp>
      <p:sp>
        <p:nvSpPr>
          <p:cNvPr id="3" name="Text 1">
            <a:extLst xmlns:a="http://schemas.openxmlformats.org/drawingml/2006/main">
              <a:ext uri="{FF2B5EF4-FFF2-40B4-BE49-F238E27FC236}">
                <a16:creationId xmlns:a16="http://schemas.microsoft.com/office/drawing/2014/main" id="{7458E687-D880-4C7E-BD1B-4E08CC699083}"/>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Rückmeldung nach jedem Lauf</a:t>
            </a:r>
          </a:p>
        </p:txBody>
      </p:sp>
      <p:sp>
        <p:nvSpPr>
          <p:cNvPr id="4" name="Shape 2">
            <a:extLst xmlns:a="http://schemas.openxmlformats.org/drawingml/2006/main">
              <a:ext uri="{FF2B5EF4-FFF2-40B4-BE49-F238E27FC236}">
                <a16:creationId xmlns:a16="http://schemas.microsoft.com/office/drawing/2014/main" id="{94A2A822-10E1-4ADE-9C51-2421EB50B686}"/>
              </a:ext>
            </a:extLst>
          </p:cNvPr>
          <p:cNvSpPr>
            <a:spLocks xmlns:a="http://schemas.openxmlformats.org/drawingml/2006/main" noGrp="1"/>
          </p:cNvSpPr>
          <p:nvPr/>
        </p:nvSpPr>
        <p:spPr>
          <a:xfrm xmlns:a="http://schemas.openxmlformats.org/drawingml/2006/main">
            <a:off x="812800" y="1930400"/>
            <a:ext cx="5384800" cy="2114550"/>
          </a:xfrm>
          <a:prstGeom xmlns:a="http://schemas.openxmlformats.org/drawingml/2006/main" prst="roundRect">
            <a:avLst>
              <a:gd name="adj" fmla="val 6006"/>
            </a:avLst>
          </a:prstGeom>
          <a:solidFill xmlns:a="http://schemas.openxmlformats.org/drawingml/2006/main">
            <a:srgbClr val="121B24"/>
          </a:solidFill>
        </p:spPr>
      </p:sp>
      <p:sp>
        <p:nvSpPr>
          <p:cNvPr id="5" name="Text 3">
            <a:extLst xmlns:a="http://schemas.openxmlformats.org/drawingml/2006/main">
              <a:ext uri="{FF2B5EF4-FFF2-40B4-BE49-F238E27FC236}">
                <a16:creationId xmlns:a16="http://schemas.microsoft.com/office/drawing/2014/main" id="{FA1FD5A7-28B0-44FF-A358-EBFC9127A30B}"/>
              </a:ext>
            </a:extLst>
          </p:cNvPr>
          <p:cNvSpPr>
            <a:spLocks xmlns:a="http://schemas.openxmlformats.org/drawingml/2006/main" noGrp="1"/>
          </p:cNvSpPr>
          <p:nvPr/>
        </p:nvSpPr>
        <p:spPr>
          <a:xfrm xmlns:a="http://schemas.openxmlformats.org/drawingml/2006/main">
            <a:off x="1066800" y="2184400"/>
            <a:ext cx="5023104"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C99A4"/>
                </a:solidFill>
                <a:latin typeface="IBM Plex Sans"/>
                <a:ea typeface="IBM Plex Sans"/>
                <a:cs typeface="IBM Plex Sans"/>
              </a:rPr>
              <a:t>Beispielausgabe, gekürzt</a:t>
            </a:r>
          </a:p>
        </p:txBody>
      </p:sp>
      <p:sp>
        <p:nvSpPr>
          <p:cNvPr id="6" name="Text 4">
            <a:extLst xmlns:a="http://schemas.openxmlformats.org/drawingml/2006/main">
              <a:ext uri="{FF2B5EF4-FFF2-40B4-BE49-F238E27FC236}">
                <a16:creationId xmlns:a16="http://schemas.microsoft.com/office/drawing/2014/main" id="{F1649446-965D-4887-88C1-CF25243691FD}"/>
              </a:ext>
            </a:extLst>
          </p:cNvPr>
          <p:cNvSpPr>
            <a:spLocks xmlns:a="http://schemas.openxmlformats.org/drawingml/2006/main" noGrp="1"/>
          </p:cNvSpPr>
          <p:nvPr/>
        </p:nvSpPr>
        <p:spPr>
          <a:xfrm xmlns:a="http://schemas.openxmlformats.org/drawingml/2006/main">
            <a:off x="1066800" y="2495550"/>
            <a:ext cx="5023104" cy="1320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40"/>
              </a:lnSpc>
              <a:buNone/>
            </a:pPr>
            <a:r>
              <a:rPr sz="1200">
                <a:solidFill>
                  <a:srgbClr val="8C99A4"/>
                </a:solidFill>
                <a:latin typeface="JetBrains Mono"/>
                <a:ea typeface="JetBrains Mono"/>
                <a:cs typeface="JetBrains Mono"/>
              </a:rPr>
              <a:t>$</a:t>
            </a:r>
            <a:r>
              <a:rPr sz="1200">
                <a:solidFill>
                  <a:srgbClr val="DCE3E8"/>
                </a:solidFill>
                <a:latin typeface="JetBrains Mono"/>
                <a:ea typeface="JetBrains Mono"/>
                <a:cs typeface="JetBrains Mono"/>
              </a:rPr>
              <a:t> python3 -m autonomy_recovery_sim batch \</a:t>
            </a:r>
          </a:p>
          <a:p xmlns:a="http://schemas.openxmlformats.org/drawingml/2006/main">
            <a:pPr marL="0" indent="0" algn="l">
              <a:lnSpc>
                <a:spcPts val="1740"/>
              </a:lnSpc>
              <a:buNone/>
            </a:pPr>
            <a:r>
              <a:rPr sz="1200">
                <a:solidFill>
                  <a:srgbClr val="DCE3E8"/>
                </a:solidFill>
                <a:latin typeface="JetBrains Mono"/>
                <a:ea typeface="JetBrains Mono"/>
                <a:cs typeface="JetBrains Mono"/>
              </a:rPr>
              <a:t>    --release sprint1 --agent mein_agent:decide</a:t>
            </a:r>
          </a:p>
          <a:p xmlns:a="http://schemas.openxmlformats.org/drawingml/2006/main">
            <a:pPr marL="0" indent="0" algn="l">
              <a:lnSpc>
                <a:spcPts val="1740"/>
              </a:lnSpc>
              <a:buNone/>
            </a:pPr>
          </a:p>
          <a:p xmlns:a="http://schemas.openxmlformats.org/drawingml/2006/main">
            <a:pPr marL="0" indent="0" algn="l">
              <a:lnSpc>
                <a:spcPts val="1740"/>
              </a:lnSpc>
              <a:buNone/>
            </a:pPr>
            <a:r>
              <a:rPr sz="1200">
                <a:solidFill>
                  <a:srgbClr val="F2994A"/>
                </a:solidFill>
                <a:latin typeface="JetBrains Mono"/>
                <a:ea typeface="JetBrains Mono"/>
                <a:cs typeface="JetBrains Mono"/>
              </a:rPr>
              <a:t>Fortschritt: 6 -&gt; 8 bestanden (+2), …</a:t>
            </a:r>
          </a:p>
          <a:p xmlns:a="http://schemas.openxmlformats.org/drawingml/2006/main">
            <a:pPr marL="0" indent="0" algn="l">
              <a:lnSpc>
                <a:spcPts val="1740"/>
              </a:lnSpc>
              <a:buNone/>
            </a:pPr>
            <a:r>
              <a:rPr sz="1200">
                <a:solidFill>
                  <a:srgbClr val="DCE3E8"/>
                </a:solidFill>
                <a:latin typeface="JetBrains Mono"/>
                <a:ea typeface="JetBrains Mono"/>
                <a:cs typeface="JetBrains Mono"/>
              </a:rPr>
              <a:t>  neu bestanden: hannover_frei,</a:t>
            </a:r>
          </a:p>
          <a:p xmlns:a="http://schemas.openxmlformats.org/drawingml/2006/main">
            <a:pPr marL="0" indent="0" algn="l">
              <a:lnSpc>
                <a:spcPts val="1740"/>
              </a:lnSpc>
              <a:buNone/>
            </a:pPr>
            <a:r>
              <a:rPr sz="1200">
                <a:solidFill>
                  <a:srgbClr val="DCE3E8"/>
                </a:solidFill>
                <a:latin typeface="JetBrains Mono"/>
                <a:ea typeface="JetBrains Mono"/>
                <a:cs typeface="JetBrains Mono"/>
              </a:rPr>
              <a:t>    hannover_gegenverkehr_fern</a:t>
            </a:r>
          </a:p>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f687f7c4d9714cf0"/>
          <a:srcRect xmlns:a="http://schemas.openxmlformats.org/drawingml/2006/main" l="0" t="0" r="0" b="0"/>
          <a:stretch xmlns:a="http://schemas.openxmlformats.org/drawingml/2006/main"/>
        </p:blipFill>
        <p:spPr>
          <a:xfrm xmlns:a="http://schemas.openxmlformats.org/drawingml/2006/main">
            <a:off x="6502400" y="1930400"/>
            <a:ext cx="304800" cy="304800"/>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5E20AE0-CAA6-497B-9B84-F62CD5F96D38}"/>
              </a:ext>
            </a:extLst>
          </p:cNvPr>
          <p:cNvSpPr>
            <a:spLocks xmlns:a="http://schemas.openxmlformats.org/drawingml/2006/main" noGrp="1"/>
          </p:cNvSpPr>
          <p:nvPr/>
        </p:nvSpPr>
        <p:spPr>
          <a:xfrm xmlns:a="http://schemas.openxmlformats.org/drawingml/2006/main">
            <a:off x="6959600" y="1930400"/>
            <a:ext cx="455218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Wie gut?</a:t>
            </a:r>
          </a:p>
        </p:txBody>
      </p:sp>
      <p:sp>
        <p:nvSpPr>
          <p:cNvPr id="9" name="Text 6">
            <a:extLst xmlns:a="http://schemas.openxmlformats.org/drawingml/2006/main">
              <a:ext uri="{FF2B5EF4-FFF2-40B4-BE49-F238E27FC236}">
                <a16:creationId xmlns:a16="http://schemas.microsoft.com/office/drawing/2014/main" id="{5813413E-E16D-45F8-8DCA-836F68A4B173}"/>
              </a:ext>
            </a:extLst>
          </p:cNvPr>
          <p:cNvSpPr>
            <a:spLocks xmlns:a="http://schemas.openxmlformats.org/drawingml/2006/main" noGrp="1"/>
          </p:cNvSpPr>
          <p:nvPr/>
        </p:nvSpPr>
        <p:spPr>
          <a:xfrm xmlns:a="http://schemas.openxmlformats.org/drawingml/2006/main">
            <a:off x="6959600" y="2197100"/>
            <a:ext cx="4552188"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Einstufung A bis D und Kennzahlen</a:t>
            </a:r>
          </a:p>
        </p:txBody>
      </p:sp>
      <p:pic>
        <p:nvPicPr>
          <p:cNvPr id="10" name="Image 1"/>
          <p:cNvPicPr>
            <a:picLocks xmlns:a="http://schemas.openxmlformats.org/drawingml/2006/main" noChangeAspect="1"/>
          </p:cNvPicPr>
          <p:nvPr/>
        </p:nvPicPr>
        <p:blipFill>
          <a:blip xmlns:r="http://schemas.openxmlformats.org/officeDocument/2006/relationships" xmlns:a="http://schemas.openxmlformats.org/drawingml/2006/main" r:embed="Re4779d7df28f4b91"/>
          <a:srcRect xmlns:a="http://schemas.openxmlformats.org/drawingml/2006/main" l="0" t="0" r="0" b="0"/>
          <a:stretch xmlns:a="http://schemas.openxmlformats.org/drawingml/2006/main"/>
        </p:blipFill>
        <p:spPr>
          <a:xfrm xmlns:a="http://schemas.openxmlformats.org/drawingml/2006/main">
            <a:off x="6502400" y="2584450"/>
            <a:ext cx="304800" cy="3048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789CB5A2-5AA9-4DC7-ADFA-300CF96280DF}"/>
              </a:ext>
            </a:extLst>
          </p:cNvPr>
          <p:cNvSpPr>
            <a:spLocks xmlns:a="http://schemas.openxmlformats.org/drawingml/2006/main" noGrp="1"/>
          </p:cNvSpPr>
          <p:nvPr/>
        </p:nvSpPr>
        <p:spPr>
          <a:xfrm xmlns:a="http://schemas.openxmlformats.org/drawingml/2006/main">
            <a:off x="6959600" y="2584450"/>
            <a:ext cx="455218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Wo scheitert er?</a:t>
            </a:r>
          </a:p>
        </p:txBody>
      </p:sp>
      <p:sp>
        <p:nvSpPr>
          <p:cNvPr id="12" name="Text 8">
            <a:extLst xmlns:a="http://schemas.openxmlformats.org/drawingml/2006/main">
              <a:ext uri="{FF2B5EF4-FFF2-40B4-BE49-F238E27FC236}">
                <a16:creationId xmlns:a16="http://schemas.microsoft.com/office/drawing/2014/main" id="{692B6621-D70D-459F-BDF1-63B83056C6C5}"/>
              </a:ext>
            </a:extLst>
          </p:cNvPr>
          <p:cNvSpPr>
            <a:spLocks xmlns:a="http://schemas.openxmlformats.org/drawingml/2006/main" noGrp="1"/>
          </p:cNvSpPr>
          <p:nvPr/>
        </p:nvSpPr>
        <p:spPr>
          <a:xfrm xmlns:a="http://schemas.openxmlformats.org/drawingml/2006/main">
            <a:off x="6959600" y="2851150"/>
            <a:ext cx="4552188"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Befund je Fall, Detailseite mit Trace</a:t>
            </a:r>
          </a:p>
        </p:txBody>
      </p:sp>
      <p:pic>
        <p:nvPicPr>
          <p:cNvPr id="13" name="Image 2"/>
          <p:cNvPicPr>
            <a:picLocks xmlns:a="http://schemas.openxmlformats.org/drawingml/2006/main" noChangeAspect="1"/>
          </p:cNvPicPr>
          <p:nvPr/>
        </p:nvPicPr>
        <p:blipFill>
          <a:blip xmlns:r="http://schemas.openxmlformats.org/officeDocument/2006/relationships" xmlns:a="http://schemas.openxmlformats.org/drawingml/2006/main" r:embed="R1d160e18bf804a2c"/>
          <a:srcRect xmlns:a="http://schemas.openxmlformats.org/drawingml/2006/main" l="0" t="0" r="0" b="0"/>
          <a:stretch xmlns:a="http://schemas.openxmlformats.org/drawingml/2006/main"/>
        </p:blipFill>
        <p:spPr>
          <a:xfrm xmlns:a="http://schemas.openxmlformats.org/drawingml/2006/main">
            <a:off x="6502400" y="3238500"/>
            <a:ext cx="304800" cy="304800"/>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C4CAE702-2C4F-420A-ABE9-1647424B0CE2}"/>
              </a:ext>
            </a:extLst>
          </p:cNvPr>
          <p:cNvSpPr>
            <a:spLocks xmlns:a="http://schemas.openxmlformats.org/drawingml/2006/main" noGrp="1"/>
          </p:cNvSpPr>
          <p:nvPr/>
        </p:nvSpPr>
        <p:spPr>
          <a:xfrm xmlns:a="http://schemas.openxmlformats.org/drawingml/2006/main">
            <a:off x="6959600" y="3238500"/>
            <a:ext cx="4552188"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Wird er besser?</a:t>
            </a:r>
          </a:p>
        </p:txBody>
      </p:sp>
      <p:sp>
        <p:nvSpPr>
          <p:cNvPr id="15" name="Text 10">
            <a:extLst xmlns:a="http://schemas.openxmlformats.org/drawingml/2006/main">
              <a:ext uri="{FF2B5EF4-FFF2-40B4-BE49-F238E27FC236}">
                <a16:creationId xmlns:a16="http://schemas.microsoft.com/office/drawing/2014/main" id="{E59B21F2-A597-41F7-B793-3384979B227E}"/>
              </a:ext>
            </a:extLst>
          </p:cNvPr>
          <p:cNvSpPr>
            <a:spLocks xmlns:a="http://schemas.openxmlformats.org/drawingml/2006/main" noGrp="1"/>
          </p:cNvSpPr>
          <p:nvPr/>
        </p:nvSpPr>
        <p:spPr>
          <a:xfrm xmlns:a="http://schemas.openxmlformats.org/drawingml/2006/main">
            <a:off x="6959600" y="3505200"/>
            <a:ext cx="4552188"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Vergleich mit dem vorigen Lauf und Verlauf</a:t>
            </a:r>
          </a:p>
        </p:txBody>
      </p:sp>
      <p:sp>
        <p:nvSpPr>
          <p:cNvPr id="16" name="Text 11">
            <a:extLst xmlns:a="http://schemas.openxmlformats.org/drawingml/2006/main">
              <a:ext uri="{FF2B5EF4-FFF2-40B4-BE49-F238E27FC236}">
                <a16:creationId xmlns:a16="http://schemas.microsoft.com/office/drawing/2014/main" id="{7883FD95-F8B1-4CA7-8B0A-6528999AA3F1}"/>
              </a:ext>
            </a:extLst>
          </p:cNvPr>
          <p:cNvSpPr>
            <a:spLocks xmlns:a="http://schemas.openxmlformats.org/drawingml/2006/main" noGrp="1"/>
          </p:cNvSpPr>
          <p:nvPr/>
        </p:nvSpPr>
        <p:spPr>
          <a:xfrm xmlns:a="http://schemas.openxmlformats.org/drawingml/2006/main">
            <a:off x="812800" y="4349750"/>
            <a:ext cx="10883392"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a:solidFill>
                  <a:srgbClr val="46525C"/>
                </a:solidFill>
                <a:latin typeface="IBM Plex Sans"/>
                <a:ea typeface="IBM Plex Sans"/>
                <a:cs typeface="IBM Plex Sans"/>
              </a:rPr>
              <a:t>Eine Kollision ergibt immer D. </a:t>
            </a:r>
            <a:r>
              <a:rPr sz="1600" b="1">
                <a:solidFill>
                  <a:srgbClr val="121B24"/>
                </a:solidFill>
                <a:latin typeface="IBM Plex Sans"/>
                <a:ea typeface="IBM Plex Sans"/>
                <a:cs typeface="IBM Plex Sans"/>
              </a:rPr>
              <a:t>Sicherheit geht vor.</a:t>
            </a:r>
          </a:p>
        </p:txBody>
      </p:sp>
      <p:sp>
        <p:nvSpPr>
          <p:cNvPr id="17" name="Text 12">
            <a:extLst xmlns:a="http://schemas.openxmlformats.org/drawingml/2006/main">
              <a:ext uri="{FF2B5EF4-FFF2-40B4-BE49-F238E27FC236}">
                <a16:creationId xmlns:a16="http://schemas.microsoft.com/office/drawing/2014/main" id="{D761E6FB-8644-4D47-8A64-8437CFEE87E7}"/>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Autonomy Recovery Lab · Einstieg · Details in PRUEFSTAND.md</a:t>
            </a:r>
          </a:p>
        </p:txBody>
      </p:sp>
      <p:sp>
        <p:nvSpPr>
          <p:cNvPr id="18" name="Text 13">
            <a:extLst xmlns:a="http://schemas.openxmlformats.org/drawingml/2006/main">
              <a:ext uri="{FF2B5EF4-FFF2-40B4-BE49-F238E27FC236}">
                <a16:creationId xmlns:a16="http://schemas.microsoft.com/office/drawing/2014/main" id="{FC8C6966-C9A4-4F64-B5A7-324C3903DE73}"/>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6B7680"/>
                </a:solidFill>
                <a:latin typeface="IBM Plex Sans"/>
                <a:ea typeface="IBM Plex Sans"/>
                <a:cs typeface="IBM Plex Sans"/>
              </a:rPr>
              <a:t>12</a:t>
            </a:r>
          </a:p>
        </p:txBody>
      </p:sp>
    </p:spTree>
    <p:extLst>
      <p:ext uri="{BB962C8B-B14F-4D97-AF65-F5344CB8AC3E}">
        <p14:creationId xmlns:p14="http://schemas.microsoft.com/office/powerpoint/2010/main" val="836082285"/>
      </p:ext>
    </p:extLst>
  </p:cSld>
</p:sld>
</file>

<file path=ppt/slides/slide13.xml><?xml version="1.0" encoding="utf-8"?>
<p:sld xmlns:p="http://schemas.openxmlformats.org/presentationml/2006/main">
  <p:cSld>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C805C99-2D91-4DB0-B6DC-B99E8B7E71E0}"/>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F2994A"/>
                </a:solidFill>
                <a:latin typeface="IBM Plex Sans"/>
                <a:ea typeface="IBM Plex Sans"/>
                <a:cs typeface="IBM Plex Sans"/>
              </a:rPr>
              <a:t>ZUSAMMENARBEIT</a:t>
            </a:r>
          </a:p>
        </p:txBody>
      </p:sp>
      <p:sp>
        <p:nvSpPr>
          <p:cNvPr id="3" name="Text 1">
            <a:extLst xmlns:a="http://schemas.openxmlformats.org/drawingml/2006/main">
              <a:ext uri="{FF2B5EF4-FFF2-40B4-BE49-F238E27FC236}">
                <a16:creationId xmlns:a16="http://schemas.microsoft.com/office/drawing/2014/main" id="{5F66340B-A352-4571-A000-500A237D70CF}"/>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F4F5F1"/>
                </a:solidFill>
                <a:latin typeface="Space Grotesk"/>
                <a:ea typeface="Space Grotesk"/>
                <a:cs typeface="Space Grotesk"/>
              </a:rPr>
              <a:t>Vier Personen, ein gemeinsames System</a:t>
            </a:r>
          </a:p>
        </p:txBody>
      </p:sp>
      <p:sp>
        <p:nvSpPr>
          <p:cNvPr id="4" name="Text 2">
            <a:extLst xmlns:a="http://schemas.openxmlformats.org/drawingml/2006/main">
              <a:ext uri="{FF2B5EF4-FFF2-40B4-BE49-F238E27FC236}">
                <a16:creationId xmlns:a16="http://schemas.microsoft.com/office/drawing/2014/main" id="{598C36A4-D95B-474B-AB7F-D07C01AC3A8B}"/>
              </a:ext>
            </a:extLst>
          </p:cNvPr>
          <p:cNvSpPr>
            <a:spLocks xmlns:a="http://schemas.openxmlformats.org/drawingml/2006/main" noGrp="1"/>
          </p:cNvSpPr>
          <p:nvPr/>
        </p:nvSpPr>
        <p:spPr>
          <a:xfrm xmlns:a="http://schemas.openxmlformats.org/drawingml/2006/main">
            <a:off x="812800" y="1930400"/>
            <a:ext cx="5232400"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F4F5F1"/>
                </a:solidFill>
                <a:latin typeface="IBM Plex Sans"/>
                <a:ea typeface="IBM Plex Sans"/>
                <a:cs typeface="IBM Plex Sans"/>
              </a:rPr>
              <a:t>Rollen, die rotieren</a:t>
            </a:r>
          </a:p>
        </p:txBody>
      </p:sp>
      <p:sp>
        <p:nvSpPr>
          <p:cNvPr id="5" name="Shape 3">
            <a:extLst xmlns:a="http://schemas.openxmlformats.org/drawingml/2006/main">
              <a:ext uri="{FF2B5EF4-FFF2-40B4-BE49-F238E27FC236}">
                <a16:creationId xmlns:a16="http://schemas.microsoft.com/office/drawing/2014/main" id="{E4C4688E-E4A5-4934-BAE7-6F5313FF3D3A}"/>
              </a:ext>
            </a:extLst>
          </p:cNvPr>
          <p:cNvSpPr>
            <a:spLocks xmlns:a="http://schemas.openxmlformats.org/drawingml/2006/main" noGrp="1"/>
          </p:cNvSpPr>
          <p:nvPr/>
        </p:nvSpPr>
        <p:spPr>
          <a:xfrm xmlns:a="http://schemas.openxmlformats.org/drawingml/2006/main">
            <a:off x="815975" y="2327275"/>
            <a:ext cx="2482850" cy="565150"/>
          </a:xfrm>
          <a:prstGeom xmlns:a="http://schemas.openxmlformats.org/drawingml/2006/main" prst="roundRect">
            <a:avLst>
              <a:gd name="adj" fmla="val 17416"/>
            </a:avLst>
          </a:prstGeom>
          <a:solidFill xmlns:a="http://schemas.openxmlformats.org/drawingml/2006/main">
            <a:srgbClr val="1C2833"/>
          </a:solidFill>
          <a:ln xmlns:a="http://schemas.openxmlformats.org/drawingml/2006/main" w="6350">
            <a:solidFill>
              <a:srgbClr val="2C3A47"/>
            </a:solidFill>
            <a:prstDash val="solid"/>
          </a:ln>
        </p:spPr>
      </p:sp>
      <p:pic>
        <p:nvPicPr>
          <p:cNvPr id="6" name="Image 0"/>
          <p:cNvPicPr>
            <a:picLocks xmlns:a="http://schemas.openxmlformats.org/drawingml/2006/main" noChangeAspect="1"/>
          </p:cNvPicPr>
          <p:nvPr/>
        </p:nvPicPr>
        <p:blipFill>
          <a:blip xmlns:r="http://schemas.openxmlformats.org/officeDocument/2006/relationships" xmlns:a="http://schemas.openxmlformats.org/drawingml/2006/main" r:embed="R83b20e6fbcd14bd0"/>
          <a:srcRect xmlns:a="http://schemas.openxmlformats.org/drawingml/2006/main" l="0" t="0" r="0" b="0"/>
          <a:stretch xmlns:a="http://schemas.openxmlformats.org/drawingml/2006/main"/>
        </p:blipFill>
        <p:spPr>
          <a:xfrm xmlns:a="http://schemas.openxmlformats.org/drawingml/2006/main">
            <a:off x="971550" y="2482850"/>
            <a:ext cx="254000" cy="25400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8595280-D491-409D-80CF-A8133DE94167}"/>
              </a:ext>
            </a:extLst>
          </p:cNvPr>
          <p:cNvSpPr>
            <a:spLocks xmlns:a="http://schemas.openxmlformats.org/drawingml/2006/main" noGrp="1"/>
          </p:cNvSpPr>
          <p:nvPr/>
        </p:nvSpPr>
        <p:spPr>
          <a:xfrm xmlns:a="http://schemas.openxmlformats.org/drawingml/2006/main">
            <a:off x="1327150" y="2505075"/>
            <a:ext cx="187058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IBM Plex Sans"/>
                <a:ea typeface="IBM Plex Sans"/>
                <a:cs typeface="IBM Plex Sans"/>
              </a:rPr>
              <a:t>Implementierung</a:t>
            </a:r>
          </a:p>
        </p:txBody>
      </p:sp>
      <p:sp>
        <p:nvSpPr>
          <p:cNvPr id="8" name="Shape 5">
            <a:extLst xmlns:a="http://schemas.openxmlformats.org/drawingml/2006/main">
              <a:ext uri="{FF2B5EF4-FFF2-40B4-BE49-F238E27FC236}">
                <a16:creationId xmlns:a16="http://schemas.microsoft.com/office/drawing/2014/main" id="{631B68D9-7ED8-43E4-B1B5-B7CC576C801C}"/>
              </a:ext>
            </a:extLst>
          </p:cNvPr>
          <p:cNvSpPr>
            <a:spLocks xmlns:a="http://schemas.openxmlformats.org/drawingml/2006/main" noGrp="1"/>
          </p:cNvSpPr>
          <p:nvPr/>
        </p:nvSpPr>
        <p:spPr>
          <a:xfrm xmlns:a="http://schemas.openxmlformats.org/drawingml/2006/main">
            <a:off x="3406775" y="2327275"/>
            <a:ext cx="2482850" cy="565150"/>
          </a:xfrm>
          <a:prstGeom xmlns:a="http://schemas.openxmlformats.org/drawingml/2006/main" prst="roundRect">
            <a:avLst>
              <a:gd name="adj" fmla="val 17416"/>
            </a:avLst>
          </a:prstGeom>
          <a:solidFill xmlns:a="http://schemas.openxmlformats.org/drawingml/2006/main">
            <a:srgbClr val="1C2833"/>
          </a:solidFill>
          <a:ln xmlns:a="http://schemas.openxmlformats.org/drawingml/2006/main" w="6350">
            <a:solidFill>
              <a:srgbClr val="2C3A47"/>
            </a:solidFill>
            <a:prstDash val="solid"/>
          </a:ln>
        </p:spPr>
      </p:sp>
      <p:pic>
        <p:nvPicPr>
          <p:cNvPr id="9" name="Image 1"/>
          <p:cNvPicPr>
            <a:picLocks xmlns:a="http://schemas.openxmlformats.org/drawingml/2006/main" noChangeAspect="1"/>
          </p:cNvPicPr>
          <p:nvPr/>
        </p:nvPicPr>
        <p:blipFill>
          <a:blip xmlns:r="http://schemas.openxmlformats.org/officeDocument/2006/relationships" xmlns:a="http://schemas.openxmlformats.org/drawingml/2006/main" r:embed="Rfd9392a9902a48b4"/>
          <a:srcRect xmlns:a="http://schemas.openxmlformats.org/drawingml/2006/main" l="0" t="0" r="0" b="0"/>
          <a:stretch xmlns:a="http://schemas.openxmlformats.org/drawingml/2006/main"/>
        </p:blipFill>
        <p:spPr>
          <a:xfrm xmlns:a="http://schemas.openxmlformats.org/drawingml/2006/main">
            <a:off x="3562350" y="2482850"/>
            <a:ext cx="254000" cy="254000"/>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2197DEEE-C232-435A-9EF5-C4E204615699}"/>
              </a:ext>
            </a:extLst>
          </p:cNvPr>
          <p:cNvSpPr>
            <a:spLocks xmlns:a="http://schemas.openxmlformats.org/drawingml/2006/main" noGrp="1"/>
          </p:cNvSpPr>
          <p:nvPr/>
        </p:nvSpPr>
        <p:spPr>
          <a:xfrm xmlns:a="http://schemas.openxmlformats.org/drawingml/2006/main">
            <a:off x="3917950" y="2505075"/>
            <a:ext cx="187058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IBM Plex Sans"/>
                <a:ea typeface="IBM Plex Sans"/>
                <a:cs typeface="IBM Plex Sans"/>
              </a:rPr>
              <a:t>Safety-Prüfung</a:t>
            </a:r>
          </a:p>
        </p:txBody>
      </p:sp>
      <p:sp>
        <p:nvSpPr>
          <p:cNvPr id="11" name="Shape 7">
            <a:extLst xmlns:a="http://schemas.openxmlformats.org/drawingml/2006/main">
              <a:ext uri="{FF2B5EF4-FFF2-40B4-BE49-F238E27FC236}">
                <a16:creationId xmlns:a16="http://schemas.microsoft.com/office/drawing/2014/main" id="{CF06343B-60A6-4316-8EBF-AA35D654D57B}"/>
              </a:ext>
            </a:extLst>
          </p:cNvPr>
          <p:cNvSpPr>
            <a:spLocks xmlns:a="http://schemas.openxmlformats.org/drawingml/2006/main" noGrp="1"/>
          </p:cNvSpPr>
          <p:nvPr/>
        </p:nvSpPr>
        <p:spPr>
          <a:xfrm xmlns:a="http://schemas.openxmlformats.org/drawingml/2006/main">
            <a:off x="815975" y="3000375"/>
            <a:ext cx="2482850" cy="565150"/>
          </a:xfrm>
          <a:prstGeom xmlns:a="http://schemas.openxmlformats.org/drawingml/2006/main" prst="roundRect">
            <a:avLst>
              <a:gd name="adj" fmla="val 17416"/>
            </a:avLst>
          </a:prstGeom>
          <a:solidFill xmlns:a="http://schemas.openxmlformats.org/drawingml/2006/main">
            <a:srgbClr val="1C2833"/>
          </a:solidFill>
          <a:ln xmlns:a="http://schemas.openxmlformats.org/drawingml/2006/main" w="6350">
            <a:solidFill>
              <a:srgbClr val="2C3A47"/>
            </a:solidFill>
            <a:prstDash val="solid"/>
          </a:ln>
        </p:spPr>
      </p:sp>
      <p:pic>
        <p:nvPicPr>
          <p:cNvPr id="12" name="Image 2"/>
          <p:cNvPicPr>
            <a:picLocks xmlns:a="http://schemas.openxmlformats.org/drawingml/2006/main" noChangeAspect="1"/>
          </p:cNvPicPr>
          <p:nvPr/>
        </p:nvPicPr>
        <p:blipFill>
          <a:blip xmlns:r="http://schemas.openxmlformats.org/officeDocument/2006/relationships" xmlns:a="http://schemas.openxmlformats.org/drawingml/2006/main" r:embed="R6322491c90a94534"/>
          <a:srcRect xmlns:a="http://schemas.openxmlformats.org/drawingml/2006/main" l="0" t="0" r="0" b="0"/>
          <a:stretch xmlns:a="http://schemas.openxmlformats.org/drawingml/2006/main"/>
        </p:blipFill>
        <p:spPr>
          <a:xfrm xmlns:a="http://schemas.openxmlformats.org/drawingml/2006/main">
            <a:off x="971550" y="3155950"/>
            <a:ext cx="254000" cy="25400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2FFE9696-DC36-4058-8AF8-ABC78892439D}"/>
              </a:ext>
            </a:extLst>
          </p:cNvPr>
          <p:cNvSpPr>
            <a:spLocks xmlns:a="http://schemas.openxmlformats.org/drawingml/2006/main" noGrp="1"/>
          </p:cNvSpPr>
          <p:nvPr/>
        </p:nvSpPr>
        <p:spPr>
          <a:xfrm xmlns:a="http://schemas.openxmlformats.org/drawingml/2006/main">
            <a:off x="1327150" y="3178175"/>
            <a:ext cx="187058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IBM Plex Sans"/>
                <a:ea typeface="IBM Plex Sans"/>
                <a:cs typeface="IBM Plex Sans"/>
              </a:rPr>
              <a:t>Messung und Trace</a:t>
            </a:r>
          </a:p>
        </p:txBody>
      </p:sp>
      <p:sp>
        <p:nvSpPr>
          <p:cNvPr id="14" name="Shape 9">
            <a:extLst xmlns:a="http://schemas.openxmlformats.org/drawingml/2006/main">
              <a:ext uri="{FF2B5EF4-FFF2-40B4-BE49-F238E27FC236}">
                <a16:creationId xmlns:a16="http://schemas.microsoft.com/office/drawing/2014/main" id="{716580C6-D5B1-4B6E-BB37-32074BF73AC0}"/>
              </a:ext>
            </a:extLst>
          </p:cNvPr>
          <p:cNvSpPr>
            <a:spLocks xmlns:a="http://schemas.openxmlformats.org/drawingml/2006/main" noGrp="1"/>
          </p:cNvSpPr>
          <p:nvPr/>
        </p:nvSpPr>
        <p:spPr>
          <a:xfrm xmlns:a="http://schemas.openxmlformats.org/drawingml/2006/main">
            <a:off x="3406775" y="3000375"/>
            <a:ext cx="2482850" cy="565150"/>
          </a:xfrm>
          <a:prstGeom xmlns:a="http://schemas.openxmlformats.org/drawingml/2006/main" prst="roundRect">
            <a:avLst>
              <a:gd name="adj" fmla="val 17416"/>
            </a:avLst>
          </a:prstGeom>
          <a:solidFill xmlns:a="http://schemas.openxmlformats.org/drawingml/2006/main">
            <a:srgbClr val="1C2833"/>
          </a:solidFill>
          <a:ln xmlns:a="http://schemas.openxmlformats.org/drawingml/2006/main" w="6350">
            <a:solidFill>
              <a:srgbClr val="2C3A47"/>
            </a:solidFill>
            <a:prstDash val="solid"/>
          </a:ln>
        </p:spPr>
      </p:sp>
      <p:pic>
        <p:nvPicPr>
          <p:cNvPr id="15" name="Image 3"/>
          <p:cNvPicPr>
            <a:picLocks xmlns:a="http://schemas.openxmlformats.org/drawingml/2006/main" noChangeAspect="1"/>
          </p:cNvPicPr>
          <p:nvPr/>
        </p:nvPicPr>
        <p:blipFill>
          <a:blip xmlns:r="http://schemas.openxmlformats.org/officeDocument/2006/relationships" xmlns:a="http://schemas.openxmlformats.org/drawingml/2006/main" r:embed="R0f962b5d86614cf8"/>
          <a:srcRect xmlns:a="http://schemas.openxmlformats.org/drawingml/2006/main" l="0" t="0" r="0" b="0"/>
          <a:stretch xmlns:a="http://schemas.openxmlformats.org/drawingml/2006/main"/>
        </p:blipFill>
        <p:spPr>
          <a:xfrm xmlns:a="http://schemas.openxmlformats.org/drawingml/2006/main">
            <a:off x="3562350" y="3155950"/>
            <a:ext cx="254000" cy="254000"/>
          </a:xfrm>
          <a:prstGeom xmlns:a="http://schemas.openxmlformats.org/drawingml/2006/main" prst="rect">
            <a:avLst/>
          </a:prstGeom>
        </p:spPr>
      </p:pic>
      <p:sp>
        <p:nvSpPr>
          <p:cNvPr id="16" name="Text 10">
            <a:extLst xmlns:a="http://schemas.openxmlformats.org/drawingml/2006/main">
              <a:ext uri="{FF2B5EF4-FFF2-40B4-BE49-F238E27FC236}">
                <a16:creationId xmlns:a16="http://schemas.microsoft.com/office/drawing/2014/main" id="{F08898E3-76E4-404E-8ECF-27ADDD2AFC2A}"/>
              </a:ext>
            </a:extLst>
          </p:cNvPr>
          <p:cNvSpPr>
            <a:spLocks xmlns:a="http://schemas.openxmlformats.org/drawingml/2006/main" noGrp="1"/>
          </p:cNvSpPr>
          <p:nvPr/>
        </p:nvSpPr>
        <p:spPr>
          <a:xfrm xmlns:a="http://schemas.openxmlformats.org/drawingml/2006/main">
            <a:off x="3917950" y="3178175"/>
            <a:ext cx="187058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DCE3E8"/>
                </a:solidFill>
                <a:latin typeface="IBM Plex Sans"/>
                <a:ea typeface="IBM Plex Sans"/>
                <a:cs typeface="IBM Plex Sans"/>
              </a:rPr>
              <a:t>Dokumentation</a:t>
            </a:r>
          </a:p>
        </p:txBody>
      </p:sp>
      <p:sp>
        <p:nvSpPr>
          <p:cNvPr id="17" name="Text 11">
            <a:extLst xmlns:a="http://schemas.openxmlformats.org/drawingml/2006/main">
              <a:ext uri="{FF2B5EF4-FFF2-40B4-BE49-F238E27FC236}">
                <a16:creationId xmlns:a16="http://schemas.microsoft.com/office/drawing/2014/main" id="{A63645A7-EC8D-4109-9035-2FA14D5229D7}"/>
              </a:ext>
            </a:extLst>
          </p:cNvPr>
          <p:cNvSpPr>
            <a:spLocks xmlns:a="http://schemas.openxmlformats.org/drawingml/2006/main" noGrp="1"/>
          </p:cNvSpPr>
          <p:nvPr/>
        </p:nvSpPr>
        <p:spPr>
          <a:xfrm xmlns:a="http://schemas.openxmlformats.org/drawingml/2006/main">
            <a:off x="812800" y="3721100"/>
            <a:ext cx="523240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Jede Änderung prüft eine zweite Person. Am Checkpoint kann jede Person zu jedem Teil gefragt werden.</a:t>
            </a:r>
          </a:p>
        </p:txBody>
      </p:sp>
      <p:sp>
        <p:nvSpPr>
          <p:cNvPr id="18" name="Text 12">
            <a:extLst xmlns:a="http://schemas.openxmlformats.org/drawingml/2006/main">
              <a:ext uri="{FF2B5EF4-FFF2-40B4-BE49-F238E27FC236}">
                <a16:creationId xmlns:a16="http://schemas.microsoft.com/office/drawing/2014/main" id="{89ECB945-859F-451E-BB24-A1F5D1ED16A8}"/>
              </a:ext>
            </a:extLst>
          </p:cNvPr>
          <p:cNvSpPr>
            <a:spLocks xmlns:a="http://schemas.openxmlformats.org/drawingml/2006/main" noGrp="1"/>
          </p:cNvSpPr>
          <p:nvPr/>
        </p:nvSpPr>
        <p:spPr>
          <a:xfrm xmlns:a="http://schemas.openxmlformats.org/drawingml/2006/main">
            <a:off x="6299200" y="1930400"/>
            <a:ext cx="5232400"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F4F5F1"/>
                </a:solidFill>
                <a:latin typeface="IBM Plex Sans"/>
                <a:ea typeface="IBM Plex Sans"/>
                <a:cs typeface="IBM Plex Sans"/>
              </a:rPr>
              <a:t>Rhythmus in jeder Lektion</a:t>
            </a:r>
          </a:p>
        </p:txBody>
      </p:sp>
      <p:sp>
        <p:nvSpPr>
          <p:cNvPr id="19" name="Shape 13">
            <a:extLst xmlns:a="http://schemas.openxmlformats.org/drawingml/2006/main">
              <a:ext uri="{FF2B5EF4-FFF2-40B4-BE49-F238E27FC236}">
                <a16:creationId xmlns:a16="http://schemas.microsoft.com/office/drawing/2014/main" id="{71A01821-E33C-4D03-ADAD-C27AF31E48EC}"/>
              </a:ext>
            </a:extLst>
          </p:cNvPr>
          <p:cNvSpPr>
            <a:spLocks xmlns:a="http://schemas.openxmlformats.org/drawingml/2006/main" noGrp="1"/>
          </p:cNvSpPr>
          <p:nvPr/>
        </p:nvSpPr>
        <p:spPr>
          <a:xfrm xmlns:a="http://schemas.openxmlformats.org/drawingml/2006/main">
            <a:off x="6299200" y="2324100"/>
            <a:ext cx="1144290" cy="361950"/>
          </a:xfrm>
          <a:prstGeom xmlns:a="http://schemas.openxmlformats.org/drawingml/2006/main" prst="roundRect">
            <a:avLst>
              <a:gd name="adj" fmla="val 50000"/>
            </a:avLst>
          </a:prstGeom>
          <a:solidFill xmlns:a="http://schemas.openxmlformats.org/drawingml/2006/main">
            <a:srgbClr val="F2994A"/>
          </a:solidFill>
        </p:spPr>
      </p:sp>
      <p:sp>
        <p:nvSpPr>
          <p:cNvPr id="20" name="Text 14">
            <a:extLst xmlns:a="http://schemas.openxmlformats.org/drawingml/2006/main">
              <a:ext uri="{FF2B5EF4-FFF2-40B4-BE49-F238E27FC236}">
                <a16:creationId xmlns:a16="http://schemas.microsoft.com/office/drawing/2014/main" id="{334AB33E-37E9-45E2-B8CC-264E44B4A3A4}"/>
              </a:ext>
            </a:extLst>
          </p:cNvPr>
          <p:cNvSpPr>
            <a:spLocks xmlns:a="http://schemas.openxmlformats.org/drawingml/2006/main" noGrp="1"/>
          </p:cNvSpPr>
          <p:nvPr/>
        </p:nvSpPr>
        <p:spPr>
          <a:xfrm xmlns:a="http://schemas.openxmlformats.org/drawingml/2006/main">
            <a:off x="6426200" y="2400300"/>
            <a:ext cx="94109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21B24"/>
                </a:solidFill>
                <a:latin typeface="IBM Plex Sans"/>
                <a:ea typeface="IBM Plex Sans"/>
                <a:cs typeface="IBM Plex Sans"/>
              </a:rPr>
              <a:t>Vorhersagen</a:t>
            </a:r>
          </a:p>
        </p:txBody>
      </p:sp>
      <p:pic>
        <p:nvPicPr>
          <p:cNvPr id="21" name="Image 4"/>
          <p:cNvPicPr>
            <a:picLocks xmlns:a="http://schemas.openxmlformats.org/drawingml/2006/main" noChangeAspect="1"/>
          </p:cNvPicPr>
          <p:nvPr/>
        </p:nvPicPr>
        <p:blipFill>
          <a:blip xmlns:r="http://schemas.openxmlformats.org/officeDocument/2006/relationships" xmlns:a="http://schemas.openxmlformats.org/drawingml/2006/main" r:embed="Ra377fbcf19144136"/>
          <a:srcRect xmlns:a="http://schemas.openxmlformats.org/drawingml/2006/main" l="0" t="0" r="0" b="0"/>
          <a:stretch xmlns:a="http://schemas.openxmlformats.org/drawingml/2006/main"/>
        </p:blipFill>
        <p:spPr>
          <a:xfrm xmlns:a="http://schemas.openxmlformats.org/drawingml/2006/main">
            <a:off x="7519690" y="2441575"/>
            <a:ext cx="203200" cy="127000"/>
          </a:xfrm>
          <a:prstGeom xmlns:a="http://schemas.openxmlformats.org/drawingml/2006/main" prst="rect">
            <a:avLst/>
          </a:prstGeom>
        </p:spPr>
      </p:pic>
      <p:sp>
        <p:nvSpPr>
          <p:cNvPr id="22" name="Shape 15">
            <a:extLst xmlns:a="http://schemas.openxmlformats.org/drawingml/2006/main">
              <a:ext uri="{FF2B5EF4-FFF2-40B4-BE49-F238E27FC236}">
                <a16:creationId xmlns:a16="http://schemas.microsoft.com/office/drawing/2014/main" id="{2BCA359C-34D3-4FC9-85BA-98445316339A}"/>
              </a:ext>
            </a:extLst>
          </p:cNvPr>
          <p:cNvSpPr>
            <a:spLocks xmlns:a="http://schemas.openxmlformats.org/drawingml/2006/main" noGrp="1"/>
          </p:cNvSpPr>
          <p:nvPr/>
        </p:nvSpPr>
        <p:spPr>
          <a:xfrm xmlns:a="http://schemas.openxmlformats.org/drawingml/2006/main">
            <a:off x="7799090" y="2324100"/>
            <a:ext cx="1101130" cy="361950"/>
          </a:xfrm>
          <a:prstGeom xmlns:a="http://schemas.openxmlformats.org/drawingml/2006/main" prst="roundRect">
            <a:avLst>
              <a:gd name="adj" fmla="val 50000"/>
            </a:avLst>
          </a:prstGeom>
          <a:solidFill xmlns:a="http://schemas.openxmlformats.org/drawingml/2006/main">
            <a:srgbClr val="F2994A"/>
          </a:solidFill>
        </p:spPr>
      </p:sp>
      <p:sp>
        <p:nvSpPr>
          <p:cNvPr id="23" name="Text 16">
            <a:extLst xmlns:a="http://schemas.openxmlformats.org/drawingml/2006/main">
              <a:ext uri="{FF2B5EF4-FFF2-40B4-BE49-F238E27FC236}">
                <a16:creationId xmlns:a16="http://schemas.microsoft.com/office/drawing/2014/main" id="{12A2DD5C-FCAA-4E70-97B2-DC355F8D2330}"/>
              </a:ext>
            </a:extLst>
          </p:cNvPr>
          <p:cNvSpPr>
            <a:spLocks xmlns:a="http://schemas.openxmlformats.org/drawingml/2006/main" noGrp="1"/>
          </p:cNvSpPr>
          <p:nvPr/>
        </p:nvSpPr>
        <p:spPr>
          <a:xfrm xmlns:a="http://schemas.openxmlformats.org/drawingml/2006/main">
            <a:off x="7926090" y="2400300"/>
            <a:ext cx="89793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21B24"/>
                </a:solidFill>
                <a:latin typeface="IBM Plex Sans"/>
                <a:ea typeface="IBM Plex Sans"/>
                <a:cs typeface="IBM Plex Sans"/>
              </a:rPr>
              <a:t>Beobachten</a:t>
            </a:r>
          </a:p>
        </p:txBody>
      </p:sp>
      <p:pic>
        <p:nvPicPr>
          <p:cNvPr id="24" name="Image 5"/>
          <p:cNvPicPr>
            <a:picLocks xmlns:a="http://schemas.openxmlformats.org/drawingml/2006/main" noChangeAspect="1"/>
          </p:cNvPicPr>
          <p:nvPr/>
        </p:nvPicPr>
        <p:blipFill>
          <a:blip xmlns:r="http://schemas.openxmlformats.org/officeDocument/2006/relationships" xmlns:a="http://schemas.openxmlformats.org/drawingml/2006/main" r:embed="R7a8b5019459b49de"/>
          <a:srcRect xmlns:a="http://schemas.openxmlformats.org/drawingml/2006/main" l="0" t="0" r="0" b="0"/>
          <a:stretch xmlns:a="http://schemas.openxmlformats.org/drawingml/2006/main"/>
        </p:blipFill>
        <p:spPr>
          <a:xfrm xmlns:a="http://schemas.openxmlformats.org/drawingml/2006/main">
            <a:off x="8976420" y="2441575"/>
            <a:ext cx="203200" cy="127000"/>
          </a:xfrm>
          <a:prstGeom xmlns:a="http://schemas.openxmlformats.org/drawingml/2006/main" prst="rect">
            <a:avLst/>
          </a:prstGeom>
        </p:spPr>
      </p:pic>
      <p:sp>
        <p:nvSpPr>
          <p:cNvPr id="25" name="Shape 17">
            <a:extLst xmlns:a="http://schemas.openxmlformats.org/drawingml/2006/main">
              <a:ext uri="{FF2B5EF4-FFF2-40B4-BE49-F238E27FC236}">
                <a16:creationId xmlns:a16="http://schemas.microsoft.com/office/drawing/2014/main" id="{02123B45-9C79-464C-A4F7-B81E7021C674}"/>
              </a:ext>
            </a:extLst>
          </p:cNvPr>
          <p:cNvSpPr>
            <a:spLocks xmlns:a="http://schemas.openxmlformats.org/drawingml/2006/main" noGrp="1"/>
          </p:cNvSpPr>
          <p:nvPr/>
        </p:nvSpPr>
        <p:spPr>
          <a:xfrm xmlns:a="http://schemas.openxmlformats.org/drawingml/2006/main">
            <a:off x="9255820" y="2324100"/>
            <a:ext cx="854770" cy="361950"/>
          </a:xfrm>
          <a:prstGeom xmlns:a="http://schemas.openxmlformats.org/drawingml/2006/main" prst="roundRect">
            <a:avLst>
              <a:gd name="adj" fmla="val 50000"/>
            </a:avLst>
          </a:prstGeom>
          <a:solidFill xmlns:a="http://schemas.openxmlformats.org/drawingml/2006/main">
            <a:srgbClr val="F2994A"/>
          </a:solidFill>
        </p:spPr>
      </p:sp>
      <p:sp>
        <p:nvSpPr>
          <p:cNvPr id="26" name="Text 18">
            <a:extLst xmlns:a="http://schemas.openxmlformats.org/drawingml/2006/main">
              <a:ext uri="{FF2B5EF4-FFF2-40B4-BE49-F238E27FC236}">
                <a16:creationId xmlns:a16="http://schemas.microsoft.com/office/drawing/2014/main" id="{5401AC80-38D5-4B36-81FA-31DBEF4E073E}"/>
              </a:ext>
            </a:extLst>
          </p:cNvPr>
          <p:cNvSpPr>
            <a:spLocks xmlns:a="http://schemas.openxmlformats.org/drawingml/2006/main" noGrp="1"/>
          </p:cNvSpPr>
          <p:nvPr/>
        </p:nvSpPr>
        <p:spPr>
          <a:xfrm xmlns:a="http://schemas.openxmlformats.org/drawingml/2006/main">
            <a:off x="9382820" y="2400300"/>
            <a:ext cx="65157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21B24"/>
                </a:solidFill>
                <a:latin typeface="IBM Plex Sans"/>
                <a:ea typeface="IBM Plex Sans"/>
                <a:cs typeface="IBM Plex Sans"/>
              </a:rPr>
              <a:t>Erklären</a:t>
            </a:r>
          </a:p>
        </p:txBody>
      </p:sp>
      <p:sp>
        <p:nvSpPr>
          <p:cNvPr id="27" name="Text 19">
            <a:extLst xmlns:a="http://schemas.openxmlformats.org/drawingml/2006/main">
              <a:ext uri="{FF2B5EF4-FFF2-40B4-BE49-F238E27FC236}">
                <a16:creationId xmlns:a16="http://schemas.microsoft.com/office/drawing/2014/main" id="{38C36540-EE62-4145-B5AE-237DDC107E57}"/>
              </a:ext>
            </a:extLst>
          </p:cNvPr>
          <p:cNvSpPr>
            <a:spLocks xmlns:a="http://schemas.openxmlformats.org/drawingml/2006/main" noGrp="1"/>
          </p:cNvSpPr>
          <p:nvPr/>
        </p:nvSpPr>
        <p:spPr>
          <a:xfrm xmlns:a="http://schemas.openxmlformats.org/drawingml/2006/main">
            <a:off x="6299200" y="2838450"/>
            <a:ext cx="52324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50"/>
              </a:lnSpc>
              <a:buNone/>
            </a:pPr>
            <a:r>
              <a:rPr sz="2200">
                <a:solidFill>
                  <a:srgbClr val="F4F5F1"/>
                </a:solidFill>
                <a:latin typeface="IBM Plex Sans"/>
                <a:ea typeface="IBM Plex Sans"/>
                <a:cs typeface="IBM Plex Sans"/>
              </a:rPr>
              <a:t>Wo Vorhersage und Ergebnis auseinandergehen, lernt ihr am meisten.</a:t>
            </a:r>
          </a:p>
        </p:txBody>
      </p:sp>
      <p:sp>
        <p:nvSpPr>
          <p:cNvPr id="28" name="Text 20">
            <a:extLst xmlns:a="http://schemas.openxmlformats.org/drawingml/2006/main">
              <a:ext uri="{FF2B5EF4-FFF2-40B4-BE49-F238E27FC236}">
                <a16:creationId xmlns:a16="http://schemas.microsoft.com/office/drawing/2014/main" id="{467837A5-E164-4EA5-8588-4A152875DD9C}"/>
              </a:ext>
            </a:extLst>
          </p:cNvPr>
          <p:cNvSpPr>
            <a:spLocks xmlns:a="http://schemas.openxmlformats.org/drawingml/2006/main" noGrp="1"/>
          </p:cNvSpPr>
          <p:nvPr/>
        </p:nvSpPr>
        <p:spPr>
          <a:xfrm xmlns:a="http://schemas.openxmlformats.org/drawingml/2006/main">
            <a:off x="6299200" y="3689350"/>
            <a:ext cx="523240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9C4CC"/>
                </a:solidFill>
                <a:latin typeface="IBM Plex Sans"/>
                <a:ea typeface="IBM Plex Sans"/>
                <a:cs typeface="IBM Plex Sans"/>
              </a:rPr>
              <a:t>Festgehalten im gemeinsamen Lab-Journal, Grundlage für den Laborbericht.</a:t>
            </a:r>
          </a:p>
        </p:txBody>
      </p:sp>
      <p:sp>
        <p:nvSpPr>
          <p:cNvPr id="29" name="Text 21">
            <a:extLst xmlns:a="http://schemas.openxmlformats.org/drawingml/2006/main">
              <a:ext uri="{FF2B5EF4-FFF2-40B4-BE49-F238E27FC236}">
                <a16:creationId xmlns:a16="http://schemas.microsoft.com/office/drawing/2014/main" id="{04CBFE71-4913-482A-B3DE-4498CB2B1249}"/>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C99A4"/>
                </a:solidFill>
                <a:latin typeface="IBM Plex Sans"/>
                <a:ea typeface="IBM Plex Sans"/>
                <a:cs typeface="IBM Plex Sans"/>
              </a:rPr>
              <a:t>Autonomy Recovery Lab · Einstieg</a:t>
            </a:r>
          </a:p>
        </p:txBody>
      </p:sp>
      <p:sp>
        <p:nvSpPr>
          <p:cNvPr id="30" name="Text 22">
            <a:extLst xmlns:a="http://schemas.openxmlformats.org/drawingml/2006/main">
              <a:ext uri="{FF2B5EF4-FFF2-40B4-BE49-F238E27FC236}">
                <a16:creationId xmlns:a16="http://schemas.microsoft.com/office/drawing/2014/main" id="{347B9B0E-4667-4DC8-AA75-2664096A93E4}"/>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C99A4"/>
                </a:solidFill>
                <a:latin typeface="IBM Plex Sans"/>
                <a:ea typeface="IBM Plex Sans"/>
                <a:cs typeface="IBM Plex Sans"/>
              </a:rPr>
              <a:t>13</a:t>
            </a:r>
          </a:p>
        </p:txBody>
      </p:sp>
    </p:spTree>
    <p:extLst>
      <p:ext uri="{BB962C8B-B14F-4D97-AF65-F5344CB8AC3E}">
        <p14:creationId xmlns:p14="http://schemas.microsoft.com/office/powerpoint/2010/main" val="103817629"/>
      </p:ext>
    </p:extLst>
  </p:cSld>
</p:sld>
</file>

<file path=ppt/slides/slide14.xml><?xml version="1.0" encoding="utf-8"?>
<p:sld xmlns:p="http://schemas.openxmlformats.org/presentationml/2006/main">
  <p:cSld>
    <p:bg>
      <p:bgPr>
        <a:solidFill xmlns:a="http://schemas.openxmlformats.org/drawingml/2006/main">
          <a:srgbClr val="F4F5F1"/>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ED0C2BD-352A-488D-A1EC-811F1334C8A3}"/>
              </a:ext>
            </a:extLst>
          </p:cNvPr>
          <p:cNvSpPr>
            <a:spLocks xmlns:a="http://schemas.openxmlformats.org/drawingml/2006/main" noGrp="1"/>
          </p:cNvSpPr>
          <p:nvPr/>
        </p:nvSpPr>
        <p:spPr>
          <a:xfrm xmlns:a="http://schemas.openxmlformats.org/drawingml/2006/main">
            <a:off x="812800" y="812800"/>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B4541A"/>
                </a:solidFill>
                <a:latin typeface="IBM Plex Sans"/>
                <a:ea typeface="IBM Plex Sans"/>
                <a:cs typeface="IBM Plex Sans"/>
              </a:rPr>
              <a:t>BOOTCAMP</a:t>
            </a:r>
          </a:p>
        </p:txBody>
      </p:sp>
      <p:sp>
        <p:nvSpPr>
          <p:cNvPr id="3" name="Text 1">
            <a:extLst xmlns:a="http://schemas.openxmlformats.org/drawingml/2006/main">
              <a:ext uri="{FF2B5EF4-FFF2-40B4-BE49-F238E27FC236}">
                <a16:creationId xmlns:a16="http://schemas.microsoft.com/office/drawing/2014/main" id="{C3D027A2-543A-4882-8DC9-71BDFF832D2D}"/>
              </a:ext>
            </a:extLst>
          </p:cNvPr>
          <p:cNvSpPr>
            <a:spLocks xmlns:a="http://schemas.openxmlformats.org/drawingml/2006/main" noGrp="1"/>
          </p:cNvSpPr>
          <p:nvPr>
            <p:ph type="title" idx="0"/>
          </p:nvPr>
        </p:nvSpPr>
        <p:spPr>
          <a:xfrm xmlns:a="http://schemas.openxmlformats.org/drawingml/2006/main">
            <a:off x="812800" y="1123950"/>
            <a:ext cx="10883392" cy="527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960"/>
              </a:lnSpc>
              <a:buNone/>
            </a:pPr>
            <a:r>
              <a:rPr sz="3600" b="1" i="0">
                <a:solidFill>
                  <a:srgbClr val="121B24"/>
                </a:solidFill>
                <a:latin typeface="Space Grotesk"/>
                <a:ea typeface="Space Grotesk"/>
                <a:cs typeface="Space Grotesk"/>
              </a:rPr>
              <a:t>Heute spielt ihr selbst den Agenten</a:t>
            </a:r>
          </a:p>
        </p:txBody>
      </p:sp>
      <p:sp>
        <p:nvSpPr>
          <p:cNvPr id="4" name="Shape 2">
            <a:extLst xmlns:a="http://schemas.openxmlformats.org/drawingml/2006/main">
              <a:ext uri="{FF2B5EF4-FFF2-40B4-BE49-F238E27FC236}">
                <a16:creationId xmlns:a16="http://schemas.microsoft.com/office/drawing/2014/main" id="{C088377C-EC4E-48BC-A871-1CDE6B7BAD02}"/>
              </a:ext>
            </a:extLst>
          </p:cNvPr>
          <p:cNvSpPr>
            <a:spLocks xmlns:a="http://schemas.openxmlformats.org/drawingml/2006/main" noGrp="1"/>
          </p:cNvSpPr>
          <p:nvPr/>
        </p:nvSpPr>
        <p:spPr>
          <a:xfrm xmlns:a="http://schemas.openxmlformats.org/drawingml/2006/main">
            <a:off x="815975" y="1933575"/>
            <a:ext cx="3414216" cy="1663700"/>
          </a:xfrm>
          <a:prstGeom xmlns:a="http://schemas.openxmlformats.org/drawingml/2006/main" prst="roundRect">
            <a:avLst>
              <a:gd name="adj" fmla="val 7443"/>
            </a:avLst>
          </a:prstGeom>
          <a:solidFill xmlns:a="http://schemas.openxmlformats.org/drawingml/2006/main">
            <a:srgbClr val="FBFBF8"/>
          </a:solidFill>
          <a:ln xmlns:a="http://schemas.openxmlformats.org/drawingml/2006/main" w="6350">
            <a:solidFill>
              <a:srgbClr val="D5DAD3"/>
            </a:solidFill>
            <a:prstDash val="solid"/>
          </a:ln>
        </p:spPr>
      </p:sp>
      <p:sp>
        <p:nvSpPr>
          <p:cNvPr id="5" name="Text 3">
            <a:extLst xmlns:a="http://schemas.openxmlformats.org/drawingml/2006/main">
              <a:ext uri="{FF2B5EF4-FFF2-40B4-BE49-F238E27FC236}">
                <a16:creationId xmlns:a16="http://schemas.microsoft.com/office/drawing/2014/main" id="{5E63456F-83AD-4379-9F79-A7875094B9C8}"/>
              </a:ext>
            </a:extLst>
          </p:cNvPr>
          <p:cNvSpPr>
            <a:spLocks xmlns:a="http://schemas.openxmlformats.org/drawingml/2006/main" noGrp="1"/>
          </p:cNvSpPr>
          <p:nvPr/>
        </p:nvSpPr>
        <p:spPr>
          <a:xfrm xmlns:a="http://schemas.openxmlformats.org/drawingml/2006/main">
            <a:off x="1073150" y="2165350"/>
            <a:ext cx="2986862"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2A64A0"/>
                </a:solidFill>
                <a:latin typeface="Space Grotesk"/>
                <a:ea typeface="Space Grotesk"/>
                <a:cs typeface="Space Grotesk"/>
              </a:rPr>
              <a:t>1</a:t>
            </a:r>
          </a:p>
        </p:txBody>
      </p:sp>
      <p:sp>
        <p:nvSpPr>
          <p:cNvPr id="6" name="Text 4">
            <a:extLst xmlns:a="http://schemas.openxmlformats.org/drawingml/2006/main">
              <a:ext uri="{FF2B5EF4-FFF2-40B4-BE49-F238E27FC236}">
                <a16:creationId xmlns:a16="http://schemas.microsoft.com/office/drawing/2014/main" id="{0DBB0A63-747D-4735-B929-4A98C778642D}"/>
              </a:ext>
            </a:extLst>
          </p:cNvPr>
          <p:cNvSpPr>
            <a:spLocks xmlns:a="http://schemas.openxmlformats.org/drawingml/2006/main" noGrp="1"/>
          </p:cNvSpPr>
          <p:nvPr/>
        </p:nvSpPr>
        <p:spPr>
          <a:xfrm xmlns:a="http://schemas.openxmlformats.org/drawingml/2006/main">
            <a:off x="1073150" y="2628900"/>
            <a:ext cx="2986862"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Einrichten</a:t>
            </a:r>
          </a:p>
        </p:txBody>
      </p:sp>
      <p:sp>
        <p:nvSpPr>
          <p:cNvPr id="7" name="Text 5">
            <a:extLst xmlns:a="http://schemas.openxmlformats.org/drawingml/2006/main">
              <a:ext uri="{FF2B5EF4-FFF2-40B4-BE49-F238E27FC236}">
                <a16:creationId xmlns:a16="http://schemas.microsoft.com/office/drawing/2014/main" id="{35B51718-E0C9-4741-B663-E2EE2B6EF7D8}"/>
              </a:ext>
            </a:extLst>
          </p:cNvPr>
          <p:cNvSpPr>
            <a:spLocks xmlns:a="http://schemas.openxmlformats.org/drawingml/2006/main" noGrp="1"/>
          </p:cNvSpPr>
          <p:nvPr/>
        </p:nvSpPr>
        <p:spPr>
          <a:xfrm xmlns:a="http://schemas.openxmlformats.org/drawingml/2006/main">
            <a:off x="1073150" y="2946400"/>
            <a:ext cx="298686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Repository klonen, Simulator starten, Selbsttest</a:t>
            </a:r>
          </a:p>
        </p:txBody>
      </p:sp>
      <p:sp>
        <p:nvSpPr>
          <p:cNvPr id="8" name="Shape 6">
            <a:extLst xmlns:a="http://schemas.openxmlformats.org/drawingml/2006/main">
              <a:ext uri="{FF2B5EF4-FFF2-40B4-BE49-F238E27FC236}">
                <a16:creationId xmlns:a16="http://schemas.microsoft.com/office/drawing/2014/main" id="{A2E7E0F2-1C6A-449B-AE61-0280423B279F}"/>
              </a:ext>
            </a:extLst>
          </p:cNvPr>
          <p:cNvSpPr>
            <a:spLocks xmlns:a="http://schemas.openxmlformats.org/drawingml/2006/main" noGrp="1"/>
          </p:cNvSpPr>
          <p:nvPr/>
        </p:nvSpPr>
        <p:spPr>
          <a:xfrm xmlns:a="http://schemas.openxmlformats.org/drawingml/2006/main">
            <a:off x="4388941" y="1933575"/>
            <a:ext cx="3414216" cy="1663700"/>
          </a:xfrm>
          <a:prstGeom xmlns:a="http://schemas.openxmlformats.org/drawingml/2006/main" prst="roundRect">
            <a:avLst>
              <a:gd name="adj" fmla="val 7443"/>
            </a:avLst>
          </a:prstGeom>
          <a:solidFill xmlns:a="http://schemas.openxmlformats.org/drawingml/2006/main">
            <a:srgbClr val="FBFBF8"/>
          </a:solidFill>
          <a:ln xmlns:a="http://schemas.openxmlformats.org/drawingml/2006/main" w="6350">
            <a:solidFill>
              <a:srgbClr val="D5DAD3"/>
            </a:solidFill>
            <a:prstDash val="solid"/>
          </a:ln>
        </p:spPr>
      </p:sp>
      <p:sp>
        <p:nvSpPr>
          <p:cNvPr id="9" name="Text 7">
            <a:extLst xmlns:a="http://schemas.openxmlformats.org/drawingml/2006/main">
              <a:ext uri="{FF2B5EF4-FFF2-40B4-BE49-F238E27FC236}">
                <a16:creationId xmlns:a16="http://schemas.microsoft.com/office/drawing/2014/main" id="{DEC443CC-D2AA-47FE-AE64-108624D1AD4D}"/>
              </a:ext>
            </a:extLst>
          </p:cNvPr>
          <p:cNvSpPr>
            <a:spLocks xmlns:a="http://schemas.openxmlformats.org/drawingml/2006/main" noGrp="1"/>
          </p:cNvSpPr>
          <p:nvPr/>
        </p:nvSpPr>
        <p:spPr>
          <a:xfrm xmlns:a="http://schemas.openxmlformats.org/drawingml/2006/main">
            <a:off x="4646116" y="2165350"/>
            <a:ext cx="2986862"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2A64A0"/>
                </a:solidFill>
                <a:latin typeface="Space Grotesk"/>
                <a:ea typeface="Space Grotesk"/>
                <a:cs typeface="Space Grotesk"/>
              </a:rPr>
              <a:t>2</a:t>
            </a:r>
          </a:p>
        </p:txBody>
      </p:sp>
      <p:sp>
        <p:nvSpPr>
          <p:cNvPr id="10" name="Text 8">
            <a:extLst xmlns:a="http://schemas.openxmlformats.org/drawingml/2006/main">
              <a:ext uri="{FF2B5EF4-FFF2-40B4-BE49-F238E27FC236}">
                <a16:creationId xmlns:a16="http://schemas.microsoft.com/office/drawing/2014/main" id="{177B793D-CE96-46AB-8DD1-E5461A4F8453}"/>
              </a:ext>
            </a:extLst>
          </p:cNvPr>
          <p:cNvSpPr>
            <a:spLocks xmlns:a="http://schemas.openxmlformats.org/drawingml/2006/main" noGrp="1"/>
          </p:cNvSpPr>
          <p:nvPr/>
        </p:nvSpPr>
        <p:spPr>
          <a:xfrm xmlns:a="http://schemas.openxmlformats.org/drawingml/2006/main">
            <a:off x="4646116" y="2628900"/>
            <a:ext cx="2986862"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Grundlagen</a:t>
            </a:r>
          </a:p>
        </p:txBody>
      </p:sp>
      <p:sp>
        <p:nvSpPr>
          <p:cNvPr id="11" name="Text 9">
            <a:extLst xmlns:a="http://schemas.openxmlformats.org/drawingml/2006/main">
              <a:ext uri="{FF2B5EF4-FFF2-40B4-BE49-F238E27FC236}">
                <a16:creationId xmlns:a16="http://schemas.microsoft.com/office/drawing/2014/main" id="{BFC93BC2-5E44-41C8-9BA8-4673A9D12955}"/>
              </a:ext>
            </a:extLst>
          </p:cNvPr>
          <p:cNvSpPr>
            <a:spLocks xmlns:a="http://schemas.openxmlformats.org/drawingml/2006/main" noGrp="1"/>
          </p:cNvSpPr>
          <p:nvPr/>
        </p:nvSpPr>
        <p:spPr>
          <a:xfrm xmlns:a="http://schemas.openxmlformats.org/drawingml/2006/main">
            <a:off x="4646116" y="2946400"/>
            <a:ext cx="298686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Stufe 0: gemeinsames Bild von Agent, Werkzeugen und Grenzen</a:t>
            </a:r>
          </a:p>
        </p:txBody>
      </p:sp>
      <p:sp>
        <p:nvSpPr>
          <p:cNvPr id="12" name="Shape 10">
            <a:extLst xmlns:a="http://schemas.openxmlformats.org/drawingml/2006/main">
              <a:ext uri="{FF2B5EF4-FFF2-40B4-BE49-F238E27FC236}">
                <a16:creationId xmlns:a16="http://schemas.microsoft.com/office/drawing/2014/main" id="{F2D41B72-7D3C-46DE-9B4E-44CFC2FCEF12}"/>
              </a:ext>
            </a:extLst>
          </p:cNvPr>
          <p:cNvSpPr>
            <a:spLocks xmlns:a="http://schemas.openxmlformats.org/drawingml/2006/main" noGrp="1"/>
          </p:cNvSpPr>
          <p:nvPr/>
        </p:nvSpPr>
        <p:spPr>
          <a:xfrm xmlns:a="http://schemas.openxmlformats.org/drawingml/2006/main">
            <a:off x="7961908" y="1933575"/>
            <a:ext cx="3414216" cy="1663700"/>
          </a:xfrm>
          <a:prstGeom xmlns:a="http://schemas.openxmlformats.org/drawingml/2006/main" prst="roundRect">
            <a:avLst>
              <a:gd name="adj" fmla="val 7443"/>
            </a:avLst>
          </a:prstGeom>
          <a:solidFill xmlns:a="http://schemas.openxmlformats.org/drawingml/2006/main">
            <a:srgbClr val="FBFBF8"/>
          </a:solidFill>
          <a:ln xmlns:a="http://schemas.openxmlformats.org/drawingml/2006/main" w="6350">
            <a:solidFill>
              <a:srgbClr val="D5DAD3"/>
            </a:solidFill>
            <a:prstDash val="solid"/>
          </a:ln>
        </p:spPr>
      </p:sp>
      <p:sp>
        <p:nvSpPr>
          <p:cNvPr id="13" name="Text 11">
            <a:extLst xmlns:a="http://schemas.openxmlformats.org/drawingml/2006/main">
              <a:ext uri="{FF2B5EF4-FFF2-40B4-BE49-F238E27FC236}">
                <a16:creationId xmlns:a16="http://schemas.microsoft.com/office/drawing/2014/main" id="{C05122C6-BED8-4AE0-9564-B23171E7EBE0}"/>
              </a:ext>
            </a:extLst>
          </p:cNvPr>
          <p:cNvSpPr>
            <a:spLocks xmlns:a="http://schemas.openxmlformats.org/drawingml/2006/main" noGrp="1"/>
          </p:cNvSpPr>
          <p:nvPr/>
        </p:nvSpPr>
        <p:spPr>
          <a:xfrm xmlns:a="http://schemas.openxmlformats.org/drawingml/2006/main">
            <a:off x="8219083" y="2165350"/>
            <a:ext cx="2986862"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2A64A0"/>
                </a:solidFill>
                <a:latin typeface="Space Grotesk"/>
                <a:ea typeface="Space Grotesk"/>
                <a:cs typeface="Space Grotesk"/>
              </a:rPr>
              <a:t>3</a:t>
            </a:r>
          </a:p>
        </p:txBody>
      </p:sp>
      <p:sp>
        <p:nvSpPr>
          <p:cNvPr id="14" name="Text 12">
            <a:extLst xmlns:a="http://schemas.openxmlformats.org/drawingml/2006/main">
              <a:ext uri="{FF2B5EF4-FFF2-40B4-BE49-F238E27FC236}">
                <a16:creationId xmlns:a16="http://schemas.microsoft.com/office/drawing/2014/main" id="{5CF1B09B-3CB3-49EA-B545-CC9D2F5D6424}"/>
              </a:ext>
            </a:extLst>
          </p:cNvPr>
          <p:cNvSpPr>
            <a:spLocks xmlns:a="http://schemas.openxmlformats.org/drawingml/2006/main" noGrp="1"/>
          </p:cNvSpPr>
          <p:nvPr/>
        </p:nvSpPr>
        <p:spPr>
          <a:xfrm xmlns:a="http://schemas.openxmlformats.org/drawingml/2006/main">
            <a:off x="8219083" y="2628900"/>
            <a:ext cx="2986862"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121B24"/>
                </a:solidFill>
                <a:latin typeface="IBM Plex Sans"/>
                <a:ea typeface="IBM Plex Sans"/>
                <a:cs typeface="IBM Plex Sans"/>
              </a:rPr>
              <a:t>Agent spielen</a:t>
            </a:r>
          </a:p>
        </p:txBody>
      </p:sp>
      <p:sp>
        <p:nvSpPr>
          <p:cNvPr id="15" name="Text 13">
            <a:extLst xmlns:a="http://schemas.openxmlformats.org/drawingml/2006/main">
              <a:ext uri="{FF2B5EF4-FFF2-40B4-BE49-F238E27FC236}">
                <a16:creationId xmlns:a16="http://schemas.microsoft.com/office/drawing/2014/main" id="{36F57546-6E5D-4210-9F98-A2E6F1F00607}"/>
              </a:ext>
            </a:extLst>
          </p:cNvPr>
          <p:cNvSpPr>
            <a:spLocks xmlns:a="http://schemas.openxmlformats.org/drawingml/2006/main" noGrp="1"/>
          </p:cNvSpPr>
          <p:nvPr/>
        </p:nvSpPr>
        <p:spPr>
          <a:xfrm xmlns:a="http://schemas.openxmlformats.org/drawingml/2006/main">
            <a:off x="8219083" y="2946400"/>
            <a:ext cx="298686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Stufe 1: eine Lage in der Recovery Console von Hand lösen</a:t>
            </a:r>
          </a:p>
        </p:txBody>
      </p:sp>
      <p:sp>
        <p:nvSpPr>
          <p:cNvPr id="16" name="Text 14">
            <a:extLst xmlns:a="http://schemas.openxmlformats.org/drawingml/2006/main">
              <a:ext uri="{FF2B5EF4-FFF2-40B4-BE49-F238E27FC236}">
                <a16:creationId xmlns:a16="http://schemas.microsoft.com/office/drawing/2014/main" id="{9229C3A7-AA8B-49FA-9D02-93B12B134C4D}"/>
              </a:ext>
            </a:extLst>
          </p:cNvPr>
          <p:cNvSpPr>
            <a:spLocks xmlns:a="http://schemas.openxmlformats.org/drawingml/2006/main" noGrp="1"/>
          </p:cNvSpPr>
          <p:nvPr/>
        </p:nvSpPr>
        <p:spPr>
          <a:xfrm xmlns:a="http://schemas.openxmlformats.org/drawingml/2006/main">
            <a:off x="812800" y="3905250"/>
            <a:ext cx="10566400" cy="1143000"/>
          </a:xfrm>
          <a:prstGeom xmlns:a="http://schemas.openxmlformats.org/drawingml/2006/main" prst="roundRect">
            <a:avLst>
              <a:gd name="adj" fmla="val 11111"/>
            </a:avLst>
          </a:prstGeom>
          <a:solidFill xmlns:a="http://schemas.openxmlformats.org/drawingml/2006/main">
            <a:srgbClr val="121B24"/>
          </a:solidFill>
        </p:spPr>
        <p:txBody>
          <a:bodyPr xmlns:a="http://schemas.openxmlformats.org/drawingml/2006/main" wrap="square" lIns="216803" tIns="191403" rIns="0" bIns="166003" anchor="t">
            <a:normAutofit/>
          </a:bodyPr>
          <a:lstStyle xmlns:a="http://schemas.openxmlformats.org/drawingml/2006/main"/>
          <a:p xmlns:a="http://schemas.openxmlformats.org/drawingml/2006/main">
            <a:pPr marL="0" indent="0" algn="l">
              <a:lnSpc>
                <a:spcPts val="1800"/>
              </a:lnSpc>
              <a:buNone/>
            </a:pPr>
            <a:r>
              <a:rPr sz="1200">
                <a:solidFill>
                  <a:srgbClr val="DCE3E8"/>
                </a:solidFill>
                <a:latin typeface="JetBrains Mono"/>
                <a:ea typeface="JetBrains Mono"/>
                <a:cs typeface="JetBrains Mono"/>
              </a:rPr>
              <a:t>git clone https://github.com/sebastian-kleinschmidt/autonomy_recovery_lab.git</a:t>
            </a:r>
          </a:p>
          <a:p xmlns:a="http://schemas.openxmlformats.org/drawingml/2006/main">
            <a:pPr marL="0" indent="0" algn="l">
              <a:lnSpc>
                <a:spcPts val="1800"/>
              </a:lnSpc>
              <a:buNone/>
            </a:pPr>
            <a:r>
              <a:rPr sz="1200">
                <a:solidFill>
                  <a:srgbClr val="DCE3E8"/>
                </a:solidFill>
                <a:latin typeface="JetBrains Mono"/>
                <a:ea typeface="JetBrains Mono"/>
                <a:cs typeface="JetBrains Mono"/>
              </a:rPr>
              <a:t>cd autonomy_recovery_lab</a:t>
            </a:r>
          </a:p>
          <a:p xmlns:a="http://schemas.openxmlformats.org/drawingml/2006/main">
            <a:pPr marL="0" indent="0" algn="l">
              <a:lnSpc>
                <a:spcPts val="1800"/>
              </a:lnSpc>
              <a:buNone/>
            </a:pPr>
            <a:r>
              <a:rPr sz="1200">
                <a:solidFill>
                  <a:srgbClr val="DCE3E8"/>
                </a:solidFill>
                <a:latin typeface="JetBrains Mono"/>
                <a:ea typeface="JetBrains Mono"/>
                <a:cs typeface="JetBrains Mono"/>
              </a:rPr>
              <a:t>python3 -m autonomy_recovery_sim.live</a:t>
            </a:r>
            <a:r>
              <a:rPr sz="1200">
                <a:solidFill>
                  <a:srgbClr val="8C99A4"/>
                </a:solidFill>
                <a:latin typeface="JetBrains Mono"/>
                <a:ea typeface="JetBrains Mono"/>
                <a:cs typeface="JetBrains Mono"/>
              </a:rPr>
              <a:t>   # dann http://127.0.0.1:8765 öffnen</a:t>
            </a:r>
          </a:p>
        </p:txBody>
      </p:sp>
      <p:sp>
        <p:nvSpPr>
          <p:cNvPr id="17" name="Text 15">
            <a:extLst xmlns:a="http://schemas.openxmlformats.org/drawingml/2006/main">
              <a:ext uri="{FF2B5EF4-FFF2-40B4-BE49-F238E27FC236}">
                <a16:creationId xmlns:a16="http://schemas.microsoft.com/office/drawing/2014/main" id="{7D37BEC4-CF8E-4EA9-A7B1-521AE13A533C}"/>
              </a:ext>
            </a:extLst>
          </p:cNvPr>
          <p:cNvSpPr>
            <a:spLocks xmlns:a="http://schemas.openxmlformats.org/drawingml/2006/main" noGrp="1"/>
          </p:cNvSpPr>
          <p:nvPr/>
        </p:nvSpPr>
        <p:spPr>
          <a:xfrm xmlns:a="http://schemas.openxmlformats.org/drawingml/2006/main">
            <a:off x="812800" y="5353050"/>
            <a:ext cx="1088339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46525C"/>
                </a:solidFill>
                <a:latin typeface="IBM Plex Sans"/>
                <a:ea typeface="IBM Plex Sans"/>
                <a:cs typeface="IBM Plex Sans"/>
              </a:rPr>
              <a:t>Kein API-Schlüssel nötig: Der ganze Track läuft auch mit einem lokalen Spielmodell. Einstieg in den Lernpfad: </a:t>
            </a:r>
            <a:r>
              <a:rPr sz="1200">
                <a:solidFill>
                  <a:srgbClr val="121B24"/>
                </a:solidFill>
                <a:latin typeface="IBM Plex Sans"/>
                <a:ea typeface="IBM Plex Sans"/>
                <a:cs typeface="IBM Plex Sans"/>
              </a:rPr>
              <a:t>autonomy_recovery_sim/tutorials/README.md</a:t>
            </a:r>
          </a:p>
        </p:txBody>
      </p:sp>
      <p:sp>
        <p:nvSpPr>
          <p:cNvPr id="18" name="Text 16">
            <a:extLst xmlns:a="http://schemas.openxmlformats.org/drawingml/2006/main">
              <a:ext uri="{FF2B5EF4-FFF2-40B4-BE49-F238E27FC236}">
                <a16:creationId xmlns:a16="http://schemas.microsoft.com/office/drawing/2014/main" id="{B302F950-900C-49C7-A6B2-EF18D22D9839}"/>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680"/>
                </a:solidFill>
                <a:latin typeface="IBM Plex Sans"/>
                <a:ea typeface="IBM Plex Sans"/>
                <a:cs typeface="IBM Plex Sans"/>
              </a:rPr>
              <a:t>Autonomy Recovery Lab · Einstieg</a:t>
            </a:r>
          </a:p>
        </p:txBody>
      </p:sp>
      <p:sp>
        <p:nvSpPr>
          <p:cNvPr id="19" name="Text 17">
            <a:extLst xmlns:a="http://schemas.openxmlformats.org/drawingml/2006/main">
              <a:ext uri="{FF2B5EF4-FFF2-40B4-BE49-F238E27FC236}">
                <a16:creationId xmlns:a16="http://schemas.microsoft.com/office/drawing/2014/main" id="{F8441421-2CB5-438F-8396-E9CE4DB1ECA3}"/>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6B7680"/>
                </a:solidFill>
                <a:latin typeface="IBM Plex Sans"/>
                <a:ea typeface="IBM Plex Sans"/>
                <a:cs typeface="IBM Plex Sans"/>
              </a:rPr>
              <a:t>14</a:t>
            </a:r>
          </a:p>
        </p:txBody>
      </p:sp>
    </p:spTree>
    <p:extLst>
      <p:ext uri="{BB962C8B-B14F-4D97-AF65-F5344CB8AC3E}">
        <p14:creationId xmlns:p14="http://schemas.microsoft.com/office/powerpoint/2010/main" val="578621994"/>
      </p:ext>
    </p:extLst>
  </p:cSld>
</p:sld>
</file>

<file path=ppt/slides/slide15.xml><?xml version="1.0" encoding="utf-8"?>
<p:sld xmlns:p="http://schemas.openxmlformats.org/presentationml/2006/main">
  <p:cSld>
    <p:bg>
      <p:bgPr>
        <a:solidFill xmlns:a="http://schemas.openxmlformats.org/drawingml/2006/main">
          <a:srgbClr val="121B2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6B0356-A3EE-4F43-A7A8-AC330DA361FB}"/>
              </a:ext>
            </a:extLst>
          </p:cNvPr>
          <p:cNvSpPr>
            <a:spLocks xmlns:a="http://schemas.openxmlformats.org/drawingml/2006/main" noGrp="1"/>
          </p:cNvSpPr>
          <p:nvPr/>
        </p:nvSpPr>
        <p:spPr>
          <a:xfrm xmlns:a="http://schemas.openxmlformats.org/drawingml/2006/main">
            <a:off x="812800" y="1501775"/>
            <a:ext cx="1088339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200">
                <a:solidFill>
                  <a:srgbClr val="F2994A"/>
                </a:solidFill>
                <a:latin typeface="IBM Plex Sans"/>
                <a:ea typeface="IBM Plex Sans"/>
                <a:cs typeface="IBM Plex Sans"/>
              </a:rPr>
              <a:t>ZUM MITNEHMEN</a:t>
            </a:r>
          </a:p>
        </p:txBody>
      </p:sp>
      <p:sp>
        <p:nvSpPr>
          <p:cNvPr id="3" name="Text 1">
            <a:extLst xmlns:a="http://schemas.openxmlformats.org/drawingml/2006/main">
              <a:ext uri="{FF2B5EF4-FFF2-40B4-BE49-F238E27FC236}">
                <a16:creationId xmlns:a16="http://schemas.microsoft.com/office/drawing/2014/main" id="{A38CBC24-A983-49B0-8BDC-6D054C4683A7}"/>
              </a:ext>
            </a:extLst>
          </p:cNvPr>
          <p:cNvSpPr>
            <a:spLocks xmlns:a="http://schemas.openxmlformats.org/drawingml/2006/main" noGrp="1"/>
          </p:cNvSpPr>
          <p:nvPr>
            <p:ph type="title" idx="0"/>
          </p:nvPr>
        </p:nvSpPr>
        <p:spPr>
          <a:xfrm xmlns:a="http://schemas.openxmlformats.org/drawingml/2006/main">
            <a:off x="812800" y="2066925"/>
            <a:ext cx="10883392" cy="1066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4140"/>
              </a:lnSpc>
              <a:buNone/>
            </a:pPr>
            <a:r>
              <a:rPr sz="3600" b="1" i="0">
                <a:solidFill>
                  <a:srgbClr val="F4F5F1"/>
                </a:solidFill>
                <a:latin typeface="Space Grotesk"/>
                <a:ea typeface="Space Grotesk"/>
                <a:cs typeface="Space Grotesk"/>
              </a:rPr>
              <a:t>Ein Agent, der im Normalfall funktioniert, ist noch kein guter Agent.</a:t>
            </a:r>
          </a:p>
        </p:txBody>
      </p:sp>
      <p:sp>
        <p:nvSpPr>
          <p:cNvPr id="4" name="Text 2">
            <a:extLst xmlns:a="http://schemas.openxmlformats.org/drawingml/2006/main">
              <a:ext uri="{FF2B5EF4-FFF2-40B4-BE49-F238E27FC236}">
                <a16:creationId xmlns:a16="http://schemas.microsoft.com/office/drawing/2014/main" id="{7C55F0A5-6637-46DB-A7B7-A2D45F483D66}"/>
              </a:ext>
            </a:extLst>
          </p:cNvPr>
          <p:cNvSpPr>
            <a:spLocks xmlns:a="http://schemas.openxmlformats.org/drawingml/2006/main" noGrp="1"/>
          </p:cNvSpPr>
          <p:nvPr/>
        </p:nvSpPr>
        <p:spPr>
          <a:xfrm xmlns:a="http://schemas.openxmlformats.org/drawingml/2006/main">
            <a:off x="812800" y="3463925"/>
            <a:ext cx="10883392"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50"/>
              </a:lnSpc>
              <a:buNone/>
            </a:pPr>
            <a:r>
              <a:rPr sz="2200">
                <a:solidFill>
                  <a:srgbClr val="B9C4CC"/>
                </a:solidFill>
                <a:latin typeface="IBM Plex Sans"/>
                <a:ea typeface="IBM Plex Sans"/>
                <a:cs typeface="IBM Plex Sans"/>
              </a:rPr>
              <a:t>Gut wird er erst, wenn er Zweifel erkennt, Quellen prüft und sicher bleibt, wenn sich die Lage ändert.</a:t>
            </a:r>
          </a:p>
        </p:txBody>
      </p:sp>
      <p:sp>
        <p:nvSpPr>
          <p:cNvPr id="5" name="Text 3">
            <a:extLst xmlns:a="http://schemas.openxmlformats.org/drawingml/2006/main">
              <a:ext uri="{FF2B5EF4-FFF2-40B4-BE49-F238E27FC236}">
                <a16:creationId xmlns:a16="http://schemas.microsoft.com/office/drawing/2014/main" id="{345118C4-9DF7-4E29-858A-BE7DFAFB1D35}"/>
              </a:ext>
            </a:extLst>
          </p:cNvPr>
          <p:cNvSpPr>
            <a:spLocks xmlns:a="http://schemas.openxmlformats.org/drawingml/2006/main" noGrp="1"/>
          </p:cNvSpPr>
          <p:nvPr/>
        </p:nvSpPr>
        <p:spPr>
          <a:xfrm xmlns:a="http://schemas.openxmlformats.org/drawingml/2006/main">
            <a:off x="812800" y="4518025"/>
            <a:ext cx="10883392" cy="660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5040"/>
              </a:lnSpc>
              <a:buNone/>
            </a:pPr>
            <a:r>
              <a:rPr sz="3600" b="1">
                <a:solidFill>
                  <a:srgbClr val="F2994A"/>
                </a:solidFill>
                <a:latin typeface="Space Grotesk"/>
                <a:ea typeface="Space Grotesk"/>
                <a:cs typeface="Space Grotesk"/>
              </a:rPr>
              <a:t>Fragen?</a:t>
            </a:r>
          </a:p>
        </p:txBody>
      </p:sp>
      <p:sp>
        <p:nvSpPr>
          <p:cNvPr id="6" name="Text 4">
            <a:extLst xmlns:a="http://schemas.openxmlformats.org/drawingml/2006/main">
              <a:ext uri="{FF2B5EF4-FFF2-40B4-BE49-F238E27FC236}">
                <a16:creationId xmlns:a16="http://schemas.microsoft.com/office/drawing/2014/main" id="{EF6F783D-40E1-424E-A360-E4AB624F7A36}"/>
              </a:ext>
            </a:extLst>
          </p:cNvPr>
          <p:cNvSpPr>
            <a:spLocks xmlns:a="http://schemas.openxmlformats.org/drawingml/2006/main" noGrp="1"/>
          </p:cNvSpPr>
          <p:nvPr/>
        </p:nvSpPr>
        <p:spPr>
          <a:xfrm xmlns:a="http://schemas.openxmlformats.org/drawingml/2006/main">
            <a:off x="812800" y="6242050"/>
            <a:ext cx="78486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C99A4"/>
                </a:solidFill>
                <a:latin typeface="IBM Plex Sans"/>
                <a:ea typeface="IBM Plex Sans"/>
                <a:cs typeface="IBM Plex Sans"/>
              </a:rPr>
              <a:t>Autonomy Recovery Lab · Einstieg</a:t>
            </a:r>
          </a:p>
        </p:txBody>
      </p:sp>
      <p:sp>
        <p:nvSpPr>
          <p:cNvPr id="7" name="Text 5">
            <a:extLst xmlns:a="http://schemas.openxmlformats.org/drawingml/2006/main">
              <a:ext uri="{FF2B5EF4-FFF2-40B4-BE49-F238E27FC236}">
                <a16:creationId xmlns:a16="http://schemas.microsoft.com/office/drawing/2014/main" id="{E39F0573-F6F4-4969-9FB1-E5D622D5F4CA}"/>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C99A4"/>
                </a:solidFill>
                <a:latin typeface="IBM Plex Sans"/>
                <a:ea typeface="IBM Plex Sans"/>
                <a:cs typeface="IBM Plex Sans"/>
              </a:rPr>
              <a:t>15</a:t>
            </a:r>
          </a:p>
        </p:txBody>
      </p:sp>
    </p:spTree>
    <p:extLst>
      <p:ext uri="{BB962C8B-B14F-4D97-AF65-F5344CB8AC3E}">
        <p14:creationId xmlns:p14="http://schemas.microsoft.com/office/powerpoint/2010/main" val="1896434089"/>
      </p:ext>
    </p:extLst>
  </p:cSld>
</p:sld>
</file>

<file path=ppt/theme/theme1.xml><?xml version="1.0" encoding="utf-8"?>
<a:theme xmlns:a="http://schemas.openxmlformats.org/drawingml/2006/main" name="Autonomy Recovery Lab – Einstieg">
  <a:themeElements>
    <a:clrScheme name="Autonomy Recovery Lab – Einstieg">
      <a:dk1>
        <a:srgbClr val="121B24"/>
      </a:dk1>
      <a:lt1>
        <a:srgbClr val="F4F5F1"/>
      </a:lt1>
      <a:dk2>
        <a:srgbClr val="293139"/>
      </a:dk2>
      <a:lt2>
        <a:srgbClr val="BCBFBE"/>
      </a:lt2>
      <a:accent1>
        <a:srgbClr val="2A64A0"/>
      </a:accent1>
      <a:accent2>
        <a:srgbClr val="F2994A"/>
      </a:accent2>
      <a:accent3>
        <a:srgbClr val="B4541A"/>
      </a:accent3>
      <a:accent4>
        <a:srgbClr val="7FB2E5"/>
      </a:accent4>
      <a:accent5>
        <a:srgbClr val="F2C14E"/>
      </a:accent5>
      <a:accent6>
        <a:srgbClr val="E8782A"/>
      </a:accent6>
      <a:hlink>
        <a:srgbClr val="0563C1"/>
      </a:hlink>
      <a:folHlink>
        <a:srgbClr val="954F72"/>
      </a:folHlink>
    </a:clrScheme>
    <a:fontScheme name="Autonomy Recovery Lab – Einstieg">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utonomy Recovery Lab – Einstieg">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2026-10-08T10:49:15.5580000Z</dcterms:created>
  <dcterms:modified xsi:type="dcterms:W3CDTF">2026-10-08T10:49:15.5580000Z</dcterms:modified>
</coreProperties>
</file>